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7" r:id="rId2"/>
    <p:sldId id="258" r:id="rId3"/>
    <p:sldId id="260" r:id="rId4"/>
    <p:sldId id="262" r:id="rId5"/>
    <p:sldId id="259" r:id="rId6"/>
    <p:sldId id="263" r:id="rId7"/>
    <p:sldId id="264" r:id="rId8"/>
    <p:sldId id="265" r:id="rId9"/>
    <p:sldId id="266" r:id="rId10"/>
    <p:sldId id="267" r:id="rId11"/>
    <p:sldId id="268" r:id="rId12"/>
    <p:sldId id="269"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4" d="100"/>
          <a:sy n="104" d="100"/>
        </p:scale>
        <p:origin x="-17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10.wmf"/><Relationship Id="rId4"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3E5BB-B34B-479E-82D9-9C8FD046E3D6}" type="datetimeFigureOut">
              <a:rPr lang="en-US" smtClean="0"/>
              <a:pPr/>
              <a:t>12/21/2013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7BB367-5BC7-4149-A4D1-D93BEBDA2E9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99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DB4F33F-0003-47A8-B1D1-812C76DCAF71}" type="slidenum">
              <a:rPr lang="en-US" smtClean="0"/>
              <a:pPr fontAlgn="base">
                <a:spcBef>
                  <a:spcPct val="0"/>
                </a:spcBef>
                <a:spcAft>
                  <a:spcPct val="0"/>
                </a:spcAft>
                <a:defRPr/>
              </a:pPr>
              <a:t>1</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45873322-8C82-4023-9FC3-8BAA5504BEA7}"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5873322-8C82-4023-9FC3-8BAA5504BEA7}"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45873322-8C82-4023-9FC3-8BAA5504BEA7}"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5873322-8C82-4023-9FC3-8BAA5504BEA7}"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2D0E1ED-52C2-4A49-9E38-C8ED82EEE732}" type="datetimeFigureOut">
              <a:rPr lang="en-US" smtClean="0"/>
              <a:pPr/>
              <a:t>12/21/2013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5873322-8C82-4023-9FC3-8BAA5504BE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2D0E1ED-52C2-4A49-9E38-C8ED82EEE732}" type="datetimeFigureOut">
              <a:rPr lang="en-US" smtClean="0"/>
              <a:pPr/>
              <a:t>12/21/2013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45873322-8C82-4023-9FC3-8BAA5504BEA7}"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1447800" y="2209800"/>
            <a:ext cx="6629400" cy="762000"/>
          </a:xfrm>
        </p:spPr>
        <p:txBody>
          <a:bodyPr>
            <a:normAutofit/>
          </a:bodyPr>
          <a:lstStyle/>
          <a:p>
            <a:pPr eaLnBrk="1" fontAlgn="auto" hangingPunct="1">
              <a:spcAft>
                <a:spcPts val="0"/>
              </a:spcAft>
              <a:defRPr/>
            </a:pPr>
            <a:r>
              <a:rPr lang="en-US" dirty="0" smtClean="0"/>
              <a:t>Data structures</a:t>
            </a:r>
            <a:endParaRPr lang="en-US" dirty="0"/>
          </a:p>
        </p:txBody>
      </p:sp>
      <p:sp>
        <p:nvSpPr>
          <p:cNvPr id="11267" name="Rectangle 2"/>
          <p:cNvSpPr>
            <a:spLocks noGrp="1"/>
          </p:cNvSpPr>
          <p:nvPr>
            <p:ph type="subTitle" idx="1"/>
          </p:nvPr>
        </p:nvSpPr>
        <p:spPr>
          <a:xfrm>
            <a:off x="2362200" y="6049963"/>
            <a:ext cx="6705600" cy="685800"/>
          </a:xfrm>
        </p:spPr>
        <p:txBody>
          <a:bodyPr/>
          <a:lstStyle/>
          <a:p>
            <a:pPr algn="r" eaLnBrk="1" hangingPunct="1"/>
            <a:r>
              <a:rPr lang="en-US" dirty="0" smtClean="0"/>
              <a:t>Lecture No. </a:t>
            </a:r>
            <a:r>
              <a:rPr lang="en-US" dirty="0" smtClean="0"/>
              <a:t>13</a:t>
            </a:r>
            <a:endParaRPr lang="en-US" dirty="0" smtClean="0"/>
          </a:p>
        </p:txBody>
      </p:sp>
      <p:sp>
        <p:nvSpPr>
          <p:cNvPr id="11268" name="Subtitle 2"/>
          <p:cNvSpPr txBox="1">
            <a:spLocks/>
          </p:cNvSpPr>
          <p:nvPr/>
        </p:nvSpPr>
        <p:spPr bwMode="auto">
          <a:xfrm>
            <a:off x="5943600" y="5181600"/>
            <a:ext cx="3124200" cy="762000"/>
          </a:xfrm>
          <a:prstGeom prst="rect">
            <a:avLst/>
          </a:prstGeom>
          <a:noFill/>
          <a:ln w="9525">
            <a:noFill/>
            <a:miter lim="800000"/>
            <a:headEnd/>
            <a:tailEnd/>
          </a:ln>
        </p:spPr>
        <p:txBody>
          <a:bodyPr anchor="ctr"/>
          <a:lstStyle/>
          <a:p>
            <a:pPr>
              <a:spcBef>
                <a:spcPts val="700"/>
              </a:spcBef>
              <a:buClr>
                <a:schemeClr val="accent2"/>
              </a:buClr>
              <a:buSzPct val="60000"/>
              <a:buFont typeface="Wingdings" pitchFamily="2" charset="2"/>
              <a:buNone/>
            </a:pPr>
            <a:r>
              <a:rPr lang="en-US" sz="3200">
                <a:solidFill>
                  <a:srgbClr val="FFFFFF"/>
                </a:solidFill>
                <a:latin typeface="Tw Cen MT" pitchFamily="34" charset="0"/>
              </a:rPr>
              <a:t>Dr. Seemab Latif</a:t>
            </a:r>
          </a:p>
        </p:txBody>
      </p:sp>
      <p:sp>
        <p:nvSpPr>
          <p:cNvPr id="11270" name="TextBox 5"/>
          <p:cNvSpPr txBox="1">
            <a:spLocks noChangeArrowheads="1"/>
          </p:cNvSpPr>
          <p:nvPr/>
        </p:nvSpPr>
        <p:spPr bwMode="auto">
          <a:xfrm>
            <a:off x="3402013" y="3468688"/>
            <a:ext cx="1854200" cy="646112"/>
          </a:xfrm>
          <a:prstGeom prst="rect">
            <a:avLst/>
          </a:prstGeom>
          <a:noFill/>
          <a:ln w="9525">
            <a:noFill/>
            <a:miter lim="800000"/>
            <a:headEnd/>
            <a:tailEnd/>
          </a:ln>
        </p:spPr>
        <p:txBody>
          <a:bodyPr wrap="none">
            <a:spAutoFit/>
          </a:bodyPr>
          <a:lstStyle/>
          <a:p>
            <a:r>
              <a:rPr lang="en-US" sz="3600">
                <a:latin typeface="Tw Cen MT" pitchFamily="34" charset="0"/>
              </a:rPr>
              <a:t>Recursion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46175" y="228600"/>
            <a:ext cx="6931025" cy="990600"/>
          </a:xfrm>
        </p:spPr>
        <p:txBody>
          <a:bodyPr/>
          <a:lstStyle/>
          <a:p>
            <a:pPr eaLnBrk="1" hangingPunct="1"/>
            <a:r>
              <a:rPr lang="en-US" dirty="0" smtClean="0"/>
              <a:t>Today’s Lecture</a:t>
            </a:r>
          </a:p>
        </p:txBody>
      </p:sp>
      <p:sp>
        <p:nvSpPr>
          <p:cNvPr id="12292" name="Content Placeholder 3"/>
          <p:cNvSpPr>
            <a:spLocks noGrp="1"/>
          </p:cNvSpPr>
          <p:nvPr>
            <p:ph idx="1"/>
          </p:nvPr>
        </p:nvSpPr>
        <p:spPr>
          <a:xfrm>
            <a:off x="990600" y="1600200"/>
            <a:ext cx="8153400" cy="4495800"/>
          </a:xfrm>
        </p:spPr>
        <p:txBody>
          <a:bodyPr/>
          <a:lstStyle/>
          <a:p>
            <a:pPr eaLnBrk="1" hangingPunct="1">
              <a:buFont typeface="Wingdings" pitchFamily="2" charset="2"/>
              <a:buNone/>
            </a:pPr>
            <a:r>
              <a:rPr lang="en-GB" dirty="0" smtClean="0"/>
              <a:t>In this lecture we will:</a:t>
            </a:r>
          </a:p>
          <a:p>
            <a:pPr eaLnBrk="1" hangingPunct="1"/>
            <a:r>
              <a:rPr lang="en-GB" dirty="0" smtClean="0"/>
              <a:t>study recursion. </a:t>
            </a:r>
            <a:r>
              <a:rPr lang="en-GB" b="1" dirty="0" smtClean="0"/>
              <a:t>Recursion</a:t>
            </a:r>
            <a:r>
              <a:rPr lang="en-GB" dirty="0" smtClean="0"/>
              <a:t> is a programming technique in which procedures and functions call themselves.</a:t>
            </a:r>
          </a:p>
          <a:p>
            <a:pPr eaLnBrk="1" hangingPunct="1"/>
            <a:r>
              <a:rPr lang="en-GB" dirty="0" smtClean="0"/>
              <a:t>look at the stack — a structure maintained by each </a:t>
            </a:r>
            <a:r>
              <a:rPr lang="en-US" dirty="0" smtClean="0"/>
              <a:t>program at run time.</a:t>
            </a:r>
          </a:p>
        </p:txBody>
      </p:sp>
      <p:sp>
        <p:nvSpPr>
          <p:cNvPr id="3" name="Slide Number Placeholder 2"/>
          <p:cNvSpPr>
            <a:spLocks noGrp="1"/>
          </p:cNvSpPr>
          <p:nvPr>
            <p:ph type="sldNum" sz="quarter" idx="12"/>
          </p:nvPr>
        </p:nvSpPr>
        <p:spPr/>
        <p:txBody>
          <a:bodyPr>
            <a:normAutofit/>
          </a:bodyPr>
          <a:lstStyle/>
          <a:p>
            <a:pPr>
              <a:defRPr/>
            </a:pPr>
            <a:fld id="{593A30CF-7EB5-4B0E-996E-7EA13A3DC271}" type="slidenum">
              <a:rPr lang="en-US"/>
              <a:pPr>
                <a:defRPr/>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146175" y="228600"/>
            <a:ext cx="6245225" cy="990600"/>
          </a:xfrm>
        </p:spPr>
        <p:txBody>
          <a:bodyPr/>
          <a:lstStyle/>
          <a:p>
            <a:pPr eaLnBrk="1" hangingPunct="1"/>
            <a:r>
              <a:rPr lang="en-US" dirty="0" smtClean="0"/>
              <a:t>Introduction</a:t>
            </a:r>
            <a:endParaRPr lang="ur-PK" dirty="0" smtClean="0"/>
          </a:p>
        </p:txBody>
      </p:sp>
      <p:sp>
        <p:nvSpPr>
          <p:cNvPr id="6147" name="Content Placeholder 2"/>
          <p:cNvSpPr>
            <a:spLocks noGrp="1"/>
          </p:cNvSpPr>
          <p:nvPr>
            <p:ph idx="1"/>
          </p:nvPr>
        </p:nvSpPr>
        <p:spPr>
          <a:xfrm>
            <a:off x="990600" y="1600200"/>
            <a:ext cx="8153400" cy="4495800"/>
          </a:xfrm>
        </p:spPr>
        <p:txBody>
          <a:bodyPr>
            <a:normAutofit/>
          </a:bodyPr>
          <a:lstStyle/>
          <a:p>
            <a:pPr marL="320040" indent="-320040" algn="just" eaLnBrk="1" fontAlgn="auto" hangingPunct="1">
              <a:spcAft>
                <a:spcPts val="0"/>
              </a:spcAft>
              <a:buFont typeface="Wingdings"/>
              <a:buChar char=""/>
              <a:defRPr/>
            </a:pPr>
            <a:r>
              <a:rPr lang="en-US" sz="2400" dirty="0" smtClean="0"/>
              <a:t>In C++, any function can call another function.</a:t>
            </a:r>
          </a:p>
          <a:p>
            <a:pPr marL="320040" indent="-320040" algn="just" eaLnBrk="1" fontAlgn="auto" hangingPunct="1">
              <a:spcAft>
                <a:spcPts val="0"/>
              </a:spcAft>
              <a:buFont typeface="Wingdings"/>
              <a:buChar char=""/>
              <a:defRPr/>
            </a:pPr>
            <a:r>
              <a:rPr lang="en-US" sz="2400" dirty="0" smtClean="0"/>
              <a:t>A function can even call itself.</a:t>
            </a:r>
          </a:p>
          <a:p>
            <a:pPr marL="320040" indent="-320040" algn="just" eaLnBrk="1" fontAlgn="auto" hangingPunct="1">
              <a:spcAft>
                <a:spcPts val="0"/>
              </a:spcAft>
              <a:buFont typeface="Wingdings"/>
              <a:buChar char=""/>
              <a:defRPr/>
            </a:pPr>
            <a:r>
              <a:rPr lang="en-US" sz="2400" dirty="0" smtClean="0"/>
              <a:t>When a function call itself, it is making a recursive call.</a:t>
            </a:r>
            <a:endParaRPr lang="en-US" sz="2400" b="1" dirty="0" smtClean="0"/>
          </a:p>
          <a:p>
            <a:pPr marL="320040" indent="-320040" algn="just" eaLnBrk="1" fontAlgn="auto" hangingPunct="1">
              <a:spcAft>
                <a:spcPts val="0"/>
              </a:spcAft>
              <a:buFont typeface="Wingdings"/>
              <a:buChar char=""/>
              <a:defRPr/>
            </a:pPr>
            <a:r>
              <a:rPr lang="en-US" sz="2400" b="1" dirty="0" smtClean="0"/>
              <a:t>Recursive Call</a:t>
            </a:r>
          </a:p>
          <a:p>
            <a:pPr marL="640080" lvl="1" indent="-274320" algn="just" eaLnBrk="1" fontAlgn="auto" hangingPunct="1">
              <a:spcAft>
                <a:spcPts val="0"/>
              </a:spcAft>
              <a:buFont typeface="Wingdings 2"/>
              <a:buChar char=""/>
              <a:defRPr/>
            </a:pPr>
            <a:r>
              <a:rPr lang="en-US" sz="2000" b="1" dirty="0" smtClean="0"/>
              <a:t>A function call in which the function being called is the same as the one making the call</a:t>
            </a:r>
            <a:r>
              <a:rPr lang="en-US" sz="2000" dirty="0" smtClean="0"/>
              <a:t>.</a:t>
            </a:r>
          </a:p>
          <a:p>
            <a:pPr marL="320040" indent="-320040" algn="just" eaLnBrk="1" fontAlgn="auto" hangingPunct="1">
              <a:spcAft>
                <a:spcPts val="0"/>
              </a:spcAft>
              <a:buFont typeface="Wingdings"/>
              <a:buChar char=""/>
              <a:defRPr/>
            </a:pPr>
            <a:r>
              <a:rPr lang="en-US" sz="2400" dirty="0" smtClean="0"/>
              <a:t>Recursion is a powerful technique that can be used in the place of iteration(looping).</a:t>
            </a:r>
          </a:p>
          <a:p>
            <a:pPr marL="320040" indent="-320040" algn="just" eaLnBrk="1" fontAlgn="auto" hangingPunct="1">
              <a:spcAft>
                <a:spcPts val="0"/>
              </a:spcAft>
              <a:buFont typeface="Wingdings"/>
              <a:buChar char=""/>
              <a:defRPr/>
            </a:pPr>
            <a:r>
              <a:rPr lang="en-US" sz="2400" b="1" dirty="0" smtClean="0"/>
              <a:t>Recursion</a:t>
            </a:r>
          </a:p>
          <a:p>
            <a:pPr marL="640080" lvl="1" indent="-274320" algn="just" eaLnBrk="1" fontAlgn="auto" hangingPunct="1">
              <a:spcAft>
                <a:spcPts val="0"/>
              </a:spcAft>
              <a:buFont typeface="Wingdings 2"/>
              <a:buChar char=""/>
              <a:defRPr/>
            </a:pPr>
            <a:r>
              <a:rPr lang="en-US" sz="2000" b="1" dirty="0" smtClean="0"/>
              <a:t>Recursion is a programming technique in which procedures and functions call </a:t>
            </a:r>
            <a:r>
              <a:rPr lang="en-US" sz="2200" b="1" dirty="0" smtClean="0"/>
              <a:t>themselves</a:t>
            </a:r>
            <a:r>
              <a:rPr lang="en-US" sz="2000" b="1" dirty="0" smtClean="0"/>
              <a:t>.</a:t>
            </a:r>
            <a:endParaRPr lang="ur-PK" sz="2000" b="1" dirty="0" smtClean="0"/>
          </a:p>
          <a:p>
            <a:pPr marL="640080" lvl="1" indent="-274320" eaLnBrk="1" fontAlgn="auto" hangingPunct="1">
              <a:spcAft>
                <a:spcPts val="0"/>
              </a:spcAft>
              <a:buFont typeface="Wingdings 2"/>
              <a:buChar char=""/>
              <a:defRPr/>
            </a:pPr>
            <a:endParaRPr lang="en-US" sz="2200" b="1" dirty="0" smtClean="0"/>
          </a:p>
        </p:txBody>
      </p:sp>
      <p:sp>
        <p:nvSpPr>
          <p:cNvPr id="4" name="Slide Number Placeholder 3"/>
          <p:cNvSpPr>
            <a:spLocks noGrp="1"/>
          </p:cNvSpPr>
          <p:nvPr>
            <p:ph type="sldNum" sz="quarter" idx="12"/>
          </p:nvPr>
        </p:nvSpPr>
        <p:spPr/>
        <p:txBody>
          <a:bodyPr>
            <a:normAutofit/>
          </a:bodyPr>
          <a:lstStyle/>
          <a:p>
            <a:pPr>
              <a:defRPr/>
            </a:pPr>
            <a:fld id="{178F5A7F-A830-454D-906C-D47CAEC00912}" type="slidenum">
              <a:rPr lang="en-US"/>
              <a:pPr>
                <a:defRPr/>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069975" y="228600"/>
            <a:ext cx="7540625" cy="990600"/>
          </a:xfrm>
        </p:spPr>
        <p:txBody>
          <a:bodyPr/>
          <a:lstStyle/>
          <a:p>
            <a:pPr eaLnBrk="1" hangingPunct="1"/>
            <a:r>
              <a:rPr lang="en-US" dirty="0" smtClean="0"/>
              <a:t>Recursive Definition</a:t>
            </a:r>
            <a:endParaRPr lang="ur-PK" dirty="0" smtClean="0"/>
          </a:p>
        </p:txBody>
      </p:sp>
      <p:sp>
        <p:nvSpPr>
          <p:cNvPr id="16387" name="Content Placeholder 2"/>
          <p:cNvSpPr>
            <a:spLocks noGrp="1"/>
          </p:cNvSpPr>
          <p:nvPr>
            <p:ph idx="1"/>
          </p:nvPr>
        </p:nvSpPr>
        <p:spPr>
          <a:xfrm>
            <a:off x="914400" y="1600200"/>
            <a:ext cx="8153400" cy="4495800"/>
          </a:xfrm>
        </p:spPr>
        <p:txBody>
          <a:bodyPr/>
          <a:lstStyle/>
          <a:p>
            <a:pPr algn="just" eaLnBrk="1" hangingPunct="1"/>
            <a:r>
              <a:rPr lang="en-US" sz="2400" b="1" dirty="0" smtClean="0"/>
              <a:t>A definition in which something is defined in terms of smaller versions of itself.</a:t>
            </a:r>
          </a:p>
          <a:p>
            <a:pPr algn="just" eaLnBrk="1" hangingPunct="1"/>
            <a:r>
              <a:rPr lang="en-US" sz="2400" dirty="0" smtClean="0"/>
              <a:t>To do recursion we should know the followings</a:t>
            </a:r>
          </a:p>
          <a:p>
            <a:pPr lvl="1" algn="just" eaLnBrk="1" hangingPunct="1"/>
            <a:r>
              <a:rPr lang="en-US" sz="2000" b="1" u="sng" dirty="0" smtClean="0"/>
              <a:t>Base Case:</a:t>
            </a:r>
            <a:r>
              <a:rPr lang="en-US" sz="2000" dirty="0" smtClean="0"/>
              <a:t> </a:t>
            </a:r>
          </a:p>
          <a:p>
            <a:pPr lvl="2" algn="just" eaLnBrk="1" hangingPunct="1"/>
            <a:r>
              <a:rPr lang="en-US" sz="2000" dirty="0" smtClean="0"/>
              <a:t>The case for which the solution can be stated non-recursively</a:t>
            </a:r>
            <a:r>
              <a:rPr lang="en-US" sz="1600" dirty="0" smtClean="0"/>
              <a:t> </a:t>
            </a:r>
          </a:p>
          <a:p>
            <a:pPr lvl="2" algn="just" eaLnBrk="1" hangingPunct="1"/>
            <a:r>
              <a:rPr lang="en-US" sz="2000" dirty="0" smtClean="0"/>
              <a:t>The case for which the answer is explicitly known.</a:t>
            </a:r>
          </a:p>
          <a:p>
            <a:pPr lvl="2" algn="just"/>
            <a:r>
              <a:rPr lang="en-US" sz="2000" dirty="0" smtClean="0"/>
              <a:t>Always have at least one case that can be solved without recursion</a:t>
            </a:r>
            <a:r>
              <a:rPr lang="en-US" sz="2000" dirty="0" smtClean="0"/>
              <a:t>.</a:t>
            </a:r>
          </a:p>
          <a:p>
            <a:pPr lvl="2" algn="just"/>
            <a:r>
              <a:rPr lang="en-US" sz="2000" dirty="0" smtClean="0"/>
              <a:t>Termination condition </a:t>
            </a:r>
            <a:endParaRPr lang="en-US" sz="2000" dirty="0" smtClean="0"/>
          </a:p>
          <a:p>
            <a:pPr lvl="1" algn="just" eaLnBrk="1" hangingPunct="1"/>
            <a:r>
              <a:rPr lang="en-US" sz="2000" b="1" u="sng" dirty="0" smtClean="0"/>
              <a:t>General Case:</a:t>
            </a:r>
          </a:p>
          <a:p>
            <a:pPr lvl="2" algn="just" eaLnBrk="1" hangingPunct="1"/>
            <a:r>
              <a:rPr lang="en-US" sz="2000" dirty="0" smtClean="0"/>
              <a:t>The case for which the solution is expressed in smaller version of itself. Also known as recursive case.</a:t>
            </a:r>
          </a:p>
        </p:txBody>
      </p:sp>
      <p:sp>
        <p:nvSpPr>
          <p:cNvPr id="4" name="Slide Number Placeholder 3"/>
          <p:cNvSpPr>
            <a:spLocks noGrp="1"/>
          </p:cNvSpPr>
          <p:nvPr>
            <p:ph type="sldNum" sz="quarter" idx="12"/>
          </p:nvPr>
        </p:nvSpPr>
        <p:spPr/>
        <p:txBody>
          <a:bodyPr>
            <a:normAutofit/>
          </a:bodyPr>
          <a:lstStyle/>
          <a:p>
            <a:pPr>
              <a:defRPr/>
            </a:pPr>
            <a:fld id="{BD03B276-4242-4578-9B1C-28C16FD033EF}" type="slidenum">
              <a:rPr lang="en-US"/>
              <a:pPr>
                <a:defRPr/>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222375" y="228600"/>
            <a:ext cx="7540625" cy="990600"/>
          </a:xfrm>
        </p:spPr>
        <p:txBody>
          <a:bodyPr/>
          <a:lstStyle/>
          <a:p>
            <a:pPr eaLnBrk="1" hangingPunct="1"/>
            <a:r>
              <a:rPr lang="en-US" dirty="0" smtClean="0"/>
              <a:t>Why Use Recursion</a:t>
            </a:r>
          </a:p>
        </p:txBody>
      </p:sp>
      <p:sp>
        <p:nvSpPr>
          <p:cNvPr id="13316" name="Content Placeholder 3"/>
          <p:cNvSpPr>
            <a:spLocks noGrp="1"/>
          </p:cNvSpPr>
          <p:nvPr>
            <p:ph idx="1"/>
          </p:nvPr>
        </p:nvSpPr>
        <p:spPr>
          <a:xfrm>
            <a:off x="990600" y="1600200"/>
            <a:ext cx="8153400" cy="4495800"/>
          </a:xfrm>
        </p:spPr>
        <p:txBody>
          <a:bodyPr>
            <a:normAutofit/>
          </a:bodyPr>
          <a:lstStyle/>
          <a:p>
            <a:pPr eaLnBrk="1" hangingPunct="1"/>
            <a:r>
              <a:rPr lang="en-GB" sz="2800" dirty="0" smtClean="0"/>
              <a:t>Recursively defined data structures, like lists, are very well-suited to processing by recursive procedures and functions.</a:t>
            </a:r>
          </a:p>
          <a:p>
            <a:pPr eaLnBrk="1" hangingPunct="1"/>
            <a:r>
              <a:rPr lang="en-GB" sz="2800" dirty="0" smtClean="0"/>
              <a:t>A recursive procedure is mathematically more elegant than one </a:t>
            </a:r>
            <a:r>
              <a:rPr lang="en-US" sz="2800" dirty="0" smtClean="0"/>
              <a:t>using loops </a:t>
            </a:r>
            <a:r>
              <a:rPr lang="en-US" sz="2800" dirty="0" smtClean="0">
                <a:sym typeface="Wingdings" pitchFamily="2" charset="2"/>
              </a:rPr>
              <a:t> Easy to prove its correctness.</a:t>
            </a:r>
            <a:endParaRPr lang="en-US" sz="2800" dirty="0" smtClean="0"/>
          </a:p>
          <a:p>
            <a:pPr eaLnBrk="1" hangingPunct="1"/>
            <a:r>
              <a:rPr lang="en-GB" sz="2800" dirty="0" smtClean="0"/>
              <a:t>Sometimes procedures that would be tricky to write using a loop </a:t>
            </a:r>
            <a:r>
              <a:rPr lang="en-US" sz="2800" dirty="0" smtClean="0"/>
              <a:t>are straightforward using recursion.</a:t>
            </a:r>
          </a:p>
        </p:txBody>
      </p:sp>
      <p:sp>
        <p:nvSpPr>
          <p:cNvPr id="3" name="Slide Number Placeholder 2"/>
          <p:cNvSpPr>
            <a:spLocks noGrp="1"/>
          </p:cNvSpPr>
          <p:nvPr>
            <p:ph type="sldNum" sz="quarter" idx="12"/>
          </p:nvPr>
        </p:nvSpPr>
        <p:spPr/>
        <p:txBody>
          <a:bodyPr>
            <a:normAutofit/>
          </a:bodyPr>
          <a:lstStyle/>
          <a:p>
            <a:pPr>
              <a:defRPr/>
            </a:pPr>
            <a:fld id="{A0B75491-63D6-4ECA-814F-292058D53420}" type="slidenum">
              <a:rPr lang="en-US"/>
              <a:pPr>
                <a:defRPr/>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p:cNvSpPr>
            <a:spLocks noGrp="1"/>
          </p:cNvSpPr>
          <p:nvPr>
            <p:ph type="title"/>
          </p:nvPr>
        </p:nvSpPr>
        <p:spPr>
          <a:xfrm>
            <a:off x="1143000" y="274638"/>
            <a:ext cx="5715000" cy="639762"/>
          </a:xfrm>
        </p:spPr>
        <p:txBody>
          <a:bodyPr>
            <a:normAutofit fontScale="90000"/>
          </a:bodyPr>
          <a:lstStyle/>
          <a:p>
            <a:pPr eaLnBrk="1" fontAlgn="auto" hangingPunct="1">
              <a:spcAft>
                <a:spcPts val="0"/>
              </a:spcAft>
              <a:defRPr/>
            </a:pPr>
            <a:r>
              <a:rPr lang="en-US" dirty="0" smtClean="0"/>
              <a:t>Example 1</a:t>
            </a:r>
            <a:endParaRPr lang="ur-PK" dirty="0" smtClean="0"/>
          </a:p>
        </p:txBody>
      </p:sp>
      <p:sp>
        <p:nvSpPr>
          <p:cNvPr id="2" name="Content Placeholder 2"/>
          <p:cNvSpPr>
            <a:spLocks noGrp="1"/>
          </p:cNvSpPr>
          <p:nvPr>
            <p:ph idx="1"/>
          </p:nvPr>
        </p:nvSpPr>
        <p:spPr>
          <a:xfrm>
            <a:off x="990600" y="1524000"/>
            <a:ext cx="8229600" cy="5059363"/>
          </a:xfrm>
        </p:spPr>
        <p:txBody>
          <a:bodyPr/>
          <a:lstStyle/>
          <a:p>
            <a:pPr eaLnBrk="1" hangingPunct="1"/>
            <a:r>
              <a:rPr lang="en-US" sz="2000" dirty="0" smtClean="0"/>
              <a:t>We can write a function called </a:t>
            </a:r>
            <a:r>
              <a:rPr lang="en-US" sz="2000" b="1" dirty="0" smtClean="0"/>
              <a:t>power</a:t>
            </a:r>
            <a:r>
              <a:rPr lang="en-US" sz="2000" dirty="0" smtClean="0"/>
              <a:t> that calculates the result of raising an integer to a positive power. If X is an integer and N is a positive integer, the formula for is</a:t>
            </a:r>
          </a:p>
          <a:p>
            <a:pPr eaLnBrk="1" hangingPunct="1"/>
            <a:endParaRPr lang="en-US" sz="2000" dirty="0" smtClean="0"/>
          </a:p>
          <a:p>
            <a:pPr eaLnBrk="1" hangingPunct="1"/>
            <a:endParaRPr lang="en-US" sz="2000" dirty="0" smtClean="0"/>
          </a:p>
          <a:p>
            <a:pPr eaLnBrk="1" hangingPunct="1"/>
            <a:r>
              <a:rPr lang="en-US" sz="2000" dirty="0" smtClean="0"/>
              <a:t>We can also write this formula as</a:t>
            </a:r>
          </a:p>
          <a:p>
            <a:pPr eaLnBrk="1" hangingPunct="1"/>
            <a:endParaRPr lang="en-US" sz="2000" dirty="0" smtClean="0"/>
          </a:p>
          <a:p>
            <a:pPr eaLnBrk="1" hangingPunct="1"/>
            <a:endParaRPr lang="en-US" sz="2000" dirty="0" smtClean="0"/>
          </a:p>
          <a:p>
            <a:pPr eaLnBrk="1" hangingPunct="1"/>
            <a:r>
              <a:rPr lang="en-US" sz="2000" dirty="0" smtClean="0"/>
              <a:t>Also as</a:t>
            </a:r>
          </a:p>
          <a:p>
            <a:pPr eaLnBrk="1" hangingPunct="1"/>
            <a:endParaRPr lang="en-US" sz="2000" dirty="0" smtClean="0"/>
          </a:p>
          <a:p>
            <a:pPr eaLnBrk="1" hangingPunct="1"/>
            <a:endParaRPr lang="en-US" sz="2000" dirty="0" smtClean="0"/>
          </a:p>
          <a:p>
            <a:pPr eaLnBrk="1" hangingPunct="1"/>
            <a:r>
              <a:rPr lang="en-US" sz="2000" dirty="0" smtClean="0"/>
              <a:t>In fact we can write this formula as</a:t>
            </a:r>
          </a:p>
        </p:txBody>
      </p:sp>
      <p:sp>
        <p:nvSpPr>
          <p:cNvPr id="9" name="Slide Number Placeholder 8"/>
          <p:cNvSpPr>
            <a:spLocks noGrp="1"/>
          </p:cNvSpPr>
          <p:nvPr>
            <p:ph type="sldNum" sz="quarter" idx="12"/>
          </p:nvPr>
        </p:nvSpPr>
        <p:spPr/>
        <p:txBody>
          <a:bodyPr>
            <a:normAutofit/>
          </a:bodyPr>
          <a:lstStyle/>
          <a:p>
            <a:pPr>
              <a:defRPr/>
            </a:pPr>
            <a:fld id="{E55CFD14-599C-471C-8E9E-134B3871B0C4}" type="slidenum">
              <a:rPr lang="en-US"/>
              <a:pPr>
                <a:defRPr/>
              </a:pPr>
              <a:t>6</a:t>
            </a:fld>
            <a:endParaRPr lang="en-US"/>
          </a:p>
        </p:txBody>
      </p:sp>
      <p:graphicFrame>
        <p:nvGraphicFramePr>
          <p:cNvPr id="1026" name="Object 4"/>
          <p:cNvGraphicFramePr>
            <a:graphicFrameLocks noChangeAspect="1"/>
          </p:cNvGraphicFramePr>
          <p:nvPr/>
        </p:nvGraphicFramePr>
        <p:xfrm>
          <a:off x="1828800" y="2514600"/>
          <a:ext cx="5373688" cy="685800"/>
        </p:xfrm>
        <a:graphic>
          <a:graphicData uri="http://schemas.openxmlformats.org/presentationml/2006/ole">
            <p:oleObj spid="_x0000_s1026" name="Equation" r:id="rId3" imgW="1993680" imgH="355320" progId="Equation.3">
              <p:embed/>
            </p:oleObj>
          </a:graphicData>
        </a:graphic>
      </p:graphicFrame>
      <p:graphicFrame>
        <p:nvGraphicFramePr>
          <p:cNvPr id="1027" name="Object 5"/>
          <p:cNvGraphicFramePr>
            <a:graphicFrameLocks noChangeAspect="1"/>
          </p:cNvGraphicFramePr>
          <p:nvPr/>
        </p:nvGraphicFramePr>
        <p:xfrm>
          <a:off x="1487488" y="3684588"/>
          <a:ext cx="5653087" cy="735012"/>
        </p:xfrm>
        <a:graphic>
          <a:graphicData uri="http://schemas.openxmlformats.org/presentationml/2006/ole">
            <p:oleObj spid="_x0000_s1027" name="Equation" r:id="rId4" imgW="1993680" imgH="380880" progId="Equation.3">
              <p:embed/>
            </p:oleObj>
          </a:graphicData>
        </a:graphic>
      </p:graphicFrame>
      <p:graphicFrame>
        <p:nvGraphicFramePr>
          <p:cNvPr id="1028" name="Object 6"/>
          <p:cNvGraphicFramePr>
            <a:graphicFrameLocks noChangeAspect="1"/>
          </p:cNvGraphicFramePr>
          <p:nvPr/>
        </p:nvGraphicFramePr>
        <p:xfrm>
          <a:off x="1447800" y="4876800"/>
          <a:ext cx="5761038" cy="733425"/>
        </p:xfrm>
        <a:graphic>
          <a:graphicData uri="http://schemas.openxmlformats.org/presentationml/2006/ole">
            <p:oleObj spid="_x0000_s1028" name="Equation" r:id="rId5" imgW="2031840" imgH="380880" progId="Equation.3">
              <p:embed/>
            </p:oleObj>
          </a:graphicData>
        </a:graphic>
      </p:graphicFrame>
      <p:graphicFrame>
        <p:nvGraphicFramePr>
          <p:cNvPr id="1029" name="Object 7"/>
          <p:cNvGraphicFramePr>
            <a:graphicFrameLocks noChangeAspect="1"/>
          </p:cNvGraphicFramePr>
          <p:nvPr/>
        </p:nvGraphicFramePr>
        <p:xfrm>
          <a:off x="3035300" y="6172200"/>
          <a:ext cx="2736850" cy="366713"/>
        </p:xfrm>
        <a:graphic>
          <a:graphicData uri="http://schemas.openxmlformats.org/presentationml/2006/ole">
            <p:oleObj spid="_x0000_s1029" name="Equation" r:id="rId6" imgW="965160" imgH="19044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p:cNvSpPr>
            <a:spLocks noGrp="1"/>
          </p:cNvSpPr>
          <p:nvPr>
            <p:ph type="title"/>
          </p:nvPr>
        </p:nvSpPr>
        <p:spPr>
          <a:xfrm>
            <a:off x="1066800" y="655638"/>
            <a:ext cx="8077200" cy="563562"/>
          </a:xfrm>
        </p:spPr>
        <p:txBody>
          <a:bodyPr>
            <a:normAutofit fontScale="90000"/>
          </a:bodyPr>
          <a:lstStyle/>
          <a:p>
            <a:pPr eaLnBrk="1" hangingPunct="1"/>
            <a:r>
              <a:rPr lang="en-US" sz="4000" dirty="0" smtClean="0"/>
              <a:t>Example 1(Recursive Power Function)</a:t>
            </a:r>
            <a:endParaRPr lang="ur-PK" sz="4000" dirty="0" smtClean="0"/>
          </a:p>
        </p:txBody>
      </p:sp>
      <p:sp>
        <p:nvSpPr>
          <p:cNvPr id="2056" name="Content Placeholder 2"/>
          <p:cNvSpPr>
            <a:spLocks noGrp="1"/>
          </p:cNvSpPr>
          <p:nvPr>
            <p:ph sz="half" idx="1"/>
          </p:nvPr>
        </p:nvSpPr>
        <p:spPr>
          <a:xfrm>
            <a:off x="990600" y="1600200"/>
            <a:ext cx="4038600" cy="5059363"/>
          </a:xfrm>
          <a:ln>
            <a:solidFill>
              <a:schemeClr val="tx1"/>
            </a:solidFill>
          </a:ln>
        </p:spPr>
        <p:txBody>
          <a:bodyPr/>
          <a:lstStyle/>
          <a:p>
            <a:pPr eaLnBrk="1" hangingPunct="1"/>
            <a:r>
              <a:rPr lang="en-US" sz="2000" smtClean="0"/>
              <a:t>Now lets suppose that X=3 and N=4</a:t>
            </a:r>
          </a:p>
          <a:p>
            <a:pPr eaLnBrk="1" hangingPunct="1"/>
            <a:endParaRPr lang="en-US" sz="2000" smtClean="0"/>
          </a:p>
          <a:p>
            <a:pPr eaLnBrk="1" hangingPunct="1"/>
            <a:r>
              <a:rPr lang="en-US" sz="2000" smtClean="0"/>
              <a:t>Now we can simplify the above equation as</a:t>
            </a:r>
          </a:p>
          <a:p>
            <a:pPr eaLnBrk="1" hangingPunct="1"/>
            <a:endParaRPr lang="en-US" sz="2000" smtClean="0"/>
          </a:p>
          <a:p>
            <a:pPr eaLnBrk="1" hangingPunct="1"/>
            <a:endParaRPr lang="en-US" sz="2000" smtClean="0"/>
          </a:p>
          <a:p>
            <a:pPr eaLnBrk="1" hangingPunct="1"/>
            <a:endParaRPr lang="en-US" sz="2000" smtClean="0"/>
          </a:p>
          <a:p>
            <a:pPr eaLnBrk="1" hangingPunct="1"/>
            <a:endParaRPr lang="en-US" sz="2000" smtClean="0"/>
          </a:p>
          <a:p>
            <a:pPr eaLnBrk="1" hangingPunct="1"/>
            <a:r>
              <a:rPr lang="en-US" sz="2000" smtClean="0"/>
              <a:t>So the base case in this equation is</a:t>
            </a:r>
          </a:p>
        </p:txBody>
      </p:sp>
      <p:sp>
        <p:nvSpPr>
          <p:cNvPr id="2057" name="Content Placeholder 3"/>
          <p:cNvSpPr>
            <a:spLocks noGrp="1"/>
          </p:cNvSpPr>
          <p:nvPr>
            <p:ph sz="half" idx="2"/>
          </p:nvPr>
        </p:nvSpPr>
        <p:spPr>
          <a:xfrm>
            <a:off x="5105400" y="1600200"/>
            <a:ext cx="4038600" cy="5059363"/>
          </a:xfrm>
          <a:ln>
            <a:solidFill>
              <a:schemeClr val="tx1"/>
            </a:solidFill>
          </a:ln>
        </p:spPr>
        <p:txBody>
          <a:bodyPr/>
          <a:lstStyle/>
          <a:p>
            <a:pPr eaLnBrk="1" hangingPunct="1">
              <a:buFontTx/>
              <a:buNone/>
            </a:pPr>
            <a:r>
              <a:rPr lang="en-US" sz="2000" b="1" dirty="0" err="1" smtClean="0"/>
              <a:t>int</a:t>
            </a:r>
            <a:r>
              <a:rPr lang="en-US" sz="2000" b="1" dirty="0" smtClean="0"/>
              <a:t> Power ( </a:t>
            </a:r>
            <a:r>
              <a:rPr lang="en-US" sz="2000" b="1" dirty="0" err="1" smtClean="0"/>
              <a:t>int</a:t>
            </a:r>
            <a:r>
              <a:rPr lang="en-US" sz="2000" b="1" dirty="0" smtClean="0"/>
              <a:t>   x , </a:t>
            </a:r>
            <a:r>
              <a:rPr lang="en-US" sz="2000" b="1" dirty="0" err="1" smtClean="0"/>
              <a:t>int</a:t>
            </a:r>
            <a:r>
              <a:rPr lang="en-US" sz="2000" b="1" dirty="0" smtClean="0"/>
              <a:t>   n )</a:t>
            </a:r>
          </a:p>
          <a:p>
            <a:pPr eaLnBrk="1" hangingPunct="1">
              <a:buFontTx/>
              <a:buNone/>
            </a:pPr>
            <a:r>
              <a:rPr lang="en-US" sz="2000" b="1" dirty="0" smtClean="0"/>
              <a:t>{</a:t>
            </a:r>
          </a:p>
          <a:p>
            <a:pPr eaLnBrk="1" hangingPunct="1">
              <a:buFontTx/>
              <a:buNone/>
            </a:pPr>
            <a:r>
              <a:rPr lang="en-US" sz="2000" b="1" dirty="0" smtClean="0"/>
              <a:t>	if ( n == 1 )</a:t>
            </a:r>
          </a:p>
          <a:p>
            <a:pPr eaLnBrk="1" hangingPunct="1">
              <a:buFontTx/>
              <a:buNone/>
            </a:pPr>
            <a:r>
              <a:rPr lang="en-US" sz="2000" b="1" dirty="0" smtClean="0"/>
              <a:t>	     return x;     </a:t>
            </a:r>
            <a:r>
              <a:rPr lang="en-US" sz="2000" b="1" dirty="0" smtClean="0">
                <a:solidFill>
                  <a:srgbClr val="FF0000"/>
                </a:solidFill>
              </a:rPr>
              <a:t>//Base case</a:t>
            </a:r>
          </a:p>
          <a:p>
            <a:pPr eaLnBrk="1" hangingPunct="1">
              <a:buFontTx/>
              <a:buNone/>
            </a:pPr>
            <a:r>
              <a:rPr lang="en-US" sz="2000" b="1" dirty="0" smtClean="0"/>
              <a:t>	else</a:t>
            </a:r>
          </a:p>
          <a:p>
            <a:pPr eaLnBrk="1" hangingPunct="1">
              <a:buFontTx/>
              <a:buNone/>
            </a:pPr>
            <a:r>
              <a:rPr lang="en-US" sz="2000" b="1" dirty="0" smtClean="0"/>
              <a:t>          return x * Power (x, n-1);</a:t>
            </a:r>
          </a:p>
          <a:p>
            <a:pPr eaLnBrk="1" hangingPunct="1">
              <a:buFontTx/>
              <a:buNone/>
            </a:pPr>
            <a:r>
              <a:rPr lang="en-US" sz="2000" b="1" dirty="0" smtClean="0"/>
              <a:t>			  </a:t>
            </a:r>
            <a:r>
              <a:rPr lang="en-US" sz="2000" b="1" dirty="0" smtClean="0">
                <a:solidFill>
                  <a:srgbClr val="FF0000"/>
                </a:solidFill>
              </a:rPr>
              <a:t>// recursive call</a:t>
            </a:r>
          </a:p>
          <a:p>
            <a:pPr eaLnBrk="1" hangingPunct="1">
              <a:buFontTx/>
              <a:buNone/>
            </a:pPr>
            <a:r>
              <a:rPr lang="en-US" sz="2000" b="1" dirty="0" smtClean="0"/>
              <a:t>}</a:t>
            </a:r>
            <a:endParaRPr lang="ur-PK" sz="2000" b="1" dirty="0" smtClean="0"/>
          </a:p>
        </p:txBody>
      </p:sp>
      <p:sp>
        <p:nvSpPr>
          <p:cNvPr id="10" name="Slide Number Placeholder 9"/>
          <p:cNvSpPr>
            <a:spLocks noGrp="1"/>
          </p:cNvSpPr>
          <p:nvPr>
            <p:ph type="sldNum" sz="quarter" idx="12"/>
          </p:nvPr>
        </p:nvSpPr>
        <p:spPr/>
        <p:txBody>
          <a:bodyPr>
            <a:normAutofit/>
          </a:bodyPr>
          <a:lstStyle/>
          <a:p>
            <a:pPr>
              <a:defRPr/>
            </a:pPr>
            <a:fld id="{4A84DB4B-6992-42D4-B25D-0E940C89EC1C}" type="slidenum">
              <a:rPr lang="en-US"/>
              <a:pPr>
                <a:defRPr/>
              </a:pPr>
              <a:t>7</a:t>
            </a:fld>
            <a:endParaRPr lang="en-US"/>
          </a:p>
        </p:txBody>
      </p:sp>
      <p:graphicFrame>
        <p:nvGraphicFramePr>
          <p:cNvPr id="2050" name="Object 2"/>
          <p:cNvGraphicFramePr>
            <a:graphicFrameLocks noChangeAspect="1"/>
          </p:cNvGraphicFramePr>
          <p:nvPr/>
        </p:nvGraphicFramePr>
        <p:xfrm>
          <a:off x="1652588" y="2362200"/>
          <a:ext cx="1547812" cy="392113"/>
        </p:xfrm>
        <a:graphic>
          <a:graphicData uri="http://schemas.openxmlformats.org/presentationml/2006/ole">
            <p:oleObj spid="_x0000_s2050" name="Equation" r:id="rId3" imgW="545760" imgH="203040" progId="Equation.3">
              <p:embed/>
            </p:oleObj>
          </a:graphicData>
        </a:graphic>
      </p:graphicFrame>
      <p:graphicFrame>
        <p:nvGraphicFramePr>
          <p:cNvPr id="2051" name="Object 3"/>
          <p:cNvGraphicFramePr>
            <a:graphicFrameLocks noChangeAspect="1"/>
          </p:cNvGraphicFramePr>
          <p:nvPr/>
        </p:nvGraphicFramePr>
        <p:xfrm>
          <a:off x="1524000" y="3371850"/>
          <a:ext cx="1763713" cy="392113"/>
        </p:xfrm>
        <a:graphic>
          <a:graphicData uri="http://schemas.openxmlformats.org/presentationml/2006/ole">
            <p:oleObj spid="_x0000_s2051" name="Equation" r:id="rId4" imgW="622080" imgH="203040" progId="Equation.3">
              <p:embed/>
            </p:oleObj>
          </a:graphicData>
        </a:graphic>
      </p:graphicFrame>
      <p:graphicFrame>
        <p:nvGraphicFramePr>
          <p:cNvPr id="2052" name="Object 4"/>
          <p:cNvGraphicFramePr>
            <a:graphicFrameLocks noChangeAspect="1"/>
          </p:cNvGraphicFramePr>
          <p:nvPr/>
        </p:nvGraphicFramePr>
        <p:xfrm>
          <a:off x="1524000" y="3840163"/>
          <a:ext cx="1763713" cy="392112"/>
        </p:xfrm>
        <a:graphic>
          <a:graphicData uri="http://schemas.openxmlformats.org/presentationml/2006/ole">
            <p:oleObj spid="_x0000_s2052" name="Equation" r:id="rId5" imgW="622080" imgH="203040" progId="Equation.3">
              <p:embed/>
            </p:oleObj>
          </a:graphicData>
        </a:graphic>
      </p:graphicFrame>
      <p:graphicFrame>
        <p:nvGraphicFramePr>
          <p:cNvPr id="2053" name="Object 5"/>
          <p:cNvGraphicFramePr>
            <a:graphicFrameLocks noChangeAspect="1"/>
          </p:cNvGraphicFramePr>
          <p:nvPr/>
        </p:nvGraphicFramePr>
        <p:xfrm>
          <a:off x="1547813" y="4286250"/>
          <a:ext cx="1728787" cy="392113"/>
        </p:xfrm>
        <a:graphic>
          <a:graphicData uri="http://schemas.openxmlformats.org/presentationml/2006/ole">
            <p:oleObj spid="_x0000_s2053" name="Equation" r:id="rId6" imgW="609480" imgH="203040" progId="Equation.3">
              <p:embed/>
            </p:oleObj>
          </a:graphicData>
        </a:graphic>
      </p:graphicFrame>
      <p:graphicFrame>
        <p:nvGraphicFramePr>
          <p:cNvPr id="2054" name="Object 6"/>
          <p:cNvGraphicFramePr>
            <a:graphicFrameLocks noChangeAspect="1"/>
          </p:cNvGraphicFramePr>
          <p:nvPr/>
        </p:nvGraphicFramePr>
        <p:xfrm>
          <a:off x="1771650" y="5505450"/>
          <a:ext cx="1081088" cy="392113"/>
        </p:xfrm>
        <a:graphic>
          <a:graphicData uri="http://schemas.openxmlformats.org/presentationml/2006/ole">
            <p:oleObj spid="_x0000_s2054" name="Equation" r:id="rId7" imgW="380880" imgH="20304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069975" y="-76200"/>
            <a:ext cx="7235825" cy="990600"/>
          </a:xfrm>
        </p:spPr>
        <p:txBody>
          <a:bodyPr/>
          <a:lstStyle/>
          <a:p>
            <a:pPr eaLnBrk="1" hangingPunct="1"/>
            <a:r>
              <a:rPr lang="en-US" dirty="0" smtClean="0"/>
              <a:t>Factorial-- A Case Study</a:t>
            </a:r>
          </a:p>
        </p:txBody>
      </p:sp>
      <p:sp>
        <p:nvSpPr>
          <p:cNvPr id="4" name="Content Placeholder 3"/>
          <p:cNvSpPr>
            <a:spLocks noGrp="1"/>
          </p:cNvSpPr>
          <p:nvPr>
            <p:ph idx="1"/>
          </p:nvPr>
        </p:nvSpPr>
        <p:spPr>
          <a:xfrm>
            <a:off x="1066800" y="990600"/>
            <a:ext cx="8077200" cy="5638800"/>
          </a:xfrm>
        </p:spPr>
        <p:txBody>
          <a:bodyPr>
            <a:normAutofit/>
          </a:bodyPr>
          <a:lstStyle/>
          <a:p>
            <a:pPr marL="457200" indent="-457200" eaLnBrk="1" fontAlgn="auto" hangingPunct="1">
              <a:lnSpc>
                <a:spcPct val="90000"/>
              </a:lnSpc>
              <a:spcBef>
                <a:spcPct val="0"/>
              </a:spcBef>
              <a:spcAft>
                <a:spcPts val="0"/>
              </a:spcAft>
              <a:buFont typeface="Wingdings" pitchFamily="2" charset="2"/>
              <a:buChar char="q"/>
              <a:defRPr/>
            </a:pPr>
            <a:r>
              <a:rPr lang="en-US" sz="2400" dirty="0" smtClean="0"/>
              <a:t>Factorial Function: Given a positive integer n, n factorial is defined as the product of all integers between 1 and n, including n.</a:t>
            </a:r>
          </a:p>
          <a:p>
            <a:pPr marL="320040" indent="-320040" eaLnBrk="1" fontAlgn="auto" hangingPunct="1">
              <a:spcAft>
                <a:spcPts val="0"/>
              </a:spcAft>
              <a:buFont typeface="Wingdings"/>
              <a:buChar char=""/>
              <a:defRPr/>
            </a:pPr>
            <a:r>
              <a:rPr lang="en-US" sz="2400" dirty="0" smtClean="0"/>
              <a:t>Definition: n! = n* (n-1)* (n-2) * ……..*1</a:t>
            </a:r>
          </a:p>
          <a:p>
            <a:pPr marL="320040" indent="-320040" eaLnBrk="1" fontAlgn="auto" hangingPunct="1">
              <a:spcAft>
                <a:spcPts val="0"/>
              </a:spcAft>
              <a:buFont typeface="Wingdings"/>
              <a:buChar char=""/>
              <a:defRPr/>
            </a:pPr>
            <a:r>
              <a:rPr lang="en-US" sz="2400" dirty="0" smtClean="0"/>
              <a:t>Mathematical Definition:</a:t>
            </a:r>
          </a:p>
          <a:p>
            <a:pPr marL="320040" indent="-320040" eaLnBrk="1" fontAlgn="auto" hangingPunct="1">
              <a:spcAft>
                <a:spcPts val="0"/>
              </a:spcAft>
              <a:buFont typeface="Wingdings"/>
              <a:buChar char=""/>
              <a:defRPr/>
            </a:pPr>
            <a:endParaRPr lang="en-US" sz="2400" dirty="0" smtClean="0"/>
          </a:p>
          <a:p>
            <a:pPr marL="320040" indent="-320040" eaLnBrk="1" fontAlgn="auto" hangingPunct="1">
              <a:spcAft>
                <a:spcPts val="0"/>
              </a:spcAft>
              <a:buFont typeface="Wingdings"/>
              <a:buNone/>
              <a:defRPr/>
            </a:pPr>
            <a:endParaRPr lang="en-US" sz="1200" dirty="0" smtClean="0"/>
          </a:p>
          <a:p>
            <a:pPr marL="320040" indent="-320040" eaLnBrk="1" fontAlgn="auto" hangingPunct="1">
              <a:spcAft>
                <a:spcPts val="0"/>
              </a:spcAft>
              <a:buFont typeface="Wingdings"/>
              <a:buNone/>
              <a:defRPr/>
            </a:pPr>
            <a:endParaRPr lang="en-US" sz="2000" dirty="0" smtClean="0"/>
          </a:p>
          <a:p>
            <a:pPr marL="320040" indent="-320040" eaLnBrk="1" fontAlgn="auto" hangingPunct="1">
              <a:spcAft>
                <a:spcPts val="0"/>
              </a:spcAft>
              <a:buFont typeface="Wingdings"/>
              <a:buChar char=""/>
              <a:defRPr/>
            </a:pPr>
            <a:r>
              <a:rPr lang="en-US" sz="2400" dirty="0" smtClean="0"/>
              <a:t>Implementation using loop </a:t>
            </a:r>
          </a:p>
          <a:p>
            <a:pPr marL="320040" indent="-320040" eaLnBrk="1" fontAlgn="auto" hangingPunct="1">
              <a:spcAft>
                <a:spcPts val="0"/>
              </a:spcAft>
              <a:buFont typeface="Wingdings"/>
              <a:buChar char=""/>
              <a:defRPr/>
            </a:pPr>
            <a:endParaRPr lang="en-US" sz="2400" dirty="0"/>
          </a:p>
        </p:txBody>
      </p:sp>
      <p:sp>
        <p:nvSpPr>
          <p:cNvPr id="3" name="Slide Number Placeholder 2"/>
          <p:cNvSpPr>
            <a:spLocks noGrp="1"/>
          </p:cNvSpPr>
          <p:nvPr>
            <p:ph type="sldNum" sz="quarter" idx="12"/>
          </p:nvPr>
        </p:nvSpPr>
        <p:spPr/>
        <p:txBody>
          <a:bodyPr>
            <a:normAutofit/>
          </a:bodyPr>
          <a:lstStyle/>
          <a:p>
            <a:pPr>
              <a:defRPr/>
            </a:pPr>
            <a:fld id="{A01195D7-0AE3-4F6F-8870-682F9184F054}" type="slidenum">
              <a:rPr lang="en-US"/>
              <a:pPr>
                <a:defRPr/>
              </a:pPr>
              <a:t>8</a:t>
            </a:fld>
            <a:endParaRPr lang="en-US"/>
          </a:p>
        </p:txBody>
      </p:sp>
      <p:pic>
        <p:nvPicPr>
          <p:cNvPr id="17413" name="Picture 3"/>
          <p:cNvPicPr>
            <a:picLocks noChangeAspect="1" noChangeArrowheads="1"/>
          </p:cNvPicPr>
          <p:nvPr/>
        </p:nvPicPr>
        <p:blipFill>
          <a:blip r:embed="rId2" cstate="print"/>
          <a:srcRect/>
          <a:stretch>
            <a:fillRect/>
          </a:stretch>
        </p:blipFill>
        <p:spPr bwMode="auto">
          <a:xfrm>
            <a:off x="4565650" y="2819400"/>
            <a:ext cx="4578350" cy="1304925"/>
          </a:xfrm>
          <a:prstGeom prst="rect">
            <a:avLst/>
          </a:prstGeom>
          <a:noFill/>
          <a:ln w="9525">
            <a:noFill/>
            <a:miter lim="800000"/>
            <a:headEnd/>
            <a:tailEnd/>
          </a:ln>
        </p:spPr>
      </p:pic>
      <p:pic>
        <p:nvPicPr>
          <p:cNvPr id="17414" name="Picture 5"/>
          <p:cNvPicPr>
            <a:picLocks noChangeAspect="1" noChangeArrowheads="1"/>
          </p:cNvPicPr>
          <p:nvPr/>
        </p:nvPicPr>
        <p:blipFill>
          <a:blip r:embed="rId3" cstate="print"/>
          <a:srcRect/>
          <a:stretch>
            <a:fillRect/>
          </a:stretch>
        </p:blipFill>
        <p:spPr bwMode="auto">
          <a:xfrm>
            <a:off x="3886200" y="4495800"/>
            <a:ext cx="4749800"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371600" y="503238"/>
            <a:ext cx="6172200" cy="792162"/>
          </a:xfrm>
        </p:spPr>
        <p:txBody>
          <a:bodyPr/>
          <a:lstStyle/>
          <a:p>
            <a:pPr eaLnBrk="1" hangingPunct="1"/>
            <a:r>
              <a:rPr lang="en-US" dirty="0" smtClean="0"/>
              <a:t>Factorial Case Study</a:t>
            </a:r>
          </a:p>
        </p:txBody>
      </p:sp>
      <p:sp>
        <p:nvSpPr>
          <p:cNvPr id="18435" name="Rectangle 3"/>
          <p:cNvSpPr>
            <a:spLocks noGrp="1" noChangeArrowheads="1"/>
          </p:cNvSpPr>
          <p:nvPr>
            <p:ph idx="1"/>
          </p:nvPr>
        </p:nvSpPr>
        <p:spPr>
          <a:xfrm>
            <a:off x="990600" y="1676400"/>
            <a:ext cx="7924800" cy="4648200"/>
          </a:xfrm>
        </p:spPr>
        <p:txBody>
          <a:bodyPr/>
          <a:lstStyle/>
          <a:p>
            <a:pPr eaLnBrk="1" hangingPunct="1"/>
            <a:r>
              <a:rPr lang="en-US" sz="2800" u="sng" dirty="0" smtClean="0"/>
              <a:t>Factorial definition</a:t>
            </a:r>
          </a:p>
          <a:p>
            <a:pPr lvl="1" eaLnBrk="1" hangingPunct="1">
              <a:buFontTx/>
              <a:buNone/>
            </a:pPr>
            <a:r>
              <a:rPr lang="pt-BR" sz="2400" dirty="0" smtClean="0"/>
              <a:t>n! = n × n-1 × n-2 × n-3 × … × 3 × 2 × 1</a:t>
            </a:r>
          </a:p>
          <a:p>
            <a:pPr lvl="1" eaLnBrk="1" hangingPunct="1">
              <a:buFontTx/>
              <a:buNone/>
            </a:pPr>
            <a:r>
              <a:rPr lang="pt-BR" sz="2400" dirty="0" smtClean="0"/>
              <a:t>0! = 1</a:t>
            </a:r>
          </a:p>
          <a:p>
            <a:pPr eaLnBrk="1" hangingPunct="1"/>
            <a:r>
              <a:rPr lang="en-US" sz="2800" u="sng" dirty="0" smtClean="0"/>
              <a:t>To calculate factorial of n</a:t>
            </a:r>
          </a:p>
          <a:p>
            <a:pPr lvl="1" eaLnBrk="1" hangingPunct="1"/>
            <a:r>
              <a:rPr lang="en-US" sz="2400" dirty="0" smtClean="0"/>
              <a:t>Base case</a:t>
            </a:r>
          </a:p>
          <a:p>
            <a:pPr lvl="2" eaLnBrk="1" hangingPunct="1"/>
            <a:r>
              <a:rPr lang="en-US" sz="2400" dirty="0" smtClean="0"/>
              <a:t>If n = 0, return 1</a:t>
            </a:r>
          </a:p>
          <a:p>
            <a:pPr lvl="1" eaLnBrk="1" hangingPunct="1"/>
            <a:r>
              <a:rPr lang="en-US" sz="2400" dirty="0" smtClean="0"/>
              <a:t>Recursive step</a:t>
            </a:r>
          </a:p>
          <a:p>
            <a:pPr lvl="2" eaLnBrk="1" hangingPunct="1"/>
            <a:r>
              <a:rPr lang="en-US" sz="2400" dirty="0" smtClean="0"/>
              <a:t>Calculate the factorial of n-1</a:t>
            </a:r>
          </a:p>
          <a:p>
            <a:pPr lvl="2" eaLnBrk="1" hangingPunct="1"/>
            <a:r>
              <a:rPr lang="en-US" sz="2400" dirty="0" smtClean="0"/>
              <a:t>Return n × (the factorial of n-1)</a:t>
            </a:r>
          </a:p>
        </p:txBody>
      </p:sp>
      <p:sp>
        <p:nvSpPr>
          <p:cNvPr id="4" name="Slide Number Placeholder 3"/>
          <p:cNvSpPr>
            <a:spLocks noGrp="1"/>
          </p:cNvSpPr>
          <p:nvPr>
            <p:ph type="sldNum" sz="quarter" idx="12"/>
          </p:nvPr>
        </p:nvSpPr>
        <p:spPr/>
        <p:txBody>
          <a:bodyPr>
            <a:normAutofit/>
          </a:bodyPr>
          <a:lstStyle/>
          <a:p>
            <a:pPr>
              <a:defRPr/>
            </a:pPr>
            <a:fld id="{C97F3BF2-CA54-4CE6-A6DF-02BCD557BFD1}" type="slidenum">
              <a:rPr lang="en-US"/>
              <a:pPr>
                <a:defRPr/>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219200" y="274638"/>
            <a:ext cx="6096000" cy="1143000"/>
          </a:xfrm>
        </p:spPr>
        <p:txBody>
          <a:bodyPr/>
          <a:lstStyle/>
          <a:p>
            <a:pPr eaLnBrk="1" hangingPunct="1"/>
            <a:r>
              <a:rPr lang="en-US" sz="4000" dirty="0" smtClean="0"/>
              <a:t>Factorial Case Study</a:t>
            </a:r>
            <a:endParaRPr lang="ur-PK" sz="4000" dirty="0" smtClean="0"/>
          </a:p>
        </p:txBody>
      </p:sp>
      <p:sp>
        <p:nvSpPr>
          <p:cNvPr id="10243" name="Content Placeholder 2"/>
          <p:cNvSpPr>
            <a:spLocks noGrp="1"/>
          </p:cNvSpPr>
          <p:nvPr>
            <p:ph idx="1"/>
          </p:nvPr>
        </p:nvSpPr>
        <p:spPr>
          <a:xfrm>
            <a:off x="2209800" y="4267200"/>
            <a:ext cx="6324600" cy="2819400"/>
          </a:xfrm>
          <a:ln>
            <a:solidFill>
              <a:schemeClr val="tx1"/>
            </a:solidFill>
          </a:ln>
        </p:spPr>
        <p:txBody>
          <a:bodyPr>
            <a:normAutofit fontScale="92500" lnSpcReduction="20000"/>
          </a:bodyPr>
          <a:lstStyle/>
          <a:p>
            <a:pPr marL="320040" indent="-320040" eaLnBrk="1" fontAlgn="auto" hangingPunct="1">
              <a:lnSpc>
                <a:spcPct val="90000"/>
              </a:lnSpc>
              <a:spcBef>
                <a:spcPct val="0"/>
              </a:spcBef>
              <a:spcAft>
                <a:spcPts val="0"/>
              </a:spcAft>
              <a:buClr>
                <a:schemeClr val="bg1"/>
              </a:buClr>
              <a:buFontTx/>
              <a:buNone/>
              <a:defRPr/>
            </a:pPr>
            <a:r>
              <a:rPr lang="en-US" sz="2800" dirty="0" err="1" smtClean="0"/>
              <a:t>int</a:t>
            </a:r>
            <a:r>
              <a:rPr lang="en-US" sz="2800" dirty="0" smtClean="0"/>
              <a:t> factorial(n)</a:t>
            </a:r>
          </a:p>
          <a:p>
            <a:pPr marL="320040" indent="-320040" eaLnBrk="1" fontAlgn="auto" hangingPunct="1">
              <a:lnSpc>
                <a:spcPct val="90000"/>
              </a:lnSpc>
              <a:spcAft>
                <a:spcPts val="0"/>
              </a:spcAft>
              <a:buFontTx/>
              <a:buNone/>
              <a:defRPr/>
            </a:pPr>
            <a:r>
              <a:rPr lang="en-US" sz="2800" dirty="0" smtClean="0"/>
              <a:t>	{</a:t>
            </a:r>
          </a:p>
          <a:p>
            <a:pPr marL="320040" indent="-320040" eaLnBrk="1" fontAlgn="auto" hangingPunct="1">
              <a:lnSpc>
                <a:spcPct val="90000"/>
              </a:lnSpc>
              <a:spcAft>
                <a:spcPts val="0"/>
              </a:spcAft>
              <a:buFontTx/>
              <a:buNone/>
              <a:defRPr/>
            </a:pPr>
            <a:r>
              <a:rPr lang="en-US" sz="2800" dirty="0" smtClean="0"/>
              <a:t>		if(n &lt;= 1) </a:t>
            </a:r>
            <a:r>
              <a:rPr lang="en-US" sz="2800" dirty="0" smtClean="0">
                <a:solidFill>
                  <a:srgbClr val="FF0000"/>
                </a:solidFill>
              </a:rPr>
              <a:t>//Base Case</a:t>
            </a:r>
          </a:p>
          <a:p>
            <a:pPr marL="320040" indent="-320040" eaLnBrk="1" fontAlgn="auto" hangingPunct="1">
              <a:lnSpc>
                <a:spcPct val="90000"/>
              </a:lnSpc>
              <a:spcAft>
                <a:spcPts val="0"/>
              </a:spcAft>
              <a:buFontTx/>
              <a:buNone/>
              <a:defRPr/>
            </a:pPr>
            <a:r>
              <a:rPr lang="en-US" sz="2800" dirty="0" smtClean="0"/>
              <a:t>		    return 1;</a:t>
            </a:r>
          </a:p>
          <a:p>
            <a:pPr marL="320040" indent="-320040" eaLnBrk="1" fontAlgn="auto" hangingPunct="1">
              <a:lnSpc>
                <a:spcPct val="90000"/>
              </a:lnSpc>
              <a:spcAft>
                <a:spcPts val="0"/>
              </a:spcAft>
              <a:buFontTx/>
              <a:buNone/>
              <a:defRPr/>
            </a:pPr>
            <a:r>
              <a:rPr lang="en-US" sz="2800" dirty="0" smtClean="0"/>
              <a:t>		else	</a:t>
            </a:r>
          </a:p>
          <a:p>
            <a:pPr marL="320040" indent="-320040" eaLnBrk="1" fontAlgn="auto" hangingPunct="1">
              <a:lnSpc>
                <a:spcPct val="90000"/>
              </a:lnSpc>
              <a:spcAft>
                <a:spcPts val="0"/>
              </a:spcAft>
              <a:buFontTx/>
              <a:buNone/>
              <a:defRPr/>
            </a:pPr>
            <a:r>
              <a:rPr lang="en-US" sz="2800" dirty="0" smtClean="0"/>
              <a:t>		    return  n * factorial(n-1); </a:t>
            </a:r>
            <a:r>
              <a:rPr lang="en-US" sz="2800" dirty="0" smtClean="0">
                <a:solidFill>
                  <a:srgbClr val="FF0000"/>
                </a:solidFill>
              </a:rPr>
              <a:t>//Recursion</a:t>
            </a:r>
          </a:p>
          <a:p>
            <a:pPr marL="320040" indent="-320040" eaLnBrk="1" fontAlgn="auto" hangingPunct="1">
              <a:lnSpc>
                <a:spcPct val="90000"/>
              </a:lnSpc>
              <a:spcAft>
                <a:spcPts val="0"/>
              </a:spcAft>
              <a:buFontTx/>
              <a:buNone/>
              <a:defRPr/>
            </a:pPr>
            <a:r>
              <a:rPr lang="en-US" sz="2800" dirty="0" smtClean="0"/>
              <a:t>	}</a:t>
            </a:r>
          </a:p>
          <a:p>
            <a:pPr marL="320040" indent="-320040" eaLnBrk="1" fontAlgn="auto" hangingPunct="1">
              <a:spcAft>
                <a:spcPts val="0"/>
              </a:spcAft>
              <a:buFont typeface="Wingdings"/>
              <a:buChar char=""/>
              <a:defRPr/>
            </a:pPr>
            <a:endParaRPr lang="ur-PK" dirty="0" smtClean="0"/>
          </a:p>
        </p:txBody>
      </p:sp>
      <p:sp>
        <p:nvSpPr>
          <p:cNvPr id="4" name="Slide Number Placeholder 3"/>
          <p:cNvSpPr>
            <a:spLocks noGrp="1"/>
          </p:cNvSpPr>
          <p:nvPr>
            <p:ph type="sldNum" sz="quarter" idx="12"/>
          </p:nvPr>
        </p:nvSpPr>
        <p:spPr/>
        <p:txBody>
          <a:bodyPr>
            <a:normAutofit/>
          </a:bodyPr>
          <a:lstStyle/>
          <a:p>
            <a:pPr>
              <a:defRPr/>
            </a:pPr>
            <a:fld id="{E9FB4E93-9E23-414A-82F6-B135C7231CB6}" type="slidenum">
              <a:rPr lang="en-US"/>
              <a:pPr>
                <a:defRPr/>
              </a:pPr>
              <a:t>10</a:t>
            </a:fld>
            <a:endParaRPr lang="en-US"/>
          </a:p>
        </p:txBody>
      </p:sp>
      <p:sp>
        <p:nvSpPr>
          <p:cNvPr id="19461" name="Rectangle 4"/>
          <p:cNvSpPr>
            <a:spLocks noChangeArrowheads="1"/>
          </p:cNvSpPr>
          <p:nvPr/>
        </p:nvSpPr>
        <p:spPr bwMode="auto">
          <a:xfrm>
            <a:off x="838200" y="1524000"/>
            <a:ext cx="8534400" cy="2216150"/>
          </a:xfrm>
          <a:prstGeom prst="rect">
            <a:avLst/>
          </a:prstGeom>
          <a:noFill/>
          <a:ln w="9525">
            <a:noFill/>
            <a:miter lim="800000"/>
            <a:headEnd/>
            <a:tailEnd/>
          </a:ln>
        </p:spPr>
        <p:txBody>
          <a:bodyPr>
            <a:spAutoFit/>
          </a:bodyPr>
          <a:lstStyle/>
          <a:p>
            <a:pPr>
              <a:lnSpc>
                <a:spcPct val="150000"/>
              </a:lnSpc>
              <a:buClr>
                <a:schemeClr val="accent2"/>
              </a:buClr>
              <a:buFont typeface="Wingdings" pitchFamily="2" charset="2"/>
              <a:buChar char="q"/>
            </a:pPr>
            <a:r>
              <a:rPr lang="en-GB" sz="2300" dirty="0">
                <a:latin typeface="Tw Cen MT" pitchFamily="34" charset="0"/>
              </a:rPr>
              <a:t>Here’s a function that computes the factorial of a number N without using a loop.</a:t>
            </a:r>
          </a:p>
          <a:p>
            <a:pPr>
              <a:lnSpc>
                <a:spcPct val="150000"/>
              </a:lnSpc>
              <a:buClr>
                <a:schemeClr val="accent2"/>
              </a:buClr>
              <a:buFont typeface="Wingdings" pitchFamily="2" charset="2"/>
              <a:buChar char="q"/>
            </a:pPr>
            <a:r>
              <a:rPr lang="en-GB" sz="2300" dirty="0">
                <a:latin typeface="Tw Cen MT" pitchFamily="34" charset="0"/>
              </a:rPr>
              <a:t> It checks whether N is smaller than 1. If so, the </a:t>
            </a:r>
            <a:r>
              <a:rPr lang="en-US" sz="2300" dirty="0">
                <a:latin typeface="Tw Cen MT" pitchFamily="34" charset="0"/>
              </a:rPr>
              <a:t>function just returns 1.</a:t>
            </a:r>
          </a:p>
          <a:p>
            <a:pPr>
              <a:lnSpc>
                <a:spcPct val="150000"/>
              </a:lnSpc>
              <a:buClr>
                <a:schemeClr val="accent2"/>
              </a:buClr>
              <a:buFont typeface="Wingdings" pitchFamily="2" charset="2"/>
              <a:buChar char="q"/>
            </a:pPr>
            <a:r>
              <a:rPr lang="en-GB" sz="2300" dirty="0">
                <a:latin typeface="Tw Cen MT" pitchFamily="34" charset="0"/>
              </a:rPr>
              <a:t> Otherwise, it computes the factorial of N – 1 and </a:t>
            </a:r>
            <a:r>
              <a:rPr lang="en-US" sz="2300" dirty="0">
                <a:latin typeface="Tw Cen MT" pitchFamily="34" charset="0"/>
              </a:rPr>
              <a:t>multiplies it by 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066800" y="228600"/>
            <a:ext cx="7772400" cy="715962"/>
          </a:xfrm>
        </p:spPr>
        <p:txBody>
          <a:bodyPr>
            <a:normAutofit fontScale="90000"/>
          </a:bodyPr>
          <a:lstStyle/>
          <a:p>
            <a:pPr eaLnBrk="1" fontAlgn="auto" hangingPunct="1">
              <a:spcAft>
                <a:spcPts val="0"/>
              </a:spcAft>
              <a:defRPr/>
            </a:pPr>
            <a:r>
              <a:rPr lang="en-US" dirty="0" smtClean="0"/>
              <a:t>Evaluation of Factorial Example</a:t>
            </a:r>
            <a:endParaRPr lang="ur-PK" dirty="0" smtClean="0"/>
          </a:p>
        </p:txBody>
      </p:sp>
      <p:sp>
        <p:nvSpPr>
          <p:cNvPr id="20483" name="Content Placeholder 2"/>
          <p:cNvSpPr>
            <a:spLocks noGrp="1"/>
          </p:cNvSpPr>
          <p:nvPr>
            <p:ph idx="1"/>
          </p:nvPr>
        </p:nvSpPr>
        <p:spPr>
          <a:xfrm>
            <a:off x="1219200" y="1447800"/>
            <a:ext cx="6934200" cy="5181600"/>
          </a:xfrm>
        </p:spPr>
        <p:txBody>
          <a:bodyPr>
            <a:normAutofit lnSpcReduction="10000"/>
          </a:bodyPr>
          <a:lstStyle/>
          <a:p>
            <a:pPr lvl="1" eaLnBrk="1" hangingPunct="1">
              <a:buFontTx/>
              <a:buNone/>
            </a:pPr>
            <a:r>
              <a:rPr lang="en-US" sz="2000" dirty="0" smtClean="0">
                <a:solidFill>
                  <a:srgbClr val="FF0000"/>
                </a:solidFill>
              </a:rPr>
              <a:t>To evaluate Factorial(3)</a:t>
            </a:r>
          </a:p>
          <a:p>
            <a:pPr lvl="1" eaLnBrk="1" hangingPunct="1">
              <a:buFontTx/>
              <a:buNone/>
            </a:pPr>
            <a:r>
              <a:rPr lang="en-US" sz="2000" dirty="0" smtClean="0">
                <a:solidFill>
                  <a:srgbClr val="FF0000"/>
                </a:solidFill>
              </a:rPr>
              <a:t>evaluate 3 * Factorial(2)</a:t>
            </a:r>
          </a:p>
          <a:p>
            <a:pPr lvl="1" eaLnBrk="1" hangingPunct="1">
              <a:buFontTx/>
              <a:buNone/>
            </a:pPr>
            <a:r>
              <a:rPr lang="en-US" sz="2000" dirty="0" smtClean="0"/>
              <a:t>			</a:t>
            </a:r>
            <a:r>
              <a:rPr lang="en-US" sz="2000" dirty="0" smtClean="0">
                <a:solidFill>
                  <a:srgbClr val="FF9900"/>
                </a:solidFill>
              </a:rPr>
              <a:t>To evaluate Factorial(2)</a:t>
            </a:r>
          </a:p>
          <a:p>
            <a:pPr lvl="1" eaLnBrk="1" hangingPunct="1">
              <a:buFontTx/>
              <a:buNone/>
            </a:pPr>
            <a:r>
              <a:rPr lang="en-US" sz="2000" dirty="0" smtClean="0">
                <a:solidFill>
                  <a:srgbClr val="FF9900"/>
                </a:solidFill>
              </a:rPr>
              <a:t>			evaluate 2 * Factorial(1)</a:t>
            </a:r>
          </a:p>
          <a:p>
            <a:pPr lvl="1" eaLnBrk="1" hangingPunct="1">
              <a:buFontTx/>
              <a:buNone/>
            </a:pPr>
            <a:r>
              <a:rPr lang="en-US" sz="2000" dirty="0" smtClean="0"/>
              <a:t>				</a:t>
            </a:r>
            <a:r>
              <a:rPr lang="en-US" sz="2000" dirty="0" smtClean="0">
                <a:solidFill>
                  <a:srgbClr val="00B050"/>
                </a:solidFill>
              </a:rPr>
              <a:t>To evaluate Factorial(1)</a:t>
            </a:r>
          </a:p>
          <a:p>
            <a:pPr lvl="1" eaLnBrk="1" hangingPunct="1">
              <a:buFontTx/>
              <a:buNone/>
            </a:pPr>
            <a:r>
              <a:rPr lang="en-US" sz="2000" dirty="0" smtClean="0">
                <a:solidFill>
                  <a:srgbClr val="00B050"/>
                </a:solidFill>
              </a:rPr>
              <a:t>				evaluate 1 * Factorial(0)</a:t>
            </a:r>
          </a:p>
          <a:p>
            <a:pPr lvl="1" eaLnBrk="1" hangingPunct="1">
              <a:buFontTx/>
              <a:buNone/>
            </a:pPr>
            <a:r>
              <a:rPr lang="en-US" sz="2000" dirty="0" smtClean="0"/>
              <a:t>						Factorial(0) is 1</a:t>
            </a:r>
          </a:p>
          <a:p>
            <a:pPr lvl="1" eaLnBrk="1" hangingPunct="1">
              <a:buFontTx/>
              <a:buNone/>
            </a:pPr>
            <a:r>
              <a:rPr lang="en-US" sz="2000" dirty="0" smtClean="0"/>
              <a:t>						Return 1</a:t>
            </a:r>
          </a:p>
          <a:p>
            <a:pPr lvl="1" eaLnBrk="1" hangingPunct="1">
              <a:buFontTx/>
              <a:buNone/>
            </a:pPr>
            <a:r>
              <a:rPr lang="en-US" sz="2000" dirty="0" smtClean="0"/>
              <a:t>				</a:t>
            </a:r>
            <a:r>
              <a:rPr lang="en-US" sz="2000" dirty="0" smtClean="0">
                <a:solidFill>
                  <a:srgbClr val="00B050"/>
                </a:solidFill>
              </a:rPr>
              <a:t>Evaluate 1 * 1</a:t>
            </a:r>
          </a:p>
          <a:p>
            <a:pPr lvl="1" eaLnBrk="1" hangingPunct="1">
              <a:buFontTx/>
              <a:buNone/>
            </a:pPr>
            <a:r>
              <a:rPr lang="en-US" sz="2000" dirty="0" smtClean="0">
                <a:solidFill>
                  <a:srgbClr val="00B050"/>
                </a:solidFill>
              </a:rPr>
              <a:t>				Return 1</a:t>
            </a:r>
          </a:p>
          <a:p>
            <a:pPr lvl="1" eaLnBrk="1" hangingPunct="1">
              <a:buFontTx/>
              <a:buNone/>
            </a:pPr>
            <a:r>
              <a:rPr lang="en-US" sz="2000" dirty="0" smtClean="0"/>
              <a:t>			</a:t>
            </a:r>
            <a:r>
              <a:rPr lang="en-US" sz="2000" dirty="0" smtClean="0">
                <a:solidFill>
                  <a:srgbClr val="FF9900"/>
                </a:solidFill>
              </a:rPr>
              <a:t>Evaluate 2 * 1</a:t>
            </a:r>
          </a:p>
          <a:p>
            <a:pPr lvl="1" eaLnBrk="1" hangingPunct="1">
              <a:buFontTx/>
              <a:buNone/>
            </a:pPr>
            <a:r>
              <a:rPr lang="en-US" sz="2000" dirty="0" smtClean="0">
                <a:solidFill>
                  <a:srgbClr val="FF9900"/>
                </a:solidFill>
              </a:rPr>
              <a:t>			Return 2</a:t>
            </a:r>
          </a:p>
          <a:p>
            <a:pPr lvl="1" eaLnBrk="1" hangingPunct="1">
              <a:buFontTx/>
              <a:buNone/>
            </a:pPr>
            <a:r>
              <a:rPr lang="en-US" sz="2000" dirty="0" smtClean="0">
                <a:solidFill>
                  <a:srgbClr val="FF0000"/>
                </a:solidFill>
              </a:rPr>
              <a:t>Evaluate 3 * 2</a:t>
            </a:r>
          </a:p>
          <a:p>
            <a:pPr lvl="1" eaLnBrk="1" hangingPunct="1">
              <a:buFontTx/>
              <a:buNone/>
            </a:pPr>
            <a:r>
              <a:rPr lang="en-US" sz="2000" dirty="0" smtClean="0">
                <a:solidFill>
                  <a:srgbClr val="FF0000"/>
                </a:solidFill>
              </a:rPr>
              <a:t>Return 6</a:t>
            </a:r>
            <a:endParaRPr lang="ur-PK" sz="2000" dirty="0" smtClean="0">
              <a:solidFill>
                <a:srgbClr val="FF0000"/>
              </a:solidFill>
            </a:endParaRPr>
          </a:p>
        </p:txBody>
      </p:sp>
      <p:sp>
        <p:nvSpPr>
          <p:cNvPr id="4" name="Slide Number Placeholder 3"/>
          <p:cNvSpPr>
            <a:spLocks noGrp="1"/>
          </p:cNvSpPr>
          <p:nvPr>
            <p:ph type="sldNum" sz="quarter" idx="12"/>
          </p:nvPr>
        </p:nvSpPr>
        <p:spPr/>
        <p:txBody>
          <a:bodyPr>
            <a:normAutofit/>
          </a:bodyPr>
          <a:lstStyle/>
          <a:p>
            <a:pPr>
              <a:defRPr/>
            </a:pPr>
            <a:fld id="{FA0B2C38-F9F7-444C-A669-803EB3A15E3B}" type="slidenum">
              <a:rPr lang="en-US"/>
              <a:pPr>
                <a:defRPr/>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4"/>
          <p:cNvSpPr>
            <a:spLocks noGrp="1"/>
          </p:cNvSpPr>
          <p:nvPr>
            <p:ph type="sldNum" sz="quarter" idx="12"/>
          </p:nvPr>
        </p:nvSpPr>
        <p:spPr bwMode="auto">
          <a:ln>
            <a:miter lim="800000"/>
            <a:headEnd/>
            <a:tailEnd/>
          </a:ln>
        </p:spPr>
        <p:txBody>
          <a:bodyPr wrap="square" lIns="91440" tIns="45720" rIns="91440" bIns="45720" numCol="1" compatLnSpc="1">
            <a:prstTxWarp prst="textNoShape">
              <a:avLst/>
            </a:prstTxWarp>
          </a:bodyPr>
          <a:lstStyle/>
          <a:p>
            <a:pPr fontAlgn="base">
              <a:spcBef>
                <a:spcPct val="0"/>
              </a:spcBef>
              <a:spcAft>
                <a:spcPct val="0"/>
              </a:spcAft>
              <a:defRPr/>
            </a:pPr>
            <a:fld id="{01BE8724-9468-4EBD-B254-529DBC631583}" type="slidenum">
              <a:rPr lang="en-US" smtClean="0"/>
              <a:pPr fontAlgn="base">
                <a:spcBef>
                  <a:spcPct val="0"/>
                </a:spcBef>
                <a:spcAft>
                  <a:spcPct val="0"/>
                </a:spcAft>
                <a:defRPr/>
              </a:pPr>
              <a:t>12</a:t>
            </a:fld>
            <a:endParaRPr lang="en-US" smtClean="0"/>
          </a:p>
        </p:txBody>
      </p:sp>
      <p:sp>
        <p:nvSpPr>
          <p:cNvPr id="21507" name="Rectangle 2"/>
          <p:cNvSpPr>
            <a:spLocks noGrp="1" noChangeArrowheads="1"/>
          </p:cNvSpPr>
          <p:nvPr>
            <p:ph type="title" idx="4294967295"/>
          </p:nvPr>
        </p:nvSpPr>
        <p:spPr>
          <a:xfrm>
            <a:off x="1143000" y="76200"/>
            <a:ext cx="7543800" cy="527050"/>
          </a:xfrm>
        </p:spPr>
        <p:txBody>
          <a:bodyPr lIns="92075" tIns="46038" rIns="92075" bIns="46038">
            <a:normAutofit fontScale="90000"/>
          </a:bodyPr>
          <a:lstStyle/>
          <a:p>
            <a:pPr eaLnBrk="1" hangingPunct="1"/>
            <a:r>
              <a:rPr lang="en-US" dirty="0" smtClean="0"/>
              <a:t>Recursive Programming</a:t>
            </a:r>
          </a:p>
        </p:txBody>
      </p:sp>
      <p:grpSp>
        <p:nvGrpSpPr>
          <p:cNvPr id="2" name="Group 3"/>
          <p:cNvGrpSpPr>
            <a:grpSpLocks/>
          </p:cNvGrpSpPr>
          <p:nvPr/>
        </p:nvGrpSpPr>
        <p:grpSpPr bwMode="auto">
          <a:xfrm>
            <a:off x="1276350" y="1066800"/>
            <a:ext cx="7486650" cy="5638800"/>
            <a:chOff x="384" y="768"/>
            <a:chExt cx="4716" cy="3552"/>
          </a:xfrm>
        </p:grpSpPr>
        <p:sp>
          <p:nvSpPr>
            <p:cNvPr id="21509" name="Rectangle 4"/>
            <p:cNvSpPr>
              <a:spLocks noChangeArrowheads="1"/>
            </p:cNvSpPr>
            <p:nvPr/>
          </p:nvSpPr>
          <p:spPr bwMode="auto">
            <a:xfrm>
              <a:off x="384" y="768"/>
              <a:ext cx="715" cy="306"/>
            </a:xfrm>
            <a:prstGeom prst="rect">
              <a:avLst/>
            </a:prstGeom>
            <a:solidFill>
              <a:schemeClr val="accent1"/>
            </a:solidFill>
            <a:ln w="12700">
              <a:solidFill>
                <a:schemeClr val="tx1"/>
              </a:solidFill>
              <a:miter lim="800000"/>
              <a:headEnd/>
              <a:tailEnd/>
            </a:ln>
          </p:spPr>
          <p:txBody>
            <a:bodyPr wrap="none" lIns="92075" tIns="46038" rIns="92075" bIns="46038" anchor="ctr"/>
            <a:lstStyle/>
            <a:p>
              <a:pPr algn="ctr" eaLnBrk="0" hangingPunct="0"/>
              <a:r>
                <a:rPr lang="en-US" sz="2000">
                  <a:latin typeface="Courier New" pitchFamily="49" charset="0"/>
                </a:rPr>
                <a:t>main</a:t>
              </a:r>
            </a:p>
          </p:txBody>
        </p:sp>
        <p:sp>
          <p:nvSpPr>
            <p:cNvPr id="21510" name="Rectangle 5"/>
            <p:cNvSpPr>
              <a:spLocks noChangeArrowheads="1"/>
            </p:cNvSpPr>
            <p:nvPr/>
          </p:nvSpPr>
          <p:spPr bwMode="auto">
            <a:xfrm>
              <a:off x="698" y="1560"/>
              <a:ext cx="1276" cy="306"/>
            </a:xfrm>
            <a:prstGeom prst="rect">
              <a:avLst/>
            </a:prstGeom>
            <a:solidFill>
              <a:schemeClr val="accent1"/>
            </a:solidFill>
            <a:ln w="12700">
              <a:solidFill>
                <a:schemeClr val="tx1"/>
              </a:solidFill>
              <a:miter lim="800000"/>
              <a:headEnd/>
              <a:tailEnd/>
            </a:ln>
          </p:spPr>
          <p:txBody>
            <a:bodyPr wrap="none" lIns="92075" tIns="46038" rIns="92075" bIns="46038" anchor="ctr"/>
            <a:lstStyle/>
            <a:p>
              <a:pPr algn="ctr" eaLnBrk="0" hangingPunct="0"/>
              <a:r>
                <a:rPr lang="en-US" sz="2000">
                  <a:latin typeface="Courier New" pitchFamily="49" charset="0"/>
                </a:rPr>
                <a:t>factorial(3)</a:t>
              </a:r>
            </a:p>
          </p:txBody>
        </p:sp>
        <p:sp>
          <p:nvSpPr>
            <p:cNvPr id="21511" name="Line 6"/>
            <p:cNvSpPr>
              <a:spLocks noChangeShapeType="1"/>
            </p:cNvSpPr>
            <p:nvPr/>
          </p:nvSpPr>
          <p:spPr bwMode="auto">
            <a:xfrm>
              <a:off x="543" y="1092"/>
              <a:ext cx="0" cy="20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12" name="Line 7"/>
            <p:cNvSpPr>
              <a:spLocks noChangeShapeType="1"/>
            </p:cNvSpPr>
            <p:nvPr/>
          </p:nvSpPr>
          <p:spPr bwMode="auto">
            <a:xfrm>
              <a:off x="543" y="1310"/>
              <a:ext cx="941"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13" name="Line 8"/>
            <p:cNvSpPr>
              <a:spLocks noChangeShapeType="1"/>
            </p:cNvSpPr>
            <p:nvPr/>
          </p:nvSpPr>
          <p:spPr bwMode="auto">
            <a:xfrm>
              <a:off x="1485" y="1323"/>
              <a:ext cx="0" cy="219"/>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21514" name="Rectangle 9"/>
            <p:cNvSpPr>
              <a:spLocks noChangeArrowheads="1"/>
            </p:cNvSpPr>
            <p:nvPr/>
          </p:nvSpPr>
          <p:spPr bwMode="auto">
            <a:xfrm>
              <a:off x="1562" y="2364"/>
              <a:ext cx="1195" cy="306"/>
            </a:xfrm>
            <a:prstGeom prst="rect">
              <a:avLst/>
            </a:prstGeom>
            <a:solidFill>
              <a:schemeClr val="accent1"/>
            </a:solidFill>
            <a:ln w="12700">
              <a:solidFill>
                <a:schemeClr val="tx1"/>
              </a:solidFill>
              <a:miter lim="800000"/>
              <a:headEnd/>
              <a:tailEnd/>
            </a:ln>
          </p:spPr>
          <p:txBody>
            <a:bodyPr wrap="none" lIns="92075" tIns="46038" rIns="92075" bIns="46038" anchor="ctr"/>
            <a:lstStyle/>
            <a:p>
              <a:pPr algn="ctr" eaLnBrk="0" hangingPunct="0"/>
              <a:r>
                <a:rPr lang="en-US" sz="2000">
                  <a:latin typeface="Courier New" pitchFamily="49" charset="0"/>
                </a:rPr>
                <a:t>factorial(2)</a:t>
              </a:r>
            </a:p>
          </p:txBody>
        </p:sp>
        <p:grpSp>
          <p:nvGrpSpPr>
            <p:cNvPr id="3" name="Group 10"/>
            <p:cNvGrpSpPr>
              <a:grpSpLocks/>
            </p:cNvGrpSpPr>
            <p:nvPr/>
          </p:nvGrpSpPr>
          <p:grpSpPr bwMode="auto">
            <a:xfrm>
              <a:off x="1226" y="1896"/>
              <a:ext cx="942" cy="450"/>
              <a:chOff x="2144" y="2580"/>
              <a:chExt cx="942" cy="450"/>
            </a:xfrm>
          </p:grpSpPr>
          <p:sp>
            <p:nvSpPr>
              <p:cNvPr id="21547" name="Line 11"/>
              <p:cNvSpPr>
                <a:spLocks noChangeShapeType="1"/>
              </p:cNvSpPr>
              <p:nvPr/>
            </p:nvSpPr>
            <p:spPr bwMode="auto">
              <a:xfrm>
                <a:off x="2144" y="2580"/>
                <a:ext cx="0" cy="20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8" name="Line 12"/>
              <p:cNvSpPr>
                <a:spLocks noChangeShapeType="1"/>
              </p:cNvSpPr>
              <p:nvPr/>
            </p:nvSpPr>
            <p:spPr bwMode="auto">
              <a:xfrm>
                <a:off x="2144" y="2798"/>
                <a:ext cx="941"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9" name="Line 13"/>
              <p:cNvSpPr>
                <a:spLocks noChangeShapeType="1"/>
              </p:cNvSpPr>
              <p:nvPr/>
            </p:nvSpPr>
            <p:spPr bwMode="auto">
              <a:xfrm>
                <a:off x="3086" y="2811"/>
                <a:ext cx="0" cy="219"/>
              </a:xfrm>
              <a:prstGeom prst="line">
                <a:avLst/>
              </a:prstGeom>
              <a:noFill/>
              <a:ln w="12700">
                <a:solidFill>
                  <a:schemeClr val="tx1"/>
                </a:solidFill>
                <a:round/>
                <a:headEnd type="none" w="sm" len="sm"/>
                <a:tailEnd type="stealth" w="med" len="med"/>
              </a:ln>
            </p:spPr>
            <p:txBody>
              <a:bodyPr wrap="none" anchor="ctr"/>
              <a:lstStyle/>
              <a:p>
                <a:endParaRPr lang="en-US"/>
              </a:p>
            </p:txBody>
          </p:sp>
        </p:grpSp>
        <p:sp>
          <p:nvSpPr>
            <p:cNvPr id="21516" name="Rectangle 14"/>
            <p:cNvSpPr>
              <a:spLocks noChangeArrowheads="1"/>
            </p:cNvSpPr>
            <p:nvPr/>
          </p:nvSpPr>
          <p:spPr bwMode="auto">
            <a:xfrm>
              <a:off x="2474" y="3169"/>
              <a:ext cx="1195" cy="306"/>
            </a:xfrm>
            <a:prstGeom prst="rect">
              <a:avLst/>
            </a:prstGeom>
            <a:solidFill>
              <a:schemeClr val="accent1"/>
            </a:solidFill>
            <a:ln w="12700">
              <a:solidFill>
                <a:schemeClr val="tx1"/>
              </a:solidFill>
              <a:miter lim="800000"/>
              <a:headEnd/>
              <a:tailEnd/>
            </a:ln>
          </p:spPr>
          <p:txBody>
            <a:bodyPr wrap="none" lIns="92075" tIns="46038" rIns="92075" bIns="46038" anchor="ctr"/>
            <a:lstStyle/>
            <a:p>
              <a:pPr algn="ctr" eaLnBrk="0" hangingPunct="0"/>
              <a:r>
                <a:rPr lang="en-US" sz="2000">
                  <a:latin typeface="Courier New" pitchFamily="49" charset="0"/>
                </a:rPr>
                <a:t>factorial(1)</a:t>
              </a:r>
            </a:p>
          </p:txBody>
        </p:sp>
        <p:grpSp>
          <p:nvGrpSpPr>
            <p:cNvPr id="4" name="Group 15"/>
            <p:cNvGrpSpPr>
              <a:grpSpLocks/>
            </p:cNvGrpSpPr>
            <p:nvPr/>
          </p:nvGrpSpPr>
          <p:grpSpPr bwMode="auto">
            <a:xfrm>
              <a:off x="2186" y="2701"/>
              <a:ext cx="942" cy="450"/>
              <a:chOff x="3112" y="3385"/>
              <a:chExt cx="942" cy="450"/>
            </a:xfrm>
          </p:grpSpPr>
          <p:sp>
            <p:nvSpPr>
              <p:cNvPr id="21544" name="Line 16"/>
              <p:cNvSpPr>
                <a:spLocks noChangeShapeType="1"/>
              </p:cNvSpPr>
              <p:nvPr/>
            </p:nvSpPr>
            <p:spPr bwMode="auto">
              <a:xfrm>
                <a:off x="3112" y="3385"/>
                <a:ext cx="0" cy="20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5" name="Line 17"/>
              <p:cNvSpPr>
                <a:spLocks noChangeShapeType="1"/>
              </p:cNvSpPr>
              <p:nvPr/>
            </p:nvSpPr>
            <p:spPr bwMode="auto">
              <a:xfrm>
                <a:off x="3112" y="3603"/>
                <a:ext cx="941"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6" name="Line 18"/>
              <p:cNvSpPr>
                <a:spLocks noChangeShapeType="1"/>
              </p:cNvSpPr>
              <p:nvPr/>
            </p:nvSpPr>
            <p:spPr bwMode="auto">
              <a:xfrm>
                <a:off x="4054" y="3616"/>
                <a:ext cx="0" cy="219"/>
              </a:xfrm>
              <a:prstGeom prst="line">
                <a:avLst/>
              </a:prstGeom>
              <a:noFill/>
              <a:ln w="12700">
                <a:solidFill>
                  <a:schemeClr val="tx1"/>
                </a:solidFill>
                <a:round/>
                <a:headEnd type="none" w="sm" len="sm"/>
                <a:tailEnd type="stealth" w="med" len="med"/>
              </a:ln>
            </p:spPr>
            <p:txBody>
              <a:bodyPr wrap="none" anchor="ctr"/>
              <a:lstStyle/>
              <a:p>
                <a:endParaRPr lang="en-US"/>
              </a:p>
            </p:txBody>
          </p:sp>
        </p:grpSp>
        <p:sp>
          <p:nvSpPr>
            <p:cNvPr id="21518" name="Rectangle 19"/>
            <p:cNvSpPr>
              <a:spLocks noChangeArrowheads="1"/>
            </p:cNvSpPr>
            <p:nvPr/>
          </p:nvSpPr>
          <p:spPr bwMode="auto">
            <a:xfrm>
              <a:off x="717" y="1111"/>
              <a:ext cx="1040"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factorial(3)</a:t>
              </a:r>
            </a:p>
          </p:txBody>
        </p:sp>
        <p:sp>
          <p:nvSpPr>
            <p:cNvPr id="21519" name="Rectangle 20"/>
            <p:cNvSpPr>
              <a:spLocks noChangeArrowheads="1"/>
            </p:cNvSpPr>
            <p:nvPr/>
          </p:nvSpPr>
          <p:spPr bwMode="auto">
            <a:xfrm>
              <a:off x="2240" y="2735"/>
              <a:ext cx="1194" cy="212"/>
            </a:xfrm>
            <a:prstGeom prst="rect">
              <a:avLst/>
            </a:prstGeom>
            <a:noFill/>
            <a:ln w="9525">
              <a:noFill/>
              <a:miter lim="800000"/>
              <a:headEnd/>
              <a:tailEnd/>
            </a:ln>
          </p:spPr>
          <p:txBody>
            <a:bodyPr wrap="none" lIns="92075" tIns="46038" rIns="92075" bIns="46038">
              <a:spAutoFit/>
            </a:bodyPr>
            <a:lstStyle/>
            <a:p>
              <a:pPr eaLnBrk="0" hangingPunct="0"/>
              <a:r>
                <a:rPr lang="en-US" sz="1600" dirty="0">
                  <a:latin typeface="Courier New" pitchFamily="49" charset="0"/>
                </a:rPr>
                <a:t>2*factorial(1)</a:t>
              </a:r>
            </a:p>
          </p:txBody>
        </p:sp>
        <p:sp>
          <p:nvSpPr>
            <p:cNvPr id="21520" name="Rectangle 21"/>
            <p:cNvSpPr>
              <a:spLocks noChangeArrowheads="1"/>
            </p:cNvSpPr>
            <p:nvPr/>
          </p:nvSpPr>
          <p:spPr bwMode="auto">
            <a:xfrm>
              <a:off x="1299" y="1931"/>
              <a:ext cx="1348"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3 * factorial(2)</a:t>
              </a:r>
            </a:p>
          </p:txBody>
        </p:sp>
        <p:sp>
          <p:nvSpPr>
            <p:cNvPr id="21521" name="Rectangle 22"/>
            <p:cNvSpPr>
              <a:spLocks noChangeArrowheads="1"/>
            </p:cNvSpPr>
            <p:nvPr/>
          </p:nvSpPr>
          <p:spPr bwMode="auto">
            <a:xfrm>
              <a:off x="4058" y="2956"/>
              <a:ext cx="732"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return 1</a:t>
              </a:r>
            </a:p>
          </p:txBody>
        </p:sp>
        <p:sp>
          <p:nvSpPr>
            <p:cNvPr id="21522" name="Line 23"/>
            <p:cNvSpPr>
              <a:spLocks noChangeShapeType="1"/>
            </p:cNvSpPr>
            <p:nvPr/>
          </p:nvSpPr>
          <p:spPr bwMode="auto">
            <a:xfrm flipV="1">
              <a:off x="1880" y="887"/>
              <a:ext cx="0" cy="641"/>
            </a:xfrm>
            <a:prstGeom prst="line">
              <a:avLst/>
            </a:prstGeom>
            <a:noFill/>
            <a:ln w="12700">
              <a:solidFill>
                <a:schemeClr val="tx1"/>
              </a:solidFill>
              <a:prstDash val="dash"/>
              <a:round/>
              <a:headEnd type="none" w="sm" len="sm"/>
              <a:tailEnd type="none" w="sm" len="sm"/>
            </a:ln>
          </p:spPr>
          <p:txBody>
            <a:bodyPr wrap="none" anchor="ctr"/>
            <a:lstStyle/>
            <a:p>
              <a:endParaRPr lang="en-US"/>
            </a:p>
          </p:txBody>
        </p:sp>
        <p:sp>
          <p:nvSpPr>
            <p:cNvPr id="21523" name="Line 24"/>
            <p:cNvSpPr>
              <a:spLocks noChangeShapeType="1"/>
            </p:cNvSpPr>
            <p:nvPr/>
          </p:nvSpPr>
          <p:spPr bwMode="auto">
            <a:xfrm flipH="1">
              <a:off x="1144" y="887"/>
              <a:ext cx="736" cy="0"/>
            </a:xfrm>
            <a:prstGeom prst="line">
              <a:avLst/>
            </a:prstGeom>
            <a:noFill/>
            <a:ln w="12700">
              <a:solidFill>
                <a:schemeClr val="tx1"/>
              </a:solidFill>
              <a:prstDash val="dash"/>
              <a:round/>
              <a:headEnd type="none" w="sm" len="sm"/>
              <a:tailEnd type="stealth" w="med" len="med"/>
            </a:ln>
          </p:spPr>
          <p:txBody>
            <a:bodyPr wrap="none" anchor="ctr"/>
            <a:lstStyle/>
            <a:p>
              <a:endParaRPr lang="en-US"/>
            </a:p>
          </p:txBody>
        </p:sp>
        <p:sp>
          <p:nvSpPr>
            <p:cNvPr id="21524" name="Rectangle 25"/>
            <p:cNvSpPr>
              <a:spLocks noChangeArrowheads="1"/>
            </p:cNvSpPr>
            <p:nvPr/>
          </p:nvSpPr>
          <p:spPr bwMode="auto">
            <a:xfrm>
              <a:off x="1920" y="1152"/>
              <a:ext cx="732"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return 6</a:t>
              </a:r>
            </a:p>
          </p:txBody>
        </p:sp>
        <p:grpSp>
          <p:nvGrpSpPr>
            <p:cNvPr id="5" name="Group 26"/>
            <p:cNvGrpSpPr>
              <a:grpSpLocks/>
            </p:cNvGrpSpPr>
            <p:nvPr/>
          </p:nvGrpSpPr>
          <p:grpSpPr bwMode="auto">
            <a:xfrm>
              <a:off x="2634" y="3518"/>
              <a:ext cx="942" cy="450"/>
              <a:chOff x="3112" y="3385"/>
              <a:chExt cx="942" cy="450"/>
            </a:xfrm>
          </p:grpSpPr>
          <p:sp>
            <p:nvSpPr>
              <p:cNvPr id="21541" name="Line 27"/>
              <p:cNvSpPr>
                <a:spLocks noChangeShapeType="1"/>
              </p:cNvSpPr>
              <p:nvPr/>
            </p:nvSpPr>
            <p:spPr bwMode="auto">
              <a:xfrm>
                <a:off x="3112" y="3385"/>
                <a:ext cx="0" cy="20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2" name="Line 28"/>
              <p:cNvSpPr>
                <a:spLocks noChangeShapeType="1"/>
              </p:cNvSpPr>
              <p:nvPr/>
            </p:nvSpPr>
            <p:spPr bwMode="auto">
              <a:xfrm>
                <a:off x="3112" y="3603"/>
                <a:ext cx="941"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543" name="Line 29"/>
              <p:cNvSpPr>
                <a:spLocks noChangeShapeType="1"/>
              </p:cNvSpPr>
              <p:nvPr/>
            </p:nvSpPr>
            <p:spPr bwMode="auto">
              <a:xfrm>
                <a:off x="4054" y="3616"/>
                <a:ext cx="0" cy="219"/>
              </a:xfrm>
              <a:prstGeom prst="line">
                <a:avLst/>
              </a:prstGeom>
              <a:noFill/>
              <a:ln w="12700">
                <a:solidFill>
                  <a:schemeClr val="tx1"/>
                </a:solidFill>
                <a:round/>
                <a:headEnd type="none" w="sm" len="sm"/>
                <a:tailEnd type="stealth" w="med" len="med"/>
              </a:ln>
            </p:spPr>
            <p:txBody>
              <a:bodyPr wrap="none" anchor="ctr"/>
              <a:lstStyle/>
              <a:p>
                <a:endParaRPr lang="en-US"/>
              </a:p>
            </p:txBody>
          </p:sp>
        </p:grpSp>
        <p:sp>
          <p:nvSpPr>
            <p:cNvPr id="21526" name="Rectangle 30"/>
            <p:cNvSpPr>
              <a:spLocks noChangeArrowheads="1"/>
            </p:cNvSpPr>
            <p:nvPr/>
          </p:nvSpPr>
          <p:spPr bwMode="auto">
            <a:xfrm>
              <a:off x="2688" y="3552"/>
              <a:ext cx="1194"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1*factorial(0)</a:t>
              </a:r>
            </a:p>
          </p:txBody>
        </p:sp>
        <p:sp>
          <p:nvSpPr>
            <p:cNvPr id="21527" name="Rectangle 31"/>
            <p:cNvSpPr>
              <a:spLocks noChangeArrowheads="1"/>
            </p:cNvSpPr>
            <p:nvPr/>
          </p:nvSpPr>
          <p:spPr bwMode="auto">
            <a:xfrm>
              <a:off x="2741" y="4014"/>
              <a:ext cx="1195" cy="306"/>
            </a:xfrm>
            <a:prstGeom prst="rect">
              <a:avLst/>
            </a:prstGeom>
            <a:solidFill>
              <a:schemeClr val="accent1"/>
            </a:solidFill>
            <a:ln w="12700">
              <a:solidFill>
                <a:schemeClr val="tx1"/>
              </a:solidFill>
              <a:miter lim="800000"/>
              <a:headEnd/>
              <a:tailEnd/>
            </a:ln>
          </p:spPr>
          <p:txBody>
            <a:bodyPr wrap="none" lIns="92075" tIns="46038" rIns="92075" bIns="46038" anchor="ctr"/>
            <a:lstStyle/>
            <a:p>
              <a:pPr algn="ctr" eaLnBrk="0" hangingPunct="0"/>
              <a:r>
                <a:rPr lang="en-US" sz="2000">
                  <a:latin typeface="Courier New" pitchFamily="49" charset="0"/>
                </a:rPr>
                <a:t>factorial(0)</a:t>
              </a:r>
            </a:p>
          </p:txBody>
        </p:sp>
        <p:grpSp>
          <p:nvGrpSpPr>
            <p:cNvPr id="6" name="Group 32"/>
            <p:cNvGrpSpPr>
              <a:grpSpLocks/>
            </p:cNvGrpSpPr>
            <p:nvPr/>
          </p:nvGrpSpPr>
          <p:grpSpPr bwMode="auto">
            <a:xfrm>
              <a:off x="3888" y="3648"/>
              <a:ext cx="384" cy="576"/>
              <a:chOff x="3888" y="3648"/>
              <a:chExt cx="384" cy="576"/>
            </a:xfrm>
          </p:grpSpPr>
          <p:sp>
            <p:nvSpPr>
              <p:cNvPr id="21538" name="Line 33"/>
              <p:cNvSpPr>
                <a:spLocks noChangeShapeType="1"/>
              </p:cNvSpPr>
              <p:nvPr/>
            </p:nvSpPr>
            <p:spPr bwMode="auto">
              <a:xfrm flipH="1">
                <a:off x="3888" y="3648"/>
                <a:ext cx="384" cy="0"/>
              </a:xfrm>
              <a:prstGeom prst="line">
                <a:avLst/>
              </a:prstGeom>
              <a:noFill/>
              <a:ln w="12700">
                <a:solidFill>
                  <a:schemeClr val="tx1"/>
                </a:solidFill>
                <a:prstDash val="dash"/>
                <a:round/>
                <a:headEnd type="none" w="sm" len="sm"/>
                <a:tailEnd type="stealth" w="med" len="med"/>
              </a:ln>
            </p:spPr>
            <p:txBody>
              <a:bodyPr wrap="none" anchor="ctr"/>
              <a:lstStyle/>
              <a:p>
                <a:endParaRPr lang="en-US"/>
              </a:p>
            </p:txBody>
          </p:sp>
          <p:sp>
            <p:nvSpPr>
              <p:cNvPr id="21539" name="Line 34"/>
              <p:cNvSpPr>
                <a:spLocks noChangeShapeType="1"/>
              </p:cNvSpPr>
              <p:nvPr/>
            </p:nvSpPr>
            <p:spPr bwMode="auto">
              <a:xfrm>
                <a:off x="3936" y="4224"/>
                <a:ext cx="336" cy="0"/>
              </a:xfrm>
              <a:prstGeom prst="line">
                <a:avLst/>
              </a:prstGeom>
              <a:noFill/>
              <a:ln w="9525">
                <a:solidFill>
                  <a:schemeClr val="tx1"/>
                </a:solidFill>
                <a:prstDash val="dash"/>
                <a:round/>
                <a:headEnd/>
                <a:tailEnd/>
              </a:ln>
            </p:spPr>
            <p:txBody>
              <a:bodyPr wrap="none"/>
              <a:lstStyle/>
              <a:p>
                <a:endParaRPr lang="en-US"/>
              </a:p>
            </p:txBody>
          </p:sp>
          <p:sp>
            <p:nvSpPr>
              <p:cNvPr id="21540" name="Line 35"/>
              <p:cNvSpPr>
                <a:spLocks noChangeShapeType="1"/>
              </p:cNvSpPr>
              <p:nvPr/>
            </p:nvSpPr>
            <p:spPr bwMode="auto">
              <a:xfrm flipV="1">
                <a:off x="4272" y="3648"/>
                <a:ext cx="0" cy="576"/>
              </a:xfrm>
              <a:prstGeom prst="line">
                <a:avLst/>
              </a:prstGeom>
              <a:noFill/>
              <a:ln w="9525">
                <a:solidFill>
                  <a:schemeClr val="tx1"/>
                </a:solidFill>
                <a:prstDash val="dash"/>
                <a:round/>
                <a:headEnd/>
                <a:tailEnd/>
              </a:ln>
            </p:spPr>
            <p:txBody>
              <a:bodyPr wrap="none"/>
              <a:lstStyle/>
              <a:p>
                <a:endParaRPr lang="en-US"/>
              </a:p>
            </p:txBody>
          </p:sp>
        </p:grpSp>
        <p:sp>
          <p:nvSpPr>
            <p:cNvPr id="21529" name="Rectangle 36"/>
            <p:cNvSpPr>
              <a:spLocks noChangeArrowheads="1"/>
            </p:cNvSpPr>
            <p:nvPr/>
          </p:nvSpPr>
          <p:spPr bwMode="auto">
            <a:xfrm>
              <a:off x="4368" y="3840"/>
              <a:ext cx="732"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return 1</a:t>
              </a:r>
            </a:p>
          </p:txBody>
        </p:sp>
        <p:grpSp>
          <p:nvGrpSpPr>
            <p:cNvPr id="7" name="Group 37"/>
            <p:cNvGrpSpPr>
              <a:grpSpLocks/>
            </p:cNvGrpSpPr>
            <p:nvPr/>
          </p:nvGrpSpPr>
          <p:grpSpPr bwMode="auto">
            <a:xfrm>
              <a:off x="3456" y="2832"/>
              <a:ext cx="576" cy="480"/>
              <a:chOff x="3456" y="2832"/>
              <a:chExt cx="576" cy="480"/>
            </a:xfrm>
          </p:grpSpPr>
          <p:sp>
            <p:nvSpPr>
              <p:cNvPr id="21535" name="Line 38"/>
              <p:cNvSpPr>
                <a:spLocks noChangeShapeType="1"/>
              </p:cNvSpPr>
              <p:nvPr/>
            </p:nvSpPr>
            <p:spPr bwMode="auto">
              <a:xfrm flipH="1">
                <a:off x="3456" y="2832"/>
                <a:ext cx="576" cy="0"/>
              </a:xfrm>
              <a:prstGeom prst="line">
                <a:avLst/>
              </a:prstGeom>
              <a:noFill/>
              <a:ln w="12700">
                <a:solidFill>
                  <a:schemeClr val="tx1"/>
                </a:solidFill>
                <a:prstDash val="dash"/>
                <a:round/>
                <a:headEnd type="none" w="sm" len="sm"/>
                <a:tailEnd type="stealth" w="med" len="med"/>
              </a:ln>
            </p:spPr>
            <p:txBody>
              <a:bodyPr wrap="none" anchor="ctr"/>
              <a:lstStyle/>
              <a:p>
                <a:endParaRPr lang="en-US"/>
              </a:p>
            </p:txBody>
          </p:sp>
          <p:sp>
            <p:nvSpPr>
              <p:cNvPr id="21536" name="Line 39"/>
              <p:cNvSpPr>
                <a:spLocks noChangeShapeType="1"/>
              </p:cNvSpPr>
              <p:nvPr/>
            </p:nvSpPr>
            <p:spPr bwMode="auto">
              <a:xfrm>
                <a:off x="3696" y="3312"/>
                <a:ext cx="336" cy="0"/>
              </a:xfrm>
              <a:prstGeom prst="line">
                <a:avLst/>
              </a:prstGeom>
              <a:noFill/>
              <a:ln w="9525">
                <a:solidFill>
                  <a:schemeClr val="tx1"/>
                </a:solidFill>
                <a:prstDash val="dash"/>
                <a:round/>
                <a:headEnd/>
                <a:tailEnd/>
              </a:ln>
            </p:spPr>
            <p:txBody>
              <a:bodyPr wrap="none"/>
              <a:lstStyle/>
              <a:p>
                <a:endParaRPr lang="en-US"/>
              </a:p>
            </p:txBody>
          </p:sp>
          <p:sp>
            <p:nvSpPr>
              <p:cNvPr id="21537" name="Line 40"/>
              <p:cNvSpPr>
                <a:spLocks noChangeShapeType="1"/>
              </p:cNvSpPr>
              <p:nvPr/>
            </p:nvSpPr>
            <p:spPr bwMode="auto">
              <a:xfrm flipV="1">
                <a:off x="4032" y="2880"/>
                <a:ext cx="0" cy="432"/>
              </a:xfrm>
              <a:prstGeom prst="line">
                <a:avLst/>
              </a:prstGeom>
              <a:noFill/>
              <a:ln w="9525">
                <a:solidFill>
                  <a:schemeClr val="tx1"/>
                </a:solidFill>
                <a:prstDash val="dash"/>
                <a:round/>
                <a:headEnd/>
                <a:tailEnd/>
              </a:ln>
            </p:spPr>
            <p:txBody>
              <a:bodyPr wrap="none"/>
              <a:lstStyle/>
              <a:p>
                <a:endParaRPr lang="en-US"/>
              </a:p>
            </p:txBody>
          </p:sp>
        </p:grpSp>
        <p:sp>
          <p:nvSpPr>
            <p:cNvPr id="21531" name="Line 41"/>
            <p:cNvSpPr>
              <a:spLocks noChangeShapeType="1"/>
            </p:cNvSpPr>
            <p:nvPr/>
          </p:nvSpPr>
          <p:spPr bwMode="auto">
            <a:xfrm flipH="1">
              <a:off x="2640" y="2016"/>
              <a:ext cx="432" cy="0"/>
            </a:xfrm>
            <a:prstGeom prst="line">
              <a:avLst/>
            </a:prstGeom>
            <a:noFill/>
            <a:ln w="12700">
              <a:solidFill>
                <a:schemeClr val="tx1"/>
              </a:solidFill>
              <a:prstDash val="dash"/>
              <a:round/>
              <a:headEnd type="none" w="sm" len="sm"/>
              <a:tailEnd type="stealth" w="med" len="med"/>
            </a:ln>
          </p:spPr>
          <p:txBody>
            <a:bodyPr wrap="none" anchor="ctr"/>
            <a:lstStyle/>
            <a:p>
              <a:endParaRPr lang="en-US"/>
            </a:p>
          </p:txBody>
        </p:sp>
        <p:sp>
          <p:nvSpPr>
            <p:cNvPr id="21532" name="Line 42"/>
            <p:cNvSpPr>
              <a:spLocks noChangeShapeType="1"/>
            </p:cNvSpPr>
            <p:nvPr/>
          </p:nvSpPr>
          <p:spPr bwMode="auto">
            <a:xfrm>
              <a:off x="2784" y="2496"/>
              <a:ext cx="336" cy="0"/>
            </a:xfrm>
            <a:prstGeom prst="line">
              <a:avLst/>
            </a:prstGeom>
            <a:noFill/>
            <a:ln w="9525">
              <a:solidFill>
                <a:schemeClr val="tx1"/>
              </a:solidFill>
              <a:prstDash val="dash"/>
              <a:round/>
              <a:headEnd/>
              <a:tailEnd/>
            </a:ln>
          </p:spPr>
          <p:txBody>
            <a:bodyPr wrap="none"/>
            <a:lstStyle/>
            <a:p>
              <a:endParaRPr lang="en-US"/>
            </a:p>
          </p:txBody>
        </p:sp>
        <p:sp>
          <p:nvSpPr>
            <p:cNvPr id="21533" name="Line 43"/>
            <p:cNvSpPr>
              <a:spLocks noChangeShapeType="1"/>
            </p:cNvSpPr>
            <p:nvPr/>
          </p:nvSpPr>
          <p:spPr bwMode="auto">
            <a:xfrm flipV="1">
              <a:off x="3120" y="2016"/>
              <a:ext cx="0" cy="480"/>
            </a:xfrm>
            <a:prstGeom prst="line">
              <a:avLst/>
            </a:prstGeom>
            <a:noFill/>
            <a:ln w="9525">
              <a:solidFill>
                <a:schemeClr val="tx1"/>
              </a:solidFill>
              <a:prstDash val="dash"/>
              <a:round/>
              <a:headEnd/>
              <a:tailEnd/>
            </a:ln>
          </p:spPr>
          <p:txBody>
            <a:bodyPr wrap="none"/>
            <a:lstStyle/>
            <a:p>
              <a:endParaRPr lang="en-US"/>
            </a:p>
          </p:txBody>
        </p:sp>
        <p:sp>
          <p:nvSpPr>
            <p:cNvPr id="21534" name="Rectangle 44"/>
            <p:cNvSpPr>
              <a:spLocks noChangeArrowheads="1"/>
            </p:cNvSpPr>
            <p:nvPr/>
          </p:nvSpPr>
          <p:spPr bwMode="auto">
            <a:xfrm>
              <a:off x="3120" y="2112"/>
              <a:ext cx="732" cy="212"/>
            </a:xfrm>
            <a:prstGeom prst="rect">
              <a:avLst/>
            </a:prstGeom>
            <a:noFill/>
            <a:ln w="9525">
              <a:noFill/>
              <a:miter lim="800000"/>
              <a:headEnd/>
              <a:tailEnd/>
            </a:ln>
          </p:spPr>
          <p:txBody>
            <a:bodyPr wrap="none" lIns="92075" tIns="46038" rIns="92075" bIns="46038">
              <a:spAutoFit/>
            </a:bodyPr>
            <a:lstStyle/>
            <a:p>
              <a:pPr eaLnBrk="0" hangingPunct="0"/>
              <a:r>
                <a:rPr lang="en-US" sz="1600">
                  <a:latin typeface="Courier New" pitchFamily="49" charset="0"/>
                </a:rPr>
                <a:t>return 2</a:t>
              </a: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143000" y="381000"/>
            <a:ext cx="7620000" cy="715962"/>
          </a:xfrm>
        </p:spPr>
        <p:txBody>
          <a:bodyPr>
            <a:normAutofit fontScale="90000"/>
          </a:bodyPr>
          <a:lstStyle/>
          <a:p>
            <a:pPr eaLnBrk="1" hangingPunct="1"/>
            <a:r>
              <a:rPr lang="en-US" dirty="0" smtClean="0"/>
              <a:t>Rules For Recursive Function</a:t>
            </a:r>
            <a:endParaRPr lang="ur-PK" dirty="0" smtClean="0"/>
          </a:p>
        </p:txBody>
      </p:sp>
      <p:sp>
        <p:nvSpPr>
          <p:cNvPr id="25603" name="Content Placeholder 2"/>
          <p:cNvSpPr>
            <a:spLocks noGrp="1"/>
          </p:cNvSpPr>
          <p:nvPr>
            <p:ph idx="1"/>
          </p:nvPr>
        </p:nvSpPr>
        <p:spPr>
          <a:xfrm>
            <a:off x="990600" y="1295400"/>
            <a:ext cx="8229600" cy="5334000"/>
          </a:xfrm>
        </p:spPr>
        <p:txBody>
          <a:bodyPr>
            <a:normAutofit lnSpcReduction="10000"/>
          </a:bodyPr>
          <a:lstStyle/>
          <a:p>
            <a:pPr marL="457200" indent="-457200" algn="just" eaLnBrk="1" hangingPunct="1">
              <a:buSzPct val="100000"/>
              <a:buFontTx/>
              <a:buAutoNum type="arabicPeriod"/>
            </a:pPr>
            <a:r>
              <a:rPr lang="en-US" sz="2300" dirty="0" smtClean="0"/>
              <a:t>In recursion, it is essential for a function to call itself, otherwise recursion will not take place.</a:t>
            </a:r>
          </a:p>
          <a:p>
            <a:pPr marL="457200" indent="-457200" algn="just" eaLnBrk="1" hangingPunct="1">
              <a:buSzPct val="100000"/>
              <a:buFontTx/>
              <a:buAutoNum type="arabicPeriod"/>
            </a:pPr>
            <a:r>
              <a:rPr lang="en-US" sz="2300" dirty="0" smtClean="0"/>
              <a:t>Only user define function can be involved in recursion.</a:t>
            </a:r>
          </a:p>
          <a:p>
            <a:pPr marL="457200" indent="-457200" algn="just" eaLnBrk="1" hangingPunct="1">
              <a:buSzPct val="100000"/>
              <a:buFontTx/>
              <a:buAutoNum type="arabicPeriod"/>
            </a:pPr>
            <a:r>
              <a:rPr lang="en-US" sz="2300" dirty="0" smtClean="0"/>
              <a:t>To stop the recursive function it is necessary to base the recursion on test condition and proper terminating statement such as </a:t>
            </a:r>
            <a:r>
              <a:rPr lang="en-US" sz="2300" i="1" dirty="0" smtClean="0"/>
              <a:t>exit()</a:t>
            </a:r>
            <a:r>
              <a:rPr lang="en-US" sz="2300" dirty="0" smtClean="0"/>
              <a:t> or </a:t>
            </a:r>
            <a:r>
              <a:rPr lang="en-US" sz="2300" i="1" dirty="0" smtClean="0"/>
              <a:t>return</a:t>
            </a:r>
            <a:r>
              <a:rPr lang="en-US" sz="2300" dirty="0" smtClean="0"/>
              <a:t> must be written using if() statement.</a:t>
            </a:r>
          </a:p>
          <a:p>
            <a:pPr marL="457200" indent="-457200" algn="just" eaLnBrk="1" hangingPunct="1">
              <a:buSzPct val="100000"/>
              <a:buFontTx/>
              <a:buAutoNum type="arabicPeriod"/>
            </a:pPr>
            <a:r>
              <a:rPr lang="en-US" sz="2300" dirty="0" smtClean="0"/>
              <a:t>When a recursive function is executed, the recursive calls are not implemented instantly. All the recursive calls are pushed onto the stack until the terminating condition is not detected, the recursive calls stored in the stack are popped and executed.</a:t>
            </a:r>
          </a:p>
          <a:p>
            <a:pPr marL="457200" indent="-457200" algn="just" eaLnBrk="1" hangingPunct="1">
              <a:buSzPct val="100000"/>
              <a:buFontTx/>
              <a:buAutoNum type="arabicPeriod"/>
            </a:pPr>
            <a:r>
              <a:rPr lang="en-US" sz="2300" dirty="0" smtClean="0"/>
              <a:t>During recursion, at each recursive call new memory is allocated to all the local variables of the recursive functions with the same name.</a:t>
            </a:r>
          </a:p>
        </p:txBody>
      </p:sp>
      <p:sp>
        <p:nvSpPr>
          <p:cNvPr id="4" name="Slide Number Placeholder 3"/>
          <p:cNvSpPr>
            <a:spLocks noGrp="1"/>
          </p:cNvSpPr>
          <p:nvPr>
            <p:ph type="sldNum" sz="quarter" idx="12"/>
          </p:nvPr>
        </p:nvSpPr>
        <p:spPr/>
        <p:txBody>
          <a:bodyPr>
            <a:normAutofit/>
          </a:bodyPr>
          <a:lstStyle/>
          <a:p>
            <a:pPr>
              <a:defRPr/>
            </a:pPr>
            <a:fld id="{106DBE8A-F030-4072-B102-03F865BBB971}" type="slidenum">
              <a:rPr lang="en-US"/>
              <a:pPr>
                <a:defRPr/>
              </a:pPr>
              <a:t>13</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105</TotalTime>
  <Words>726</Words>
  <Application>Microsoft Office PowerPoint</Application>
  <PresentationFormat>On-screen Show (4:3)</PresentationFormat>
  <Paragraphs>136</Paragraphs>
  <Slides>13</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Solstice</vt:lpstr>
      <vt:lpstr>Equation</vt:lpstr>
      <vt:lpstr>Data structures</vt:lpstr>
      <vt:lpstr>Today’s Lecture</vt:lpstr>
      <vt:lpstr>Introduction</vt:lpstr>
      <vt:lpstr>Recursive Definition</vt:lpstr>
      <vt:lpstr>Why Use Recursion</vt:lpstr>
      <vt:lpstr>Example 1</vt:lpstr>
      <vt:lpstr>Example 1(Recursive Power Function)</vt:lpstr>
      <vt:lpstr>Factorial-- A Case Study</vt:lpstr>
      <vt:lpstr>Factorial Case Study</vt:lpstr>
      <vt:lpstr>Factorial Case Study</vt:lpstr>
      <vt:lpstr>Evaluation of Factorial Example</vt:lpstr>
      <vt:lpstr>Recursive Programming</vt:lpstr>
      <vt:lpstr>Rules For Recursive Function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dc:title>
  <dc:creator>Ayesha</dc:creator>
  <cp:lastModifiedBy>Windows User</cp:lastModifiedBy>
  <cp:revision>43</cp:revision>
  <dcterms:created xsi:type="dcterms:W3CDTF">2011-11-13T15:22:17Z</dcterms:created>
  <dcterms:modified xsi:type="dcterms:W3CDTF">2013-12-21T12:41:44Z</dcterms:modified>
</cp:coreProperties>
</file>