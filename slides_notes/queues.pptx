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123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C73C96-9923-453F-A1EA-94E561226030}" type="datetimeFigureOut">
              <a:rPr lang="en-US" smtClean="0"/>
              <a:pPr/>
              <a:t>11/15/2012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85E30B-5042-4869-ABE5-7A08DF457F4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2C2FB42-9062-43AA-BB96-493103F00172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1ABE71-0E24-4883-B638-A490C519AFD4}" type="datetimeFigureOut">
              <a:rPr lang="en-US" smtClean="0"/>
              <a:pPr/>
              <a:t>11/15/2012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2D80FA0-7AA7-4A6B-9219-F6A79B36C6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1ABE71-0E24-4883-B638-A490C519AFD4}" type="datetimeFigureOut">
              <a:rPr lang="en-US" smtClean="0"/>
              <a:pPr/>
              <a:t>11/15/2012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2D80FA0-7AA7-4A6B-9219-F6A79B36C6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1ABE71-0E24-4883-B638-A490C519AFD4}" type="datetimeFigureOut">
              <a:rPr lang="en-US" smtClean="0"/>
              <a:pPr/>
              <a:t>11/15/2012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2D80FA0-7AA7-4A6B-9219-F6A79B36C6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1ABE71-0E24-4883-B638-A490C519AFD4}" type="datetimeFigureOut">
              <a:rPr lang="en-US" smtClean="0"/>
              <a:pPr/>
              <a:t>11/15/2012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2D80FA0-7AA7-4A6B-9219-F6A79B36C6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1ABE71-0E24-4883-B638-A490C519AFD4}" type="datetimeFigureOut">
              <a:rPr lang="en-US" smtClean="0"/>
              <a:pPr/>
              <a:t>11/15/2012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2D80FA0-7AA7-4A6B-9219-F6A79B36C6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1ABE71-0E24-4883-B638-A490C519AFD4}" type="datetimeFigureOut">
              <a:rPr lang="en-US" smtClean="0"/>
              <a:pPr/>
              <a:t>11/15/2012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2D80FA0-7AA7-4A6B-9219-F6A79B36C6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1ABE71-0E24-4883-B638-A490C519AFD4}" type="datetimeFigureOut">
              <a:rPr lang="en-US" smtClean="0"/>
              <a:pPr/>
              <a:t>11/15/2012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2D80FA0-7AA7-4A6B-9219-F6A79B36C6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1ABE71-0E24-4883-B638-A490C519AFD4}" type="datetimeFigureOut">
              <a:rPr lang="en-US" smtClean="0"/>
              <a:pPr/>
              <a:t>11/15/2012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2D80FA0-7AA7-4A6B-9219-F6A79B36C6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1ABE71-0E24-4883-B638-A490C519AFD4}" type="datetimeFigureOut">
              <a:rPr lang="en-US" smtClean="0"/>
              <a:pPr/>
              <a:t>11/15/2012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2D80FA0-7AA7-4A6B-9219-F6A79B36C6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1ABE71-0E24-4883-B638-A490C519AFD4}" type="datetimeFigureOut">
              <a:rPr lang="en-US" smtClean="0"/>
              <a:pPr/>
              <a:t>11/15/2012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2D80FA0-7AA7-4A6B-9219-F6A79B36C6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C41ABE71-0E24-4883-B638-A490C519AFD4}" type="datetimeFigureOut">
              <a:rPr lang="en-US" smtClean="0"/>
              <a:pPr/>
              <a:t>11/15/2012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2D80FA0-7AA7-4A6B-9219-F6A79B36C68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C41ABE71-0E24-4883-B638-A490C519AFD4}" type="datetimeFigureOut">
              <a:rPr lang="en-US" smtClean="0"/>
              <a:pPr/>
              <a:t>11/15/2012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A2D80FA0-7AA7-4A6B-9219-F6A79B36C68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1447800" y="2209800"/>
            <a:ext cx="5334000" cy="762000"/>
          </a:xfrm>
        </p:spPr>
        <p:txBody>
          <a:bodyPr>
            <a:normAutofit/>
          </a:bodyPr>
          <a:lstStyle/>
          <a:p>
            <a:r>
              <a:rPr lang="en-US" sz="3600" cap="none" dirty="0" smtClean="0"/>
              <a:t>DATA STRUCTURES</a:t>
            </a:r>
            <a:endParaRPr lang="en-US" cap="none" dirty="0" smtClean="0"/>
          </a:p>
        </p:txBody>
      </p:sp>
      <p:sp>
        <p:nvSpPr>
          <p:cNvPr id="9219" name="Rectangle 2"/>
          <p:cNvSpPr>
            <a:spLocks noGrp="1"/>
          </p:cNvSpPr>
          <p:nvPr>
            <p:ph type="subTitle" idx="1"/>
          </p:nvPr>
        </p:nvSpPr>
        <p:spPr>
          <a:xfrm>
            <a:off x="2362200" y="6049963"/>
            <a:ext cx="6705600" cy="685800"/>
          </a:xfrm>
        </p:spPr>
        <p:txBody>
          <a:bodyPr/>
          <a:lstStyle/>
          <a:p>
            <a:pPr algn="r"/>
            <a:r>
              <a:rPr lang="en-US" dirty="0" smtClean="0"/>
              <a:t>Lecture </a:t>
            </a:r>
            <a:r>
              <a:rPr lang="en-US" dirty="0" smtClean="0"/>
              <a:t>No.10,11</a:t>
            </a:r>
            <a:endParaRPr lang="en-US" dirty="0" smtClean="0"/>
          </a:p>
        </p:txBody>
      </p:sp>
      <p:sp>
        <p:nvSpPr>
          <p:cNvPr id="9220" name="Subtitle 2"/>
          <p:cNvSpPr txBox="1">
            <a:spLocks/>
          </p:cNvSpPr>
          <p:nvPr/>
        </p:nvSpPr>
        <p:spPr bwMode="auto">
          <a:xfrm>
            <a:off x="5943600" y="5181600"/>
            <a:ext cx="31242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>
              <a:spcBef>
                <a:spcPts val="700"/>
              </a:spcBef>
              <a:buClr>
                <a:schemeClr val="accent2"/>
              </a:buClr>
              <a:buSzPct val="60000"/>
              <a:buFont typeface="Wingdings" pitchFamily="2" charset="2"/>
              <a:buNone/>
            </a:pPr>
            <a:r>
              <a:rPr lang="en-US" sz="2800">
                <a:solidFill>
                  <a:srgbClr val="FFFFFF"/>
                </a:solidFill>
                <a:latin typeface="Tw Cen MT" pitchFamily="34" charset="0"/>
              </a:rPr>
              <a:t>Dr. Seemab Latif</a:t>
            </a:r>
          </a:p>
        </p:txBody>
      </p:sp>
      <p:sp>
        <p:nvSpPr>
          <p:cNvPr id="9222" name="TextBox 5"/>
          <p:cNvSpPr txBox="1">
            <a:spLocks noChangeArrowheads="1"/>
          </p:cNvSpPr>
          <p:nvPr/>
        </p:nvSpPr>
        <p:spPr bwMode="auto">
          <a:xfrm>
            <a:off x="3810000" y="3468688"/>
            <a:ext cx="17859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3600">
                <a:latin typeface="Tw Cen MT" pitchFamily="34" charset="0"/>
              </a:rPr>
              <a:t>Queues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993775" y="228600"/>
            <a:ext cx="5026025" cy="990600"/>
          </a:xfrm>
        </p:spPr>
        <p:txBody>
          <a:bodyPr/>
          <a:lstStyle/>
          <a:p>
            <a:r>
              <a:rPr lang="en-US" dirty="0" smtClean="0"/>
              <a:t>Queues</a:t>
            </a:r>
            <a:endParaRPr lang="ur-PK" dirty="0" smtClean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990600" y="1600200"/>
            <a:ext cx="8001000" cy="4495800"/>
          </a:xfrm>
        </p:spPr>
        <p:txBody>
          <a:bodyPr/>
          <a:lstStyle/>
          <a:p>
            <a:pPr algn="just"/>
            <a:r>
              <a:rPr lang="en-US" sz="2400" dirty="0" smtClean="0"/>
              <a:t>A </a:t>
            </a:r>
            <a:r>
              <a:rPr lang="en-US" sz="2400" b="1" dirty="0" smtClean="0">
                <a:solidFill>
                  <a:srgbClr val="000099"/>
                </a:solidFill>
              </a:rPr>
              <a:t>Queue</a:t>
            </a:r>
            <a:r>
              <a:rPr lang="en-US" sz="2400" dirty="0" smtClean="0"/>
              <a:t> is a special kind of list, where items are inserted at one end (</a:t>
            </a:r>
            <a:r>
              <a:rPr lang="en-US" sz="2400" b="1" dirty="0" smtClean="0"/>
              <a:t>the rear</a:t>
            </a:r>
            <a:r>
              <a:rPr lang="en-US" sz="2400" dirty="0" smtClean="0"/>
              <a:t>) And deleted at the other end (</a:t>
            </a:r>
            <a:r>
              <a:rPr lang="en-US" sz="2400" b="1" dirty="0" smtClean="0"/>
              <a:t>the front</a:t>
            </a:r>
            <a:r>
              <a:rPr lang="en-US" sz="2400" dirty="0" smtClean="0"/>
              <a:t>).</a:t>
            </a:r>
          </a:p>
          <a:p>
            <a:pPr algn="just"/>
            <a:r>
              <a:rPr lang="en-US" sz="2400" dirty="0" smtClean="0"/>
              <a:t>Accessing the elements of queues follows a First In First Out (FIFO) order.</a:t>
            </a:r>
          </a:p>
          <a:p>
            <a:pPr algn="just"/>
            <a:r>
              <a:rPr lang="en-US" sz="2400" dirty="0" smtClean="0"/>
              <a:t>Example</a:t>
            </a:r>
          </a:p>
          <a:p>
            <a:pPr lvl="1" algn="just"/>
            <a:r>
              <a:rPr lang="en-US" sz="2400" dirty="0" smtClean="0"/>
              <a:t>Like customers standing in a check-out line in a store, the first customer in is the first customer served.</a:t>
            </a:r>
            <a:endParaRPr lang="ur-PK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D9F8814A-192B-417A-A309-4F5627C123F1}" type="slidenum">
              <a:rPr lang="en-US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1069975" y="228600"/>
            <a:ext cx="7693025" cy="990600"/>
          </a:xfrm>
        </p:spPr>
        <p:txBody>
          <a:bodyPr/>
          <a:lstStyle/>
          <a:p>
            <a:r>
              <a:rPr lang="en-US" sz="4000" dirty="0" smtClean="0"/>
              <a:t>Common Operations on Queues</a:t>
            </a:r>
            <a:endParaRPr lang="ur-PK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600200"/>
            <a:ext cx="8001000" cy="4495800"/>
          </a:xfrm>
        </p:spPr>
        <p:txBody>
          <a:bodyPr>
            <a:normAutofit/>
          </a:bodyPr>
          <a:lstStyle/>
          <a:p>
            <a:pPr marL="609600" indent="-609600" algn="just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sz="2400" b="1" dirty="0" smtClean="0"/>
              <a:t>FRONT</a:t>
            </a:r>
            <a:r>
              <a:rPr lang="en-US" sz="2400" b="1" i="1" dirty="0" smtClean="0"/>
              <a:t>(Q</a:t>
            </a:r>
            <a:r>
              <a:rPr lang="en-US" sz="2400" b="1" dirty="0" smtClean="0"/>
              <a:t>):</a:t>
            </a:r>
            <a:r>
              <a:rPr lang="en-US" sz="2400" dirty="0" smtClean="0"/>
              <a:t> Returns the first element on Queue Q.</a:t>
            </a:r>
          </a:p>
          <a:p>
            <a:pPr marL="609600" indent="-609600" algn="just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sz="2400" b="1" dirty="0" smtClean="0"/>
              <a:t>ENQUEUE(</a:t>
            </a:r>
            <a:r>
              <a:rPr lang="en-US" sz="2400" b="1" i="1" dirty="0" err="1" smtClean="0"/>
              <a:t>x</a:t>
            </a:r>
            <a:r>
              <a:rPr lang="en-US" sz="2400" b="1" dirty="0" err="1" smtClean="0"/>
              <a:t>,</a:t>
            </a:r>
            <a:r>
              <a:rPr lang="en-US" sz="2400" b="1" i="1" dirty="0" err="1" smtClean="0"/>
              <a:t>Q</a:t>
            </a:r>
            <a:r>
              <a:rPr lang="en-US" sz="2400" b="1" dirty="0" smtClean="0"/>
              <a:t>):</a:t>
            </a:r>
            <a:r>
              <a:rPr lang="en-US" sz="2400" dirty="0" smtClean="0"/>
              <a:t> Inserts element x at the end of Queue Q. </a:t>
            </a:r>
          </a:p>
          <a:p>
            <a:pPr marL="609600" indent="-609600" algn="just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sz="2400" b="1" dirty="0" smtClean="0"/>
              <a:t>DEQUEUE(</a:t>
            </a:r>
            <a:r>
              <a:rPr lang="en-US" sz="2400" b="1" i="1" dirty="0" smtClean="0"/>
              <a:t>Q</a:t>
            </a:r>
            <a:r>
              <a:rPr lang="en-US" sz="2400" b="1" dirty="0" smtClean="0"/>
              <a:t>):</a:t>
            </a:r>
            <a:r>
              <a:rPr lang="en-US" sz="2400" dirty="0" smtClean="0"/>
              <a:t> Deletes the first element of </a:t>
            </a:r>
            <a:r>
              <a:rPr lang="en-US" sz="2400" i="1" dirty="0" smtClean="0"/>
              <a:t>Q.</a:t>
            </a:r>
          </a:p>
          <a:p>
            <a:pPr marL="609600" indent="-609600" algn="just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sz="2400" b="1" dirty="0" smtClean="0"/>
              <a:t>ISEMPTY(</a:t>
            </a:r>
            <a:r>
              <a:rPr lang="en-US" sz="2400" b="1" i="1" dirty="0" smtClean="0"/>
              <a:t>Q</a:t>
            </a:r>
            <a:r>
              <a:rPr lang="en-US" sz="2400" b="1" dirty="0" smtClean="0"/>
              <a:t>):</a:t>
            </a:r>
            <a:r>
              <a:rPr lang="en-US" sz="2400" dirty="0" smtClean="0"/>
              <a:t> Returns true if and only if Q is an empty queue.</a:t>
            </a:r>
          </a:p>
          <a:p>
            <a:pPr marL="609600" indent="-609600" algn="just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sz="2400" b="1" dirty="0" smtClean="0"/>
              <a:t>ISFULL(Q): </a:t>
            </a:r>
            <a:r>
              <a:rPr lang="en-US" sz="2400" dirty="0" smtClean="0"/>
              <a:t>Returns true if and only if Q is full.</a:t>
            </a:r>
            <a:endParaRPr lang="en-US" sz="2400" b="1" dirty="0" smtClean="0"/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endParaRPr lang="ur-PK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CB2810EE-8C36-4564-8F31-37E70292D24A}" type="slidenum">
              <a:rPr lang="en-US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1069975" y="228600"/>
            <a:ext cx="7235825" cy="990600"/>
          </a:xfrm>
        </p:spPr>
        <p:txBody>
          <a:bodyPr/>
          <a:lstStyle/>
          <a:p>
            <a:r>
              <a:rPr lang="en-US" dirty="0" err="1" smtClean="0"/>
              <a:t>Enqueue</a:t>
            </a:r>
            <a:r>
              <a:rPr lang="en-US" dirty="0" smtClean="0"/>
              <a:t> and </a:t>
            </a:r>
            <a:r>
              <a:rPr lang="en-US" dirty="0" err="1" smtClean="0"/>
              <a:t>Dequeue</a:t>
            </a:r>
            <a:endParaRPr lang="ur-PK" dirty="0" smtClean="0"/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153400" cy="2286000"/>
          </a:xfrm>
        </p:spPr>
        <p:txBody>
          <a:bodyPr/>
          <a:lstStyle/>
          <a:p>
            <a:r>
              <a:rPr lang="en-US" sz="2400" dirty="0" smtClean="0"/>
              <a:t>Primary queue operations: </a:t>
            </a:r>
            <a:r>
              <a:rPr lang="en-US" sz="2400" dirty="0" err="1" smtClean="0"/>
              <a:t>Enqueue</a:t>
            </a:r>
            <a:r>
              <a:rPr lang="en-US" sz="2400" dirty="0" smtClean="0"/>
              <a:t> and </a:t>
            </a:r>
            <a:r>
              <a:rPr lang="en-US" sz="2400" dirty="0" err="1" smtClean="0"/>
              <a:t>Dequeue</a:t>
            </a:r>
            <a:endParaRPr lang="en-US" sz="2400" dirty="0" smtClean="0"/>
          </a:p>
          <a:p>
            <a:pPr>
              <a:buFontTx/>
              <a:buNone/>
            </a:pPr>
            <a:endParaRPr lang="en-US" sz="2400" dirty="0" smtClean="0"/>
          </a:p>
          <a:p>
            <a:r>
              <a:rPr lang="en-US" sz="2400" b="1" dirty="0" err="1" smtClean="0"/>
              <a:t>Enqueue</a:t>
            </a:r>
            <a:r>
              <a:rPr lang="en-US" sz="2400" dirty="0" smtClean="0"/>
              <a:t> – insert an element at the rear of the queue.</a:t>
            </a:r>
          </a:p>
          <a:p>
            <a:r>
              <a:rPr lang="en-US" sz="2400" b="1" dirty="0" err="1" smtClean="0"/>
              <a:t>Dequeue</a:t>
            </a:r>
            <a:r>
              <a:rPr lang="en-US" sz="2400" dirty="0" smtClean="0"/>
              <a:t> – remove an element from the front of the queue.</a:t>
            </a:r>
          </a:p>
          <a:p>
            <a:pPr>
              <a:buFontTx/>
              <a:buNone/>
            </a:pPr>
            <a:endParaRPr lang="en-US" sz="2400" dirty="0" smtClean="0"/>
          </a:p>
          <a:p>
            <a:pPr>
              <a:buFontTx/>
              <a:buNone/>
            </a:pPr>
            <a:endParaRPr lang="ur-PK" sz="24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FD56FB69-F4AB-428F-9355-EDABAF1522D3}" type="slidenum">
              <a:rPr lang="en-US"/>
              <a:pPr>
                <a:defRPr/>
              </a:pPr>
              <a:t>4</a:t>
            </a:fld>
            <a:endParaRPr lang="en-US"/>
          </a:p>
        </p:txBody>
      </p:sp>
      <p:pic>
        <p:nvPicPr>
          <p:cNvPr id="12292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54112" y="4114800"/>
            <a:ext cx="7685088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069975" y="228600"/>
            <a:ext cx="7235825" cy="990600"/>
          </a:xfrm>
        </p:spPr>
        <p:txBody>
          <a:bodyPr/>
          <a:lstStyle/>
          <a:p>
            <a:r>
              <a:rPr lang="en-US" dirty="0" smtClean="0"/>
              <a:t>Queues Implementations</a:t>
            </a:r>
            <a:endParaRPr lang="ur-PK" dirty="0" smtClean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990600" y="1676400"/>
            <a:ext cx="8001000" cy="4495800"/>
          </a:xfrm>
        </p:spPr>
        <p:txBody>
          <a:bodyPr/>
          <a:lstStyle/>
          <a:p>
            <a:r>
              <a:rPr lang="en-US" dirty="0" smtClean="0">
                <a:solidFill>
                  <a:srgbClr val="000099"/>
                </a:solidFill>
              </a:rPr>
              <a:t>Static</a:t>
            </a:r>
          </a:p>
          <a:p>
            <a:pPr lvl="1"/>
            <a:r>
              <a:rPr lang="en-US" dirty="0" smtClean="0"/>
              <a:t>Queue is implemented by an array, and size of queue remains fix</a:t>
            </a:r>
          </a:p>
          <a:p>
            <a:r>
              <a:rPr lang="en-US" dirty="0" smtClean="0">
                <a:solidFill>
                  <a:srgbClr val="000099"/>
                </a:solidFill>
              </a:rPr>
              <a:t>Dynamic</a:t>
            </a:r>
          </a:p>
          <a:p>
            <a:pPr lvl="1"/>
            <a:r>
              <a:rPr lang="en-US" dirty="0" smtClean="0"/>
              <a:t>A </a:t>
            </a:r>
            <a:r>
              <a:rPr lang="en-US" b="1" dirty="0" smtClean="0"/>
              <a:t>queue</a:t>
            </a:r>
            <a:r>
              <a:rPr lang="en-US" dirty="0" smtClean="0"/>
              <a:t> can be </a:t>
            </a:r>
            <a:r>
              <a:rPr lang="en-US" b="1" dirty="0" smtClean="0"/>
              <a:t>implemented</a:t>
            </a:r>
            <a:r>
              <a:rPr lang="en-US" dirty="0" smtClean="0"/>
              <a:t> as a </a:t>
            </a:r>
            <a:r>
              <a:rPr lang="en-US" b="1" dirty="0" smtClean="0"/>
              <a:t>linked list</a:t>
            </a:r>
            <a:r>
              <a:rPr lang="en-US" dirty="0" smtClean="0"/>
              <a:t>, and </a:t>
            </a:r>
            <a:r>
              <a:rPr lang="en-US" i="1" dirty="0" smtClean="0"/>
              <a:t>expand</a:t>
            </a:r>
            <a:r>
              <a:rPr lang="en-US" dirty="0" smtClean="0"/>
              <a:t> or </a:t>
            </a:r>
            <a:r>
              <a:rPr lang="en-US" i="1" dirty="0" smtClean="0"/>
              <a:t>shrink </a:t>
            </a:r>
            <a:r>
              <a:rPr lang="en-US" dirty="0" smtClean="0"/>
              <a:t>with each </a:t>
            </a:r>
            <a:r>
              <a:rPr lang="en-US" i="1" dirty="0" err="1" smtClean="0"/>
              <a:t>enqueue</a:t>
            </a:r>
            <a:r>
              <a:rPr lang="en-US" dirty="0" smtClean="0"/>
              <a:t> or </a:t>
            </a:r>
            <a:r>
              <a:rPr lang="en-US" i="1" dirty="0" err="1" smtClean="0"/>
              <a:t>dequeue</a:t>
            </a:r>
            <a:r>
              <a:rPr lang="en-US" dirty="0" smtClean="0"/>
              <a:t> operation.</a:t>
            </a:r>
          </a:p>
          <a:p>
            <a:endParaRPr lang="ur-PK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F0090EAF-465C-4CEA-938C-28D94C74AAC7}" type="slidenum">
              <a:rPr lang="en-US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1066800" y="304800"/>
            <a:ext cx="7848600" cy="914400"/>
          </a:xfrm>
        </p:spPr>
        <p:txBody>
          <a:bodyPr/>
          <a:lstStyle/>
          <a:p>
            <a:r>
              <a:rPr lang="en-US" sz="4000" dirty="0" smtClean="0"/>
              <a:t>Static Implementation of Queues</a:t>
            </a:r>
            <a:endParaRPr lang="ur-PK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331A3A16-9594-4223-A400-B4717266FF7B}" type="slidenum">
              <a:rPr lang="en-US"/>
              <a:pPr>
                <a:defRPr/>
              </a:pPr>
              <a:t>6</a:t>
            </a:fld>
            <a:endParaRPr lang="en-US"/>
          </a:p>
        </p:txBody>
      </p:sp>
      <p:pic>
        <p:nvPicPr>
          <p:cNvPr id="4" name="Picture 2" descr="Figure 18-9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066800" y="1600200"/>
            <a:ext cx="2366963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3" descr="Figure 18-10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678488" y="1600200"/>
            <a:ext cx="2627312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1066800" y="304800"/>
            <a:ext cx="7696200" cy="990600"/>
          </a:xfrm>
        </p:spPr>
        <p:txBody>
          <a:bodyPr/>
          <a:lstStyle/>
          <a:p>
            <a:r>
              <a:rPr lang="en-US" sz="3600" dirty="0" smtClean="0"/>
              <a:t>Dynamic Implementation of Queues</a:t>
            </a:r>
            <a:endParaRPr lang="ur-PK" dirty="0" smtClean="0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8153400" cy="2819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dirty="0" smtClean="0"/>
              <a:t>Dynamic implementation is done using pointers.</a:t>
            </a:r>
          </a:p>
          <a:p>
            <a:pPr lvl="1">
              <a:lnSpc>
                <a:spcPct val="90000"/>
              </a:lnSpc>
            </a:pPr>
            <a:r>
              <a:rPr lang="en-US" dirty="0" smtClean="0">
                <a:solidFill>
                  <a:srgbClr val="000099"/>
                </a:solidFill>
              </a:rPr>
              <a:t>FRONT:</a:t>
            </a:r>
            <a:r>
              <a:rPr lang="en-US" dirty="0" smtClean="0"/>
              <a:t> A pointer to the first element of the queue.</a:t>
            </a:r>
          </a:p>
          <a:p>
            <a:pPr lvl="1">
              <a:lnSpc>
                <a:spcPct val="90000"/>
              </a:lnSpc>
            </a:pPr>
            <a:r>
              <a:rPr lang="en-US" dirty="0" smtClean="0">
                <a:solidFill>
                  <a:srgbClr val="000099"/>
                </a:solidFill>
              </a:rPr>
              <a:t>REAR:</a:t>
            </a:r>
            <a:r>
              <a:rPr lang="en-US" dirty="0" smtClean="0"/>
              <a:t> A pointer to the last element of the queue.</a:t>
            </a:r>
            <a:endParaRPr lang="en-US" i="1" dirty="0" smtClean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i="1" dirty="0" smtClean="0">
              <a:latin typeface="Helvetica" charset="0"/>
            </a:endParaRPr>
          </a:p>
          <a:p>
            <a:endParaRPr lang="ur-PK" dirty="0" smtClean="0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FFF9335E-8215-4CBA-A98A-633A296CBAF6}" type="slidenum">
              <a:rPr lang="en-US"/>
              <a:pPr>
                <a:defRPr/>
              </a:pPr>
              <a:t>7</a:t>
            </a:fld>
            <a:endParaRPr lang="en-US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295400" y="4267200"/>
            <a:ext cx="7162800" cy="1600200"/>
            <a:chOff x="336" y="2736"/>
            <a:chExt cx="4512" cy="1008"/>
          </a:xfrm>
        </p:grpSpPr>
        <p:sp>
          <p:nvSpPr>
            <p:cNvPr id="15366" name="Rectangle 5"/>
            <p:cNvSpPr>
              <a:spLocks noChangeArrowheads="1"/>
            </p:cNvSpPr>
            <p:nvPr/>
          </p:nvSpPr>
          <p:spPr bwMode="auto">
            <a:xfrm>
              <a:off x="1344" y="2976"/>
              <a:ext cx="912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ur-PK">
                <a:latin typeface="Tw Cen MT" pitchFamily="34" charset="0"/>
              </a:endParaRPr>
            </a:p>
          </p:txBody>
        </p:sp>
        <p:sp>
          <p:nvSpPr>
            <p:cNvPr id="15367" name="Line 6"/>
            <p:cNvSpPr>
              <a:spLocks noChangeShapeType="1"/>
            </p:cNvSpPr>
            <p:nvPr/>
          </p:nvSpPr>
          <p:spPr bwMode="auto">
            <a:xfrm>
              <a:off x="1968" y="297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68" name="Rectangle 7"/>
            <p:cNvSpPr>
              <a:spLocks noChangeArrowheads="1"/>
            </p:cNvSpPr>
            <p:nvPr/>
          </p:nvSpPr>
          <p:spPr bwMode="auto">
            <a:xfrm>
              <a:off x="2640" y="2976"/>
              <a:ext cx="912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ur-PK">
                <a:latin typeface="Tw Cen MT" pitchFamily="34" charset="0"/>
              </a:endParaRPr>
            </a:p>
          </p:txBody>
        </p:sp>
        <p:sp>
          <p:nvSpPr>
            <p:cNvPr id="15369" name="Line 8"/>
            <p:cNvSpPr>
              <a:spLocks noChangeShapeType="1"/>
            </p:cNvSpPr>
            <p:nvPr/>
          </p:nvSpPr>
          <p:spPr bwMode="auto">
            <a:xfrm>
              <a:off x="3264" y="297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0" name="Rectangle 9"/>
            <p:cNvSpPr>
              <a:spLocks noChangeArrowheads="1"/>
            </p:cNvSpPr>
            <p:nvPr/>
          </p:nvSpPr>
          <p:spPr bwMode="auto">
            <a:xfrm>
              <a:off x="3936" y="2976"/>
              <a:ext cx="912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ur-PK">
                <a:latin typeface="Tw Cen MT" pitchFamily="34" charset="0"/>
              </a:endParaRPr>
            </a:p>
          </p:txBody>
        </p:sp>
        <p:sp>
          <p:nvSpPr>
            <p:cNvPr id="15371" name="Line 10"/>
            <p:cNvSpPr>
              <a:spLocks noChangeShapeType="1"/>
            </p:cNvSpPr>
            <p:nvPr/>
          </p:nvSpPr>
          <p:spPr bwMode="auto">
            <a:xfrm>
              <a:off x="4560" y="297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2" name="Text Box 11"/>
            <p:cNvSpPr txBox="1">
              <a:spLocks noChangeArrowheads="1"/>
            </p:cNvSpPr>
            <p:nvPr/>
          </p:nvSpPr>
          <p:spPr bwMode="auto">
            <a:xfrm>
              <a:off x="1488" y="3024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>
                  <a:latin typeface="Tw Cen MT" pitchFamily="34" charset="0"/>
                </a:rPr>
                <a:t>x</a:t>
              </a:r>
            </a:p>
          </p:txBody>
        </p:sp>
        <p:sp>
          <p:nvSpPr>
            <p:cNvPr id="15373" name="Text Box 12"/>
            <p:cNvSpPr txBox="1">
              <a:spLocks noChangeArrowheads="1"/>
            </p:cNvSpPr>
            <p:nvPr/>
          </p:nvSpPr>
          <p:spPr bwMode="auto">
            <a:xfrm>
              <a:off x="2784" y="3024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>
                  <a:latin typeface="Tw Cen MT" pitchFamily="34" charset="0"/>
                </a:rPr>
                <a:t>y</a:t>
              </a:r>
            </a:p>
          </p:txBody>
        </p:sp>
        <p:sp>
          <p:nvSpPr>
            <p:cNvPr id="15374" name="Line 13"/>
            <p:cNvSpPr>
              <a:spLocks noChangeShapeType="1"/>
            </p:cNvSpPr>
            <p:nvPr/>
          </p:nvSpPr>
          <p:spPr bwMode="auto">
            <a:xfrm>
              <a:off x="2112" y="316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5" name="Line 14"/>
            <p:cNvSpPr>
              <a:spLocks noChangeShapeType="1"/>
            </p:cNvSpPr>
            <p:nvPr/>
          </p:nvSpPr>
          <p:spPr bwMode="auto">
            <a:xfrm>
              <a:off x="3408" y="316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6" name="Text Box 15"/>
            <p:cNvSpPr txBox="1">
              <a:spLocks noChangeArrowheads="1"/>
            </p:cNvSpPr>
            <p:nvPr/>
          </p:nvSpPr>
          <p:spPr bwMode="auto">
            <a:xfrm>
              <a:off x="4608" y="2736"/>
              <a:ext cx="192" cy="6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6000">
                  <a:latin typeface="Tw Cen MT" pitchFamily="34" charset="0"/>
                </a:rPr>
                <a:t>.</a:t>
              </a:r>
            </a:p>
          </p:txBody>
        </p:sp>
        <p:sp>
          <p:nvSpPr>
            <p:cNvPr id="15377" name="Text Box 16"/>
            <p:cNvSpPr txBox="1">
              <a:spLocks noChangeArrowheads="1"/>
            </p:cNvSpPr>
            <p:nvPr/>
          </p:nvSpPr>
          <p:spPr bwMode="auto">
            <a:xfrm>
              <a:off x="4032" y="3024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b="1">
                  <a:latin typeface="Tw Cen MT" pitchFamily="34" charset="0"/>
                </a:rPr>
                <a:t>z</a:t>
              </a:r>
            </a:p>
          </p:txBody>
        </p:sp>
        <p:sp>
          <p:nvSpPr>
            <p:cNvPr id="15378" name="Line 17"/>
            <p:cNvSpPr>
              <a:spLocks noChangeShapeType="1"/>
            </p:cNvSpPr>
            <p:nvPr/>
          </p:nvSpPr>
          <p:spPr bwMode="auto">
            <a:xfrm>
              <a:off x="816" y="316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379" name="Text Box 18"/>
            <p:cNvSpPr txBox="1">
              <a:spLocks noChangeArrowheads="1"/>
            </p:cNvSpPr>
            <p:nvPr/>
          </p:nvSpPr>
          <p:spPr bwMode="auto">
            <a:xfrm>
              <a:off x="336" y="3033"/>
              <a:ext cx="5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i="1">
                  <a:latin typeface="Tw Cen MT" pitchFamily="34" charset="0"/>
                </a:rPr>
                <a:t>Front</a:t>
              </a:r>
            </a:p>
          </p:txBody>
        </p:sp>
        <p:cxnSp>
          <p:nvCxnSpPr>
            <p:cNvPr id="15380" name="AutoShape 19"/>
            <p:cNvCxnSpPr>
              <a:cxnSpLocks noChangeShapeType="1"/>
              <a:endCxn id="15370" idx="2"/>
            </p:cNvCxnSpPr>
            <p:nvPr/>
          </p:nvCxnSpPr>
          <p:spPr bwMode="auto">
            <a:xfrm flipV="1">
              <a:off x="864" y="3360"/>
              <a:ext cx="3528" cy="288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</p:spPr>
        </p:cxnSp>
        <p:sp>
          <p:nvSpPr>
            <p:cNvPr id="15381" name="Text Box 20"/>
            <p:cNvSpPr txBox="1">
              <a:spLocks noChangeArrowheads="1"/>
            </p:cNvSpPr>
            <p:nvPr/>
          </p:nvSpPr>
          <p:spPr bwMode="auto">
            <a:xfrm>
              <a:off x="336" y="3513"/>
              <a:ext cx="57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i="1">
                  <a:latin typeface="Tw Cen MT" pitchFamily="34" charset="0"/>
                </a:rPr>
                <a:t>Rear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1146175" y="228600"/>
            <a:ext cx="6626225" cy="990600"/>
          </a:xfrm>
        </p:spPr>
        <p:txBody>
          <a:bodyPr/>
          <a:lstStyle/>
          <a:p>
            <a:r>
              <a:rPr lang="en-US" dirty="0" smtClean="0"/>
              <a:t>Dynamic Implementation</a:t>
            </a:r>
            <a:endParaRPr lang="ur-PK" dirty="0" smtClean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066800" y="1600200"/>
            <a:ext cx="8153400" cy="4495800"/>
          </a:xfrm>
        </p:spPr>
        <p:txBody>
          <a:bodyPr/>
          <a:lstStyle/>
          <a:p>
            <a:r>
              <a:rPr lang="en-US" dirty="0" err="1" smtClean="0"/>
              <a:t>Enqueue</a:t>
            </a:r>
            <a:r>
              <a:rPr lang="en-US" dirty="0" smtClean="0"/>
              <a:t> (X)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Enqueue</a:t>
            </a:r>
            <a:r>
              <a:rPr lang="en-US" dirty="0" smtClean="0"/>
              <a:t> (Y)</a:t>
            </a:r>
          </a:p>
          <a:p>
            <a:pPr>
              <a:buFontTx/>
              <a:buNone/>
            </a:pPr>
            <a:endParaRPr lang="en-US" dirty="0" smtClean="0"/>
          </a:p>
          <a:p>
            <a:pPr>
              <a:buFontTx/>
              <a:buNone/>
            </a:pPr>
            <a:r>
              <a:rPr lang="en-US" dirty="0" smtClean="0"/>
              <a:t>	</a:t>
            </a:r>
            <a:endParaRPr lang="ur-PK" dirty="0" smtClean="0"/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0F33FC77-55D2-4E46-A4A2-0C21DB58B4B5}" type="slidenum">
              <a:rPr lang="en-US"/>
              <a:pPr>
                <a:defRPr/>
              </a:pPr>
              <a:t>8</a:t>
            </a:fld>
            <a:endParaRPr lang="en-US"/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2514600" y="2209800"/>
            <a:ext cx="5867400" cy="1371600"/>
            <a:chOff x="912" y="2880"/>
            <a:chExt cx="3696" cy="864"/>
          </a:xfrm>
        </p:grpSpPr>
        <p:sp>
          <p:nvSpPr>
            <p:cNvPr id="16403" name="Text Box 8"/>
            <p:cNvSpPr txBox="1">
              <a:spLocks noChangeArrowheads="1"/>
            </p:cNvSpPr>
            <p:nvPr/>
          </p:nvSpPr>
          <p:spPr bwMode="auto">
            <a:xfrm>
              <a:off x="912" y="3177"/>
              <a:ext cx="6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i="1">
                  <a:latin typeface="Tw Cen MT" pitchFamily="34" charset="0"/>
                </a:rPr>
                <a:t>Q.front</a:t>
              </a:r>
            </a:p>
          </p:txBody>
        </p:sp>
        <p:sp>
          <p:nvSpPr>
            <p:cNvPr id="16404" name="Text Box 9"/>
            <p:cNvSpPr txBox="1">
              <a:spLocks noChangeArrowheads="1"/>
            </p:cNvSpPr>
            <p:nvPr/>
          </p:nvSpPr>
          <p:spPr bwMode="auto">
            <a:xfrm>
              <a:off x="912" y="3513"/>
              <a:ext cx="6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i="1">
                  <a:latin typeface="Tw Cen MT" pitchFamily="34" charset="0"/>
                </a:rPr>
                <a:t>Q.Rear</a:t>
              </a:r>
            </a:p>
          </p:txBody>
        </p:sp>
        <p:cxnSp>
          <p:nvCxnSpPr>
            <p:cNvPr id="16405" name="AutoShape 11"/>
            <p:cNvCxnSpPr>
              <a:cxnSpLocks noChangeShapeType="1"/>
              <a:stCxn id="16403" idx="3"/>
              <a:endCxn id="16407" idx="1"/>
            </p:cNvCxnSpPr>
            <p:nvPr/>
          </p:nvCxnSpPr>
          <p:spPr bwMode="auto">
            <a:xfrm flipV="1">
              <a:off x="1584" y="3120"/>
              <a:ext cx="2112" cy="173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6406" name="AutoShape 12"/>
            <p:cNvCxnSpPr>
              <a:cxnSpLocks noChangeShapeType="1"/>
              <a:stCxn id="16404" idx="3"/>
              <a:endCxn id="16407" idx="2"/>
            </p:cNvCxnSpPr>
            <p:nvPr/>
          </p:nvCxnSpPr>
          <p:spPr bwMode="auto">
            <a:xfrm flipV="1">
              <a:off x="1536" y="3312"/>
              <a:ext cx="2616" cy="317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6407" name="Rectangle 13"/>
            <p:cNvSpPr>
              <a:spLocks noChangeArrowheads="1"/>
            </p:cNvSpPr>
            <p:nvPr/>
          </p:nvSpPr>
          <p:spPr bwMode="auto">
            <a:xfrm>
              <a:off x="3696" y="2928"/>
              <a:ext cx="912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ur-PK">
                <a:latin typeface="Tw Cen MT" pitchFamily="34" charset="0"/>
              </a:endParaRPr>
            </a:p>
          </p:txBody>
        </p:sp>
        <p:sp>
          <p:nvSpPr>
            <p:cNvPr id="16408" name="Line 14"/>
            <p:cNvSpPr>
              <a:spLocks noChangeShapeType="1"/>
            </p:cNvSpPr>
            <p:nvPr/>
          </p:nvSpPr>
          <p:spPr bwMode="auto">
            <a:xfrm>
              <a:off x="4320" y="292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9" name="Text Box 15"/>
            <p:cNvSpPr txBox="1">
              <a:spLocks noChangeArrowheads="1"/>
            </p:cNvSpPr>
            <p:nvPr/>
          </p:nvSpPr>
          <p:spPr bwMode="auto">
            <a:xfrm>
              <a:off x="4368" y="2880"/>
              <a:ext cx="192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3200" b="1">
                  <a:latin typeface="Tw Cen MT" pitchFamily="34" charset="0"/>
                </a:rPr>
                <a:t>.</a:t>
              </a:r>
            </a:p>
          </p:txBody>
        </p:sp>
        <p:sp>
          <p:nvSpPr>
            <p:cNvPr id="16410" name="Text Box 16"/>
            <p:cNvSpPr txBox="1">
              <a:spLocks noChangeArrowheads="1"/>
            </p:cNvSpPr>
            <p:nvPr/>
          </p:nvSpPr>
          <p:spPr bwMode="auto">
            <a:xfrm>
              <a:off x="3840" y="2928"/>
              <a:ext cx="19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>
                  <a:latin typeface="Tw Cen MT" pitchFamily="34" charset="0"/>
                </a:rPr>
                <a:t>x</a:t>
              </a:r>
            </a:p>
          </p:txBody>
        </p:sp>
      </p:grp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1219200" y="4648200"/>
            <a:ext cx="7391400" cy="1371600"/>
            <a:chOff x="912" y="1488"/>
            <a:chExt cx="4656" cy="864"/>
          </a:xfrm>
        </p:grpSpPr>
        <p:sp>
          <p:nvSpPr>
            <p:cNvPr id="16391" name="Text Box 2"/>
            <p:cNvSpPr txBox="1">
              <a:spLocks noChangeArrowheads="1"/>
            </p:cNvSpPr>
            <p:nvPr/>
          </p:nvSpPr>
          <p:spPr bwMode="auto">
            <a:xfrm>
              <a:off x="912" y="1881"/>
              <a:ext cx="6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i="1">
                  <a:latin typeface="Tw Cen MT" pitchFamily="34" charset="0"/>
                </a:rPr>
                <a:t>Q.front</a:t>
              </a:r>
            </a:p>
          </p:txBody>
        </p:sp>
        <p:sp>
          <p:nvSpPr>
            <p:cNvPr id="16392" name="Text Box 3"/>
            <p:cNvSpPr txBox="1">
              <a:spLocks noChangeArrowheads="1"/>
            </p:cNvSpPr>
            <p:nvPr/>
          </p:nvSpPr>
          <p:spPr bwMode="auto">
            <a:xfrm>
              <a:off x="912" y="2121"/>
              <a:ext cx="6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i="1">
                  <a:latin typeface="Tw Cen MT" pitchFamily="34" charset="0"/>
                </a:rPr>
                <a:t>Q.Rear</a:t>
              </a:r>
            </a:p>
          </p:txBody>
        </p:sp>
        <p:cxnSp>
          <p:nvCxnSpPr>
            <p:cNvPr id="16393" name="AutoShape 5"/>
            <p:cNvCxnSpPr>
              <a:cxnSpLocks noChangeShapeType="1"/>
              <a:stCxn id="16391" idx="3"/>
              <a:endCxn id="16395" idx="1"/>
            </p:cNvCxnSpPr>
            <p:nvPr/>
          </p:nvCxnSpPr>
          <p:spPr bwMode="auto">
            <a:xfrm flipV="1">
              <a:off x="1584" y="1728"/>
              <a:ext cx="1872" cy="269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6394" name="AutoShape 6"/>
            <p:cNvCxnSpPr>
              <a:cxnSpLocks noChangeShapeType="1"/>
              <a:stCxn id="16392" idx="3"/>
              <a:endCxn id="16398" idx="2"/>
            </p:cNvCxnSpPr>
            <p:nvPr/>
          </p:nvCxnSpPr>
          <p:spPr bwMode="auto">
            <a:xfrm flipV="1">
              <a:off x="1536" y="1920"/>
              <a:ext cx="3576" cy="317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6395" name="Rectangle 7"/>
            <p:cNvSpPr>
              <a:spLocks noChangeArrowheads="1"/>
            </p:cNvSpPr>
            <p:nvPr/>
          </p:nvSpPr>
          <p:spPr bwMode="auto">
            <a:xfrm>
              <a:off x="3456" y="1536"/>
              <a:ext cx="912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ur-PK">
                <a:latin typeface="Tw Cen MT" pitchFamily="34" charset="0"/>
              </a:endParaRPr>
            </a:p>
          </p:txBody>
        </p:sp>
        <p:sp>
          <p:nvSpPr>
            <p:cNvPr id="16396" name="Line 8"/>
            <p:cNvSpPr>
              <a:spLocks noChangeShapeType="1"/>
            </p:cNvSpPr>
            <p:nvPr/>
          </p:nvSpPr>
          <p:spPr bwMode="auto">
            <a:xfrm>
              <a:off x="4080" y="153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397" name="Text Box 9"/>
            <p:cNvSpPr txBox="1">
              <a:spLocks noChangeArrowheads="1"/>
            </p:cNvSpPr>
            <p:nvPr/>
          </p:nvSpPr>
          <p:spPr bwMode="auto">
            <a:xfrm>
              <a:off x="3600" y="1536"/>
              <a:ext cx="19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>
                  <a:latin typeface="Tw Cen MT" pitchFamily="34" charset="0"/>
                </a:rPr>
                <a:t>x</a:t>
              </a:r>
            </a:p>
          </p:txBody>
        </p:sp>
        <p:sp>
          <p:nvSpPr>
            <p:cNvPr id="16398" name="Rectangle 10"/>
            <p:cNvSpPr>
              <a:spLocks noChangeArrowheads="1"/>
            </p:cNvSpPr>
            <p:nvPr/>
          </p:nvSpPr>
          <p:spPr bwMode="auto">
            <a:xfrm>
              <a:off x="4656" y="1536"/>
              <a:ext cx="912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ur-PK">
                <a:latin typeface="Tw Cen MT" pitchFamily="34" charset="0"/>
              </a:endParaRPr>
            </a:p>
          </p:txBody>
        </p:sp>
        <p:sp>
          <p:nvSpPr>
            <p:cNvPr id="16399" name="Line 11"/>
            <p:cNvSpPr>
              <a:spLocks noChangeShapeType="1"/>
            </p:cNvSpPr>
            <p:nvPr/>
          </p:nvSpPr>
          <p:spPr bwMode="auto">
            <a:xfrm>
              <a:off x="5280" y="1536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00" name="Text Box 12"/>
            <p:cNvSpPr txBox="1">
              <a:spLocks noChangeArrowheads="1"/>
            </p:cNvSpPr>
            <p:nvPr/>
          </p:nvSpPr>
          <p:spPr bwMode="auto">
            <a:xfrm>
              <a:off x="5328" y="1488"/>
              <a:ext cx="192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3200" b="1">
                  <a:latin typeface="Tw Cen MT" pitchFamily="34" charset="0"/>
                </a:rPr>
                <a:t>.</a:t>
              </a:r>
            </a:p>
          </p:txBody>
        </p:sp>
        <p:sp>
          <p:nvSpPr>
            <p:cNvPr id="16401" name="Text Box 13"/>
            <p:cNvSpPr txBox="1">
              <a:spLocks noChangeArrowheads="1"/>
            </p:cNvSpPr>
            <p:nvPr/>
          </p:nvSpPr>
          <p:spPr bwMode="auto">
            <a:xfrm>
              <a:off x="4800" y="1536"/>
              <a:ext cx="19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>
                  <a:latin typeface="Tw Cen MT" pitchFamily="34" charset="0"/>
                </a:rPr>
                <a:t>y</a:t>
              </a:r>
            </a:p>
          </p:txBody>
        </p:sp>
        <p:sp>
          <p:nvSpPr>
            <p:cNvPr id="16402" name="Line 14"/>
            <p:cNvSpPr>
              <a:spLocks noChangeShapeType="1"/>
            </p:cNvSpPr>
            <p:nvPr/>
          </p:nvSpPr>
          <p:spPr bwMode="auto">
            <a:xfrm>
              <a:off x="4176" y="172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993775" y="228600"/>
            <a:ext cx="6778625" cy="990600"/>
          </a:xfrm>
        </p:spPr>
        <p:txBody>
          <a:bodyPr/>
          <a:lstStyle/>
          <a:p>
            <a:r>
              <a:rPr lang="en-US" dirty="0" smtClean="0"/>
              <a:t>Dynamic Implementation</a:t>
            </a:r>
            <a:endParaRPr lang="ur-PK" dirty="0" smtClean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8153400" cy="4495800"/>
          </a:xfrm>
        </p:spPr>
        <p:txBody>
          <a:bodyPr/>
          <a:lstStyle/>
          <a:p>
            <a:r>
              <a:rPr lang="en-US" dirty="0" err="1" smtClean="0"/>
              <a:t>Dequeue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MakeNULL</a:t>
            </a:r>
            <a:endParaRPr lang="en-US" dirty="0" smtClean="0"/>
          </a:p>
          <a:p>
            <a:pPr>
              <a:buFontTx/>
              <a:buNone/>
            </a:pPr>
            <a:r>
              <a:rPr lang="en-US" dirty="0" smtClean="0"/>
              <a:t> </a:t>
            </a:r>
            <a:endParaRPr lang="ur-PK" dirty="0" smtClean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0F4E9332-DF8A-4B95-9EC8-07C8910487EC}" type="slidenum">
              <a:rPr lang="en-US"/>
              <a:pPr>
                <a:defRPr/>
              </a:pPr>
              <a:t>9</a:t>
            </a:fld>
            <a:endParaRPr lang="en-US"/>
          </a:p>
        </p:txBody>
      </p:sp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1066800" y="2133600"/>
            <a:ext cx="7391400" cy="1509713"/>
            <a:chOff x="912" y="2880"/>
            <a:chExt cx="4656" cy="951"/>
          </a:xfrm>
        </p:grpSpPr>
        <p:sp>
          <p:nvSpPr>
            <p:cNvPr id="17420" name="Text Box 15"/>
            <p:cNvSpPr txBox="1">
              <a:spLocks noChangeArrowheads="1"/>
            </p:cNvSpPr>
            <p:nvPr/>
          </p:nvSpPr>
          <p:spPr bwMode="auto">
            <a:xfrm>
              <a:off x="912" y="3321"/>
              <a:ext cx="6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i="1">
                  <a:latin typeface="Tw Cen MT" pitchFamily="34" charset="0"/>
                </a:rPr>
                <a:t>Q.front</a:t>
              </a:r>
            </a:p>
          </p:txBody>
        </p:sp>
        <p:sp>
          <p:nvSpPr>
            <p:cNvPr id="17421" name="Text Box 16"/>
            <p:cNvSpPr txBox="1">
              <a:spLocks noChangeArrowheads="1"/>
            </p:cNvSpPr>
            <p:nvPr/>
          </p:nvSpPr>
          <p:spPr bwMode="auto">
            <a:xfrm>
              <a:off x="912" y="3600"/>
              <a:ext cx="6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i="1">
                  <a:latin typeface="Tw Cen MT" pitchFamily="34" charset="0"/>
                </a:rPr>
                <a:t>Q.Rear</a:t>
              </a:r>
            </a:p>
          </p:txBody>
        </p:sp>
        <p:cxnSp>
          <p:nvCxnSpPr>
            <p:cNvPr id="17422" name="AutoShape 18"/>
            <p:cNvCxnSpPr>
              <a:cxnSpLocks noChangeShapeType="1"/>
              <a:stCxn id="17420" idx="3"/>
              <a:endCxn id="17424" idx="1"/>
            </p:cNvCxnSpPr>
            <p:nvPr/>
          </p:nvCxnSpPr>
          <p:spPr bwMode="auto">
            <a:xfrm flipV="1">
              <a:off x="1584" y="3120"/>
              <a:ext cx="3072" cy="317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23" name="AutoShape 19"/>
            <p:cNvCxnSpPr>
              <a:cxnSpLocks noChangeShapeType="1"/>
              <a:stCxn id="17421" idx="3"/>
              <a:endCxn id="17424" idx="2"/>
            </p:cNvCxnSpPr>
            <p:nvPr/>
          </p:nvCxnSpPr>
          <p:spPr bwMode="auto">
            <a:xfrm flipV="1">
              <a:off x="1536" y="3312"/>
              <a:ext cx="3576" cy="404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7424" name="Rectangle 20"/>
            <p:cNvSpPr>
              <a:spLocks noChangeArrowheads="1"/>
            </p:cNvSpPr>
            <p:nvPr/>
          </p:nvSpPr>
          <p:spPr bwMode="auto">
            <a:xfrm>
              <a:off x="4656" y="2928"/>
              <a:ext cx="912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ur-PK">
                <a:latin typeface="Tw Cen MT" pitchFamily="34" charset="0"/>
              </a:endParaRPr>
            </a:p>
          </p:txBody>
        </p:sp>
        <p:sp>
          <p:nvSpPr>
            <p:cNvPr id="17425" name="Line 21"/>
            <p:cNvSpPr>
              <a:spLocks noChangeShapeType="1"/>
            </p:cNvSpPr>
            <p:nvPr/>
          </p:nvSpPr>
          <p:spPr bwMode="auto">
            <a:xfrm>
              <a:off x="5280" y="292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426" name="Text Box 22"/>
            <p:cNvSpPr txBox="1">
              <a:spLocks noChangeArrowheads="1"/>
            </p:cNvSpPr>
            <p:nvPr/>
          </p:nvSpPr>
          <p:spPr bwMode="auto">
            <a:xfrm>
              <a:off x="5328" y="2880"/>
              <a:ext cx="192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3200" b="1">
                  <a:latin typeface="Tw Cen MT" pitchFamily="34" charset="0"/>
                </a:rPr>
                <a:t>.</a:t>
              </a:r>
            </a:p>
          </p:txBody>
        </p:sp>
        <p:sp>
          <p:nvSpPr>
            <p:cNvPr id="17427" name="Text Box 23"/>
            <p:cNvSpPr txBox="1">
              <a:spLocks noChangeArrowheads="1"/>
            </p:cNvSpPr>
            <p:nvPr/>
          </p:nvSpPr>
          <p:spPr bwMode="auto">
            <a:xfrm>
              <a:off x="4800" y="2928"/>
              <a:ext cx="19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800">
                  <a:latin typeface="Tw Cen MT" pitchFamily="34" charset="0"/>
                </a:rPr>
                <a:t>y</a:t>
              </a: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3429000" y="4724400"/>
            <a:ext cx="4114800" cy="1295400"/>
            <a:chOff x="912" y="1488"/>
            <a:chExt cx="2592" cy="816"/>
          </a:xfrm>
        </p:grpSpPr>
        <p:sp>
          <p:nvSpPr>
            <p:cNvPr id="17415" name="Text Box 3"/>
            <p:cNvSpPr txBox="1">
              <a:spLocks noChangeArrowheads="1"/>
            </p:cNvSpPr>
            <p:nvPr/>
          </p:nvSpPr>
          <p:spPr bwMode="auto">
            <a:xfrm>
              <a:off x="912" y="1737"/>
              <a:ext cx="6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i="1">
                  <a:latin typeface="Tw Cen MT" pitchFamily="34" charset="0"/>
                </a:rPr>
                <a:t>Q.front</a:t>
              </a:r>
            </a:p>
          </p:txBody>
        </p:sp>
        <p:sp>
          <p:nvSpPr>
            <p:cNvPr id="17416" name="Text Box 4"/>
            <p:cNvSpPr txBox="1">
              <a:spLocks noChangeArrowheads="1"/>
            </p:cNvSpPr>
            <p:nvPr/>
          </p:nvSpPr>
          <p:spPr bwMode="auto">
            <a:xfrm>
              <a:off x="912" y="2073"/>
              <a:ext cx="62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i="1">
                  <a:latin typeface="Tw Cen MT" pitchFamily="34" charset="0"/>
                </a:rPr>
                <a:t>Q.Rear</a:t>
              </a:r>
            </a:p>
          </p:txBody>
        </p:sp>
        <p:cxnSp>
          <p:nvCxnSpPr>
            <p:cNvPr id="17417" name="AutoShape 6"/>
            <p:cNvCxnSpPr>
              <a:cxnSpLocks noChangeShapeType="1"/>
              <a:stCxn id="17415" idx="3"/>
            </p:cNvCxnSpPr>
            <p:nvPr/>
          </p:nvCxnSpPr>
          <p:spPr bwMode="auto">
            <a:xfrm flipV="1">
              <a:off x="1584" y="1680"/>
              <a:ext cx="864" cy="173"/>
            </a:xfrm>
            <a:prstGeom prst="curvedConnector3">
              <a:avLst>
                <a:gd name="adj1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17418" name="AutoShape 7"/>
            <p:cNvCxnSpPr>
              <a:cxnSpLocks noChangeShapeType="1"/>
              <a:stCxn id="17416" idx="3"/>
            </p:cNvCxnSpPr>
            <p:nvPr/>
          </p:nvCxnSpPr>
          <p:spPr bwMode="auto">
            <a:xfrm flipV="1">
              <a:off x="1536" y="1872"/>
              <a:ext cx="1368" cy="317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sp>
          <p:nvSpPr>
            <p:cNvPr id="17419" name="Rectangle 17"/>
            <p:cNvSpPr>
              <a:spLocks noChangeArrowheads="1"/>
            </p:cNvSpPr>
            <p:nvPr/>
          </p:nvSpPr>
          <p:spPr bwMode="auto">
            <a:xfrm>
              <a:off x="2496" y="1488"/>
              <a:ext cx="1008" cy="38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>
                  <a:latin typeface="Times New Roman" pitchFamily="18" charset="0"/>
                </a:rPr>
                <a:t>NULL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066800" y="427038"/>
            <a:ext cx="8001000" cy="715962"/>
          </a:xfrm>
        </p:spPr>
        <p:txBody>
          <a:bodyPr/>
          <a:lstStyle/>
          <a:p>
            <a:r>
              <a:rPr lang="en-US" sz="4000" dirty="0" smtClean="0"/>
              <a:t>Dynamic implementation of Queue</a:t>
            </a:r>
            <a:endParaRPr lang="ur-PK" dirty="0" smtClean="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3962400" cy="4953000"/>
          </a:xfrm>
        </p:spPr>
        <p:txBody>
          <a:bodyPr/>
          <a:lstStyle/>
          <a:p>
            <a:pPr>
              <a:buFontTx/>
              <a:buNone/>
            </a:pPr>
            <a:r>
              <a:rPr lang="en-US" sz="2000" dirty="0" smtClean="0"/>
              <a:t>class </a:t>
            </a:r>
            <a:r>
              <a:rPr lang="en-US" sz="2000" dirty="0" err="1" smtClean="0"/>
              <a:t>DynQueue</a:t>
            </a:r>
            <a:r>
              <a:rPr lang="en-US" sz="2000" dirty="0" smtClean="0"/>
              <a:t>{</a:t>
            </a:r>
          </a:p>
          <a:p>
            <a:pPr>
              <a:buFontTx/>
              <a:buNone/>
            </a:pPr>
            <a:r>
              <a:rPr lang="en-US" sz="2000" dirty="0" smtClean="0"/>
              <a:t>	private:</a:t>
            </a:r>
          </a:p>
          <a:p>
            <a:pPr>
              <a:buFontTx/>
              <a:buNone/>
            </a:pPr>
            <a:r>
              <a:rPr lang="en-US" sz="2000" dirty="0" smtClean="0"/>
              <a:t>   	</a:t>
            </a:r>
            <a:r>
              <a:rPr lang="en-US" sz="2000" dirty="0" err="1" smtClean="0"/>
              <a:t>struct</a:t>
            </a:r>
            <a:r>
              <a:rPr lang="en-US" sz="2000" dirty="0" smtClean="0"/>
              <a:t> </a:t>
            </a:r>
            <a:r>
              <a:rPr lang="en-US" sz="2000" dirty="0" err="1" smtClean="0"/>
              <a:t>queueNode</a:t>
            </a:r>
            <a:endParaRPr lang="en-US" sz="2000" dirty="0" smtClean="0"/>
          </a:p>
          <a:p>
            <a:pPr>
              <a:buFontTx/>
              <a:buNone/>
            </a:pPr>
            <a:r>
              <a:rPr lang="en-US" sz="2000" dirty="0" smtClean="0"/>
              <a:t>      {</a:t>
            </a:r>
          </a:p>
          <a:p>
            <a:pPr>
              <a:buFontTx/>
              <a:buNone/>
            </a:pPr>
            <a:r>
              <a:rPr lang="en-US" sz="2000" dirty="0" smtClean="0"/>
              <a:t>      	</a:t>
            </a:r>
            <a:r>
              <a:rPr lang="en-US" sz="2000" dirty="0" err="1" smtClean="0"/>
              <a:t>int</a:t>
            </a:r>
            <a:r>
              <a:rPr lang="en-US" sz="2000" dirty="0" smtClean="0"/>
              <a:t> num;</a:t>
            </a:r>
          </a:p>
          <a:p>
            <a:pPr>
              <a:buFontTx/>
              <a:buNone/>
            </a:pPr>
            <a:r>
              <a:rPr lang="en-US" sz="2000" dirty="0" smtClean="0"/>
              <a:t>             </a:t>
            </a:r>
            <a:r>
              <a:rPr lang="en-US" sz="2000" dirty="0" err="1" smtClean="0"/>
              <a:t>queueNode</a:t>
            </a:r>
            <a:r>
              <a:rPr lang="en-US" sz="2000" dirty="0" smtClean="0"/>
              <a:t> *next;</a:t>
            </a:r>
          </a:p>
          <a:p>
            <a:pPr>
              <a:buFontTx/>
              <a:buNone/>
            </a:pPr>
            <a:r>
              <a:rPr lang="en-US" sz="2000" dirty="0" smtClean="0"/>
              <a:t>      };</a:t>
            </a:r>
          </a:p>
          <a:p>
            <a:pPr>
              <a:buFontTx/>
              <a:buNone/>
            </a:pPr>
            <a:r>
              <a:rPr lang="en-US" sz="2000" dirty="0" smtClean="0"/>
              <a:t>      </a:t>
            </a:r>
            <a:r>
              <a:rPr lang="en-US" sz="2000" dirty="0" err="1" smtClean="0"/>
              <a:t>queueNode</a:t>
            </a:r>
            <a:r>
              <a:rPr lang="en-US" sz="2000" dirty="0" smtClean="0"/>
              <a:t> *front;</a:t>
            </a:r>
          </a:p>
          <a:p>
            <a:pPr>
              <a:buFontTx/>
              <a:buNone/>
            </a:pPr>
            <a:r>
              <a:rPr lang="en-US" sz="2000" dirty="0" smtClean="0"/>
              <a:t>      </a:t>
            </a:r>
            <a:r>
              <a:rPr lang="en-US" sz="2000" dirty="0" err="1" smtClean="0"/>
              <a:t>queueNode</a:t>
            </a:r>
            <a:r>
              <a:rPr lang="en-US" sz="2000" dirty="0" smtClean="0"/>
              <a:t> *rear;</a:t>
            </a:r>
          </a:p>
          <a:p>
            <a:pPr>
              <a:buFontTx/>
              <a:buNone/>
            </a:pPr>
            <a:r>
              <a:rPr lang="en-US" sz="2000" dirty="0" smtClean="0"/>
              <a:t>   </a:t>
            </a:r>
            <a:endParaRPr lang="ur-PK" sz="20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796EC272-AFFF-47DC-A1B6-E86527910E81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18436" name="Content Placeholder 2"/>
          <p:cNvSpPr txBox="1">
            <a:spLocks/>
          </p:cNvSpPr>
          <p:nvPr/>
        </p:nvSpPr>
        <p:spPr bwMode="auto">
          <a:xfrm>
            <a:off x="4800600" y="1447800"/>
            <a:ext cx="39624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19088" indent="-319088"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sz="2000">
                <a:latin typeface="Tw Cen MT" pitchFamily="34" charset="0"/>
              </a:rPr>
              <a:t>public:</a:t>
            </a:r>
          </a:p>
          <a:p>
            <a:pPr marL="319088" indent="-319088"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sz="2000">
                <a:latin typeface="Tw Cen MT" pitchFamily="34" charset="0"/>
              </a:rPr>
              <a:t>   	DynQueue();</a:t>
            </a:r>
          </a:p>
          <a:p>
            <a:pPr marL="319088" indent="-319088"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sz="2000">
                <a:latin typeface="Tw Cen MT" pitchFamily="34" charset="0"/>
              </a:rPr>
              <a:t>	~DynQueue();</a:t>
            </a:r>
          </a:p>
          <a:p>
            <a:pPr marL="319088" indent="-319088"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sz="2000">
                <a:latin typeface="Tw Cen MT" pitchFamily="34" charset="0"/>
              </a:rPr>
              <a:t>      void enqueue();</a:t>
            </a:r>
          </a:p>
          <a:p>
            <a:pPr marL="319088" indent="-319088"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sz="2000">
                <a:latin typeface="Tw Cen MT" pitchFamily="34" charset="0"/>
              </a:rPr>
              <a:t>      void dequeue();</a:t>
            </a:r>
          </a:p>
          <a:p>
            <a:pPr marL="319088" indent="-319088"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sz="2000">
                <a:latin typeface="Tw Cen MT" pitchFamily="34" charset="0"/>
              </a:rPr>
              <a:t>      bool isEmpty();</a:t>
            </a:r>
          </a:p>
          <a:p>
            <a:pPr marL="319088" indent="-319088"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sz="2000">
                <a:latin typeface="Tw Cen MT" pitchFamily="34" charset="0"/>
              </a:rPr>
              <a:t>      void displayQueue();</a:t>
            </a:r>
          </a:p>
          <a:p>
            <a:pPr marL="319088" indent="-319088"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sz="2000">
                <a:latin typeface="Tw Cen MT" pitchFamily="34" charset="0"/>
              </a:rPr>
              <a:t>      void makeNull();</a:t>
            </a:r>
          </a:p>
          <a:p>
            <a:pPr marL="319088" indent="-319088"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sz="2000">
                <a:latin typeface="Tw Cen MT" pitchFamily="34" charset="0"/>
              </a:rPr>
              <a:t>};</a:t>
            </a:r>
            <a:endParaRPr lang="ur-PK" sz="2000">
              <a:latin typeface="Tw Cen MT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1066800" y="228600"/>
            <a:ext cx="4876800" cy="990600"/>
          </a:xfrm>
        </p:spPr>
        <p:txBody>
          <a:bodyPr/>
          <a:lstStyle/>
          <a:p>
            <a:r>
              <a:rPr lang="en-US" dirty="0" smtClean="0"/>
              <a:t>Constructor</a:t>
            </a:r>
            <a:endParaRPr lang="ur-PK" dirty="0" smtClean="0"/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1069975" y="1600200"/>
            <a:ext cx="4187825" cy="4114800"/>
          </a:xfrm>
        </p:spPr>
        <p:txBody>
          <a:bodyPr/>
          <a:lstStyle/>
          <a:p>
            <a:pPr>
              <a:buFontTx/>
              <a:buNone/>
            </a:pPr>
            <a:endParaRPr lang="en-US" sz="2800" smtClean="0"/>
          </a:p>
          <a:p>
            <a:pPr>
              <a:buFontTx/>
              <a:buNone/>
            </a:pPr>
            <a:endParaRPr lang="en-US" sz="2800" smtClean="0"/>
          </a:p>
          <a:p>
            <a:pPr>
              <a:buFontTx/>
              <a:buNone/>
            </a:pPr>
            <a:r>
              <a:rPr lang="en-US" sz="2800" smtClean="0"/>
              <a:t>DynQueue::DynQueue()</a:t>
            </a:r>
          </a:p>
          <a:p>
            <a:pPr>
              <a:buFontTx/>
              <a:buNone/>
            </a:pPr>
            <a:r>
              <a:rPr lang="en-US" sz="2800" smtClean="0"/>
              <a:t>{</a:t>
            </a:r>
          </a:p>
          <a:p>
            <a:pPr>
              <a:buFontTx/>
              <a:buNone/>
            </a:pPr>
            <a:r>
              <a:rPr lang="en-US" sz="2800" smtClean="0"/>
              <a:t>	front = NULL;</a:t>
            </a:r>
          </a:p>
          <a:p>
            <a:pPr>
              <a:buFontTx/>
              <a:buNone/>
            </a:pPr>
            <a:r>
              <a:rPr lang="en-US" sz="2800" smtClean="0"/>
              <a:t>   rear = NULL;</a:t>
            </a:r>
          </a:p>
          <a:p>
            <a:pPr>
              <a:buFontTx/>
              <a:buNone/>
            </a:pPr>
            <a:r>
              <a:rPr lang="en-US" sz="2800" smtClean="0"/>
              <a:t>}</a:t>
            </a:r>
            <a:endParaRPr lang="ur-PK" sz="280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824B4F46-A50E-4D98-941C-6F2BC8165185}" type="slidenum">
              <a:rPr lang="en-US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990600" y="533400"/>
            <a:ext cx="5562600" cy="53340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Enqueue</a:t>
            </a:r>
            <a:r>
              <a:rPr lang="en-US" dirty="0" smtClean="0"/>
              <a:t>( ) Function</a:t>
            </a:r>
            <a:endParaRPr lang="ur-PK" dirty="0" smtClean="0"/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1905000" y="1447800"/>
            <a:ext cx="5715000" cy="4572000"/>
          </a:xfrm>
        </p:spPr>
        <p:txBody>
          <a:bodyPr>
            <a:normAutofit fontScale="92500" lnSpcReduction="10000"/>
          </a:bodyPr>
          <a:lstStyle/>
          <a:p>
            <a:pPr>
              <a:buFontTx/>
              <a:buNone/>
            </a:pPr>
            <a:r>
              <a:rPr lang="en-US" sz="2300" smtClean="0"/>
              <a:t>void DynQueue::enqueue()</a:t>
            </a:r>
          </a:p>
          <a:p>
            <a:pPr>
              <a:buFontTx/>
              <a:buNone/>
            </a:pPr>
            <a:r>
              <a:rPr lang="en-US" sz="2300" smtClean="0"/>
              <a:t>{</a:t>
            </a:r>
          </a:p>
          <a:p>
            <a:pPr>
              <a:buFontTx/>
              <a:buNone/>
            </a:pPr>
            <a:r>
              <a:rPr lang="en-US" sz="2300" smtClean="0"/>
              <a:t>	queueNode *ptr = new queueNode;</a:t>
            </a:r>
          </a:p>
          <a:p>
            <a:pPr>
              <a:buFontTx/>
              <a:buNone/>
            </a:pPr>
            <a:r>
              <a:rPr lang="en-US" sz="2300" smtClean="0"/>
              <a:t>	cout&lt;&lt;"Enter Data";</a:t>
            </a:r>
          </a:p>
          <a:p>
            <a:pPr>
              <a:buFontTx/>
              <a:buNone/>
            </a:pPr>
            <a:r>
              <a:rPr lang="en-US" sz="2300" smtClean="0"/>
              <a:t>    cin&gt;&gt;ptr-&gt;num;</a:t>
            </a:r>
          </a:p>
          <a:p>
            <a:pPr>
              <a:buFontTx/>
              <a:buNone/>
            </a:pPr>
            <a:r>
              <a:rPr lang="en-US" sz="2300" smtClean="0"/>
              <a:t>    ptr-&gt;next=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300" smtClean="0"/>
              <a:t>	if (front == NULL)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300" smtClean="0"/>
              <a:t>   	{	front = ptr;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300" smtClean="0"/>
              <a:t>      	rear = front;	}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300" smtClean="0"/>
              <a:t>	else{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300" smtClean="0"/>
              <a:t>       	rear-&gt;next=ptr;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300" smtClean="0"/>
              <a:t>       	rear = ptr;	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300" smtClean="0"/>
              <a:t>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933F7055-9BD9-4691-8897-F6A80241B1E4}" type="slidenum">
              <a:rPr lang="en-US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1066800" y="427038"/>
            <a:ext cx="6019800" cy="792162"/>
          </a:xfrm>
        </p:spPr>
        <p:txBody>
          <a:bodyPr/>
          <a:lstStyle/>
          <a:p>
            <a:r>
              <a:rPr lang="en-US" dirty="0" err="1" smtClean="0"/>
              <a:t>Dequeue</a:t>
            </a:r>
            <a:r>
              <a:rPr lang="en-US" dirty="0" smtClean="0"/>
              <a:t>( ) Function</a:t>
            </a:r>
            <a:endParaRPr lang="ur-PK" dirty="0" smtClean="0"/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2362200" y="1600200"/>
            <a:ext cx="5867400" cy="49530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200" smtClean="0"/>
              <a:t>void DynQueue::dequeue()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200" smtClean="0"/>
              <a:t>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200" smtClean="0"/>
              <a:t>	queueNode *temp;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200" smtClean="0"/>
              <a:t>   	temp = front;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200" smtClean="0"/>
              <a:t> 	if(isEmpty())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200" smtClean="0"/>
              <a:t>   		cout&lt;&lt;"Queue is Empty";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200" smtClean="0"/>
              <a:t>   else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200" smtClean="0"/>
              <a:t>  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200" smtClean="0"/>
              <a:t>   		cout&lt;&lt;"data deleted="&lt;&lt;temp-&gt;num;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200" smtClean="0"/>
              <a:t>      	front = front-&gt;next;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200" smtClean="0"/>
              <a:t>      	delete temp;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200" smtClean="0"/>
              <a:t>  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200" smtClean="0"/>
              <a:t>}</a:t>
            </a:r>
            <a:endParaRPr lang="ur-PK" sz="220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935DC59-7C96-4AD9-A043-4B9CCB82281C}" type="slidenum">
              <a:rPr lang="en-US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993775" y="228600"/>
            <a:ext cx="7921625" cy="990600"/>
          </a:xfrm>
        </p:spPr>
        <p:txBody>
          <a:bodyPr/>
          <a:lstStyle/>
          <a:p>
            <a:r>
              <a:rPr lang="en-US" dirty="0" smtClean="0"/>
              <a:t>Static Implementation of Queue</a:t>
            </a:r>
            <a:endParaRPr lang="ur-PK" dirty="0" smtClean="0"/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990600" y="1600200"/>
            <a:ext cx="8153400" cy="4495800"/>
          </a:xfrm>
        </p:spPr>
        <p:txBody>
          <a:bodyPr/>
          <a:lstStyle/>
          <a:p>
            <a:r>
              <a:rPr lang="en-US" sz="2400" dirty="0" smtClean="0"/>
              <a:t>Static implementation is done using arrays</a:t>
            </a:r>
          </a:p>
          <a:p>
            <a:r>
              <a:rPr lang="en-US" sz="2400" dirty="0" smtClean="0"/>
              <a:t>In this implementation, we should know the exact number of elements to be stored in the queue.</a:t>
            </a:r>
          </a:p>
          <a:p>
            <a:r>
              <a:rPr lang="en-US" sz="2400" dirty="0" smtClean="0"/>
              <a:t> When </a:t>
            </a:r>
            <a:r>
              <a:rPr lang="en-US" sz="2400" dirty="0" err="1" smtClean="0"/>
              <a:t>enqueuing</a:t>
            </a:r>
            <a:r>
              <a:rPr lang="en-US" sz="2400" dirty="0" smtClean="0"/>
              <a:t>, the front index is always fixed and the rear index moves forward in the array.</a:t>
            </a:r>
            <a:endParaRPr lang="ur-PK" sz="24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C405C34-C18B-4F88-AF2B-CA7C0E696CAF}" type="slidenum">
              <a:rPr lang="en-US"/>
              <a:pPr>
                <a:defRPr/>
              </a:pPr>
              <a:t>14</a:t>
            </a:fld>
            <a:endParaRPr lang="en-US"/>
          </a:p>
        </p:txBody>
      </p:sp>
      <p:pic>
        <p:nvPicPr>
          <p:cNvPr id="2253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3819525"/>
            <a:ext cx="7070725" cy="24288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993775" y="228600"/>
            <a:ext cx="7997825" cy="990600"/>
          </a:xfrm>
        </p:spPr>
        <p:txBody>
          <a:bodyPr/>
          <a:lstStyle/>
          <a:p>
            <a:r>
              <a:rPr lang="en-US" dirty="0" smtClean="0"/>
              <a:t>Static Implementation of Queue</a:t>
            </a:r>
            <a:endParaRPr lang="ur-PK" dirty="0" smtClean="0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8153400" cy="4495800"/>
          </a:xfrm>
        </p:spPr>
        <p:txBody>
          <a:bodyPr/>
          <a:lstStyle/>
          <a:p>
            <a:r>
              <a:rPr lang="en-US" sz="2800" dirty="0" smtClean="0"/>
              <a:t>When </a:t>
            </a:r>
            <a:r>
              <a:rPr lang="en-US" sz="2800" dirty="0" err="1" smtClean="0"/>
              <a:t>dequeuing</a:t>
            </a:r>
            <a:r>
              <a:rPr lang="en-US" sz="2800" dirty="0" smtClean="0"/>
              <a:t>, the front index is fixed, and the element at the front of the queue is removed. Move all the elements after it by one position. (Inefficient!!!)</a:t>
            </a:r>
            <a:endParaRPr lang="ur-PK" sz="28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E6E32ECD-301B-4E92-9E3D-6E7C26FC3783}" type="slidenum">
              <a:rPr lang="en-US"/>
              <a:pPr>
                <a:defRPr/>
              </a:pPr>
              <a:t>15</a:t>
            </a:fld>
            <a:endParaRPr lang="en-US"/>
          </a:p>
        </p:txBody>
      </p:sp>
      <p:pic>
        <p:nvPicPr>
          <p:cNvPr id="2355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3733800"/>
            <a:ext cx="7467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990600" y="579438"/>
            <a:ext cx="7772400" cy="5635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Static Implementation of Queue</a:t>
            </a:r>
            <a:endParaRPr lang="ur-PK" dirty="0" smtClean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990600" y="1570038"/>
            <a:ext cx="8229600" cy="5135562"/>
          </a:xfrm>
        </p:spPr>
        <p:txBody>
          <a:bodyPr>
            <a:normAutofit/>
          </a:bodyPr>
          <a:lstStyle/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sz="2400" b="1" dirty="0" smtClean="0"/>
              <a:t>A better way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en-US" sz="2000" dirty="0" smtClean="0"/>
              <a:t>When an item is </a:t>
            </a:r>
            <a:r>
              <a:rPr lang="en-US" sz="2000" dirty="0" err="1" smtClean="0"/>
              <a:t>enqueued</a:t>
            </a:r>
            <a:r>
              <a:rPr lang="en-US" sz="2000" dirty="0" smtClean="0"/>
              <a:t>, the rear index moves forward.</a:t>
            </a:r>
          </a:p>
          <a:p>
            <a:pPr marL="640080" lvl="1" indent="-274320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en-US" sz="2000" dirty="0" smtClean="0"/>
              <a:t>When an item is </a:t>
            </a:r>
            <a:r>
              <a:rPr lang="en-US" sz="2000" dirty="0" err="1" smtClean="0"/>
              <a:t>dequeued</a:t>
            </a:r>
            <a:r>
              <a:rPr lang="en-US" sz="2000" dirty="0" smtClean="0"/>
              <a:t>, the front index also moves forward by one element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sz="2400" b="1" dirty="0" smtClean="0"/>
              <a:t>Example: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b="1" dirty="0" smtClean="0"/>
              <a:t>						</a:t>
            </a:r>
            <a:r>
              <a:rPr lang="en-US" sz="2000" b="1" dirty="0" smtClean="0"/>
              <a:t>X = occupied, and O = empty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sz="2200" dirty="0" smtClean="0"/>
              <a:t>(front) XXXXOOOOO (rear)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sz="2200" dirty="0" smtClean="0"/>
              <a:t>OXXXXOOOO (after 1 </a:t>
            </a:r>
            <a:r>
              <a:rPr lang="en-US" sz="2200" dirty="0" err="1" smtClean="0"/>
              <a:t>dequeue</a:t>
            </a:r>
            <a:r>
              <a:rPr lang="en-US" sz="2200" dirty="0" smtClean="0"/>
              <a:t>, and 1 </a:t>
            </a:r>
            <a:r>
              <a:rPr lang="en-US" sz="2200" dirty="0" err="1" smtClean="0"/>
              <a:t>enqueue</a:t>
            </a:r>
            <a:r>
              <a:rPr lang="en-US" sz="2200" dirty="0" smtClean="0"/>
              <a:t>)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sz="2200" dirty="0" smtClean="0"/>
              <a:t>OOXXXXXOO (after another </a:t>
            </a:r>
            <a:r>
              <a:rPr lang="en-US" sz="2200" dirty="0" err="1" smtClean="0"/>
              <a:t>dequeue</a:t>
            </a:r>
            <a:r>
              <a:rPr lang="en-US" sz="2200" dirty="0" smtClean="0"/>
              <a:t>, and 2 </a:t>
            </a:r>
            <a:r>
              <a:rPr lang="en-US" sz="2200" dirty="0" err="1" smtClean="0"/>
              <a:t>enqueues</a:t>
            </a:r>
            <a:r>
              <a:rPr lang="en-US" sz="2200" dirty="0" smtClean="0"/>
              <a:t>)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sz="2200" dirty="0" smtClean="0"/>
              <a:t>OOOOXXXXX (after 2 more </a:t>
            </a:r>
            <a:r>
              <a:rPr lang="en-US" sz="2200" dirty="0" err="1" smtClean="0"/>
              <a:t>dequeues</a:t>
            </a:r>
            <a:r>
              <a:rPr lang="en-US" sz="2200" dirty="0" smtClean="0"/>
              <a:t>, and 2 </a:t>
            </a:r>
            <a:r>
              <a:rPr lang="en-US" sz="2200" dirty="0" err="1" smtClean="0"/>
              <a:t>enqueues</a:t>
            </a:r>
            <a:r>
              <a:rPr lang="en-US" sz="2200" dirty="0" smtClean="0"/>
              <a:t>)</a:t>
            </a:r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endParaRPr lang="en-US" sz="2000" b="1" dirty="0" smtClean="0"/>
          </a:p>
          <a:p>
            <a:pPr marL="320040" indent="-320040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sz="2000" b="1" dirty="0" smtClean="0"/>
              <a:t>The problem here is that the rear index cannot move beyond the last element in the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CF854015-7AD8-457D-B742-174C27171012}" type="slidenum">
              <a:rPr lang="en-US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993775" y="228600"/>
            <a:ext cx="7997825" cy="990600"/>
          </a:xfrm>
        </p:spPr>
        <p:txBody>
          <a:bodyPr/>
          <a:lstStyle/>
          <a:p>
            <a:r>
              <a:rPr lang="en-US" dirty="0" smtClean="0"/>
              <a:t>Static Implementation of Queue</a:t>
            </a:r>
            <a:endParaRPr lang="ur-PK" dirty="0" smtClean="0"/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990600" y="1722438"/>
            <a:ext cx="8229600" cy="4754562"/>
          </a:xfrm>
        </p:spPr>
        <p:txBody>
          <a:bodyPr>
            <a:normAutofit lnSpcReduction="10000"/>
          </a:bodyPr>
          <a:lstStyle/>
          <a:p>
            <a:pPr marL="320040" indent="-320040" algn="just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sz="2400" dirty="0" smtClean="0"/>
              <a:t>To overcome the above limitation, we can use </a:t>
            </a:r>
            <a:r>
              <a:rPr lang="en-US" sz="2400" b="1" dirty="0" smtClean="0">
                <a:solidFill>
                  <a:srgbClr val="FF0000"/>
                </a:solidFill>
              </a:rPr>
              <a:t>circular array implementation of queues.</a:t>
            </a:r>
          </a:p>
          <a:p>
            <a:pPr marL="320040" indent="-320040" algn="just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sz="2400" dirty="0" smtClean="0"/>
              <a:t>In this implementation, first position follows the last.</a:t>
            </a:r>
          </a:p>
          <a:p>
            <a:pPr marL="320040" indent="-320040" algn="just" fontAlgn="auto">
              <a:spcAft>
                <a:spcPts val="0"/>
              </a:spcAft>
              <a:buFont typeface="Wingdings"/>
              <a:buChar char=""/>
              <a:defRPr/>
            </a:pPr>
            <a:endParaRPr lang="en-US" sz="2400" dirty="0" smtClean="0"/>
          </a:p>
          <a:p>
            <a:pPr marL="320040" indent="-320040" algn="just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sz="2400" b="1" dirty="0" smtClean="0"/>
              <a:t>When an element moves past the end of a circular array, it wraps around to the beginning, </a:t>
            </a:r>
            <a:r>
              <a:rPr lang="en-US" sz="2400" b="1" dirty="0" err="1" smtClean="0"/>
              <a:t>e.g</a:t>
            </a:r>
            <a:endParaRPr lang="en-US" sz="2400" b="1" dirty="0" smtClean="0"/>
          </a:p>
          <a:p>
            <a:pPr marL="640080" lvl="1" indent="-274320" algn="just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ur-PK" sz="2000" dirty="0" smtClean="0"/>
              <a:t> </a:t>
            </a:r>
            <a:r>
              <a:rPr lang="en-US" sz="2200" dirty="0" smtClean="0"/>
              <a:t>OOOOO7963 -&gt;4OOOO7963 (after </a:t>
            </a:r>
            <a:r>
              <a:rPr lang="en-US" sz="2200" dirty="0" err="1" smtClean="0"/>
              <a:t>Enqueue</a:t>
            </a:r>
            <a:r>
              <a:rPr lang="en-US" sz="2200" dirty="0" smtClean="0"/>
              <a:t>(4))</a:t>
            </a:r>
          </a:p>
          <a:p>
            <a:pPr marL="640080" lvl="1" indent="-274320" algn="just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en-US" sz="2200" dirty="0" smtClean="0"/>
              <a:t>After </a:t>
            </a:r>
            <a:r>
              <a:rPr lang="en-US" sz="2200" dirty="0" err="1" smtClean="0"/>
              <a:t>Enqueue</a:t>
            </a:r>
            <a:r>
              <a:rPr lang="en-US" sz="2200" dirty="0" smtClean="0"/>
              <a:t>(4), the rear index moves from 3 to 4.</a:t>
            </a:r>
          </a:p>
          <a:p>
            <a:pPr marL="640080" lvl="1" indent="-274320" algn="just" fontAlgn="auto">
              <a:spcAft>
                <a:spcPts val="0"/>
              </a:spcAft>
              <a:buFontTx/>
              <a:buNone/>
              <a:defRPr/>
            </a:pPr>
            <a:endParaRPr lang="en-US" sz="2200" dirty="0" smtClean="0"/>
          </a:p>
          <a:p>
            <a:pPr marL="320040" indent="-320040" algn="just" fontAlgn="auto">
              <a:spcAft>
                <a:spcPts val="0"/>
              </a:spcAft>
              <a:buFont typeface="Wingdings"/>
              <a:buChar char=""/>
              <a:defRPr/>
            </a:pPr>
            <a:r>
              <a:rPr lang="en-US" sz="2400" b="1" dirty="0" smtClean="0"/>
              <a:t>How to detect an empty or full queue, using a circular array algorithm?</a:t>
            </a:r>
          </a:p>
          <a:p>
            <a:pPr marL="640080" lvl="1" indent="-274320" algn="just" fontAlgn="auto">
              <a:spcAft>
                <a:spcPts val="0"/>
              </a:spcAft>
              <a:buFont typeface="Wingdings 2"/>
              <a:buChar char=""/>
              <a:defRPr/>
            </a:pPr>
            <a:r>
              <a:rPr lang="en-US" sz="2200" dirty="0" smtClean="0"/>
              <a:t>Use a counter of the number of elements in the queue.</a:t>
            </a:r>
            <a:endParaRPr lang="ur-PK" sz="22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98F52041-04DB-4CFE-BBED-7699ED967973}" type="slidenum">
              <a:rPr lang="en-US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1146175" y="228600"/>
            <a:ext cx="5559425" cy="990600"/>
          </a:xfrm>
        </p:spPr>
        <p:txBody>
          <a:bodyPr/>
          <a:lstStyle/>
          <a:p>
            <a:r>
              <a:rPr lang="en-US" dirty="0" smtClean="0"/>
              <a:t>Circular Queue</a:t>
            </a:r>
            <a:endParaRPr lang="ur-PK" dirty="0" smtClean="0"/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6553200" y="6248400"/>
            <a:ext cx="2133600" cy="457200"/>
          </a:xfrm>
          <a:noFill/>
          <a:ln>
            <a:miter lim="800000"/>
            <a:headEnd/>
            <a:tailEnd/>
          </a:ln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6648E53-D97E-434A-85FA-3C6CACC8877B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/>
          </a:p>
        </p:txBody>
      </p:sp>
      <p:sp>
        <p:nvSpPr>
          <p:cNvPr id="26628" name="Oval 3"/>
          <p:cNvSpPr>
            <a:spLocks noChangeArrowheads="1"/>
          </p:cNvSpPr>
          <p:nvPr/>
        </p:nvSpPr>
        <p:spPr bwMode="auto">
          <a:xfrm>
            <a:off x="914400" y="2514600"/>
            <a:ext cx="2286000" cy="2209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ur-PK">
              <a:latin typeface="Tw Cen MT" pitchFamily="34" charset="0"/>
            </a:endParaRPr>
          </a:p>
        </p:txBody>
      </p:sp>
      <p:sp>
        <p:nvSpPr>
          <p:cNvPr id="26629" name="Oval 4"/>
          <p:cNvSpPr>
            <a:spLocks noChangeArrowheads="1"/>
          </p:cNvSpPr>
          <p:nvPr/>
        </p:nvSpPr>
        <p:spPr bwMode="auto">
          <a:xfrm>
            <a:off x="1508125" y="3124200"/>
            <a:ext cx="1082675" cy="104616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ur-PK">
              <a:latin typeface="Tw Cen MT" pitchFamily="34" charset="0"/>
            </a:endParaRPr>
          </a:p>
        </p:txBody>
      </p:sp>
      <p:sp>
        <p:nvSpPr>
          <p:cNvPr id="26630" name="Line 5"/>
          <p:cNvSpPr>
            <a:spLocks noChangeShapeType="1"/>
          </p:cNvSpPr>
          <p:nvPr/>
        </p:nvSpPr>
        <p:spPr bwMode="auto">
          <a:xfrm flipH="1">
            <a:off x="1447800" y="4038600"/>
            <a:ext cx="30480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31" name="Line 6"/>
          <p:cNvSpPr>
            <a:spLocks noChangeShapeType="1"/>
          </p:cNvSpPr>
          <p:nvPr/>
        </p:nvSpPr>
        <p:spPr bwMode="auto">
          <a:xfrm>
            <a:off x="2133600" y="4191000"/>
            <a:ext cx="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32" name="Line 7"/>
          <p:cNvSpPr>
            <a:spLocks noChangeShapeType="1"/>
          </p:cNvSpPr>
          <p:nvPr/>
        </p:nvSpPr>
        <p:spPr bwMode="auto">
          <a:xfrm>
            <a:off x="2438400" y="4038600"/>
            <a:ext cx="304800" cy="457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33" name="Line 8"/>
          <p:cNvSpPr>
            <a:spLocks noChangeShapeType="1"/>
          </p:cNvSpPr>
          <p:nvPr/>
        </p:nvSpPr>
        <p:spPr bwMode="auto">
          <a:xfrm>
            <a:off x="2590800" y="3733800"/>
            <a:ext cx="609600" cy="76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34" name="Line 9"/>
          <p:cNvSpPr>
            <a:spLocks noChangeShapeType="1"/>
          </p:cNvSpPr>
          <p:nvPr/>
        </p:nvSpPr>
        <p:spPr bwMode="auto">
          <a:xfrm flipV="1">
            <a:off x="2514600" y="3048000"/>
            <a:ext cx="5334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35" name="Line 10"/>
          <p:cNvSpPr>
            <a:spLocks noChangeShapeType="1"/>
          </p:cNvSpPr>
          <p:nvPr/>
        </p:nvSpPr>
        <p:spPr bwMode="auto">
          <a:xfrm flipV="1">
            <a:off x="2209800" y="2514600"/>
            <a:ext cx="15240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36" name="Line 11"/>
          <p:cNvSpPr>
            <a:spLocks noChangeShapeType="1"/>
          </p:cNvSpPr>
          <p:nvPr/>
        </p:nvSpPr>
        <p:spPr bwMode="auto">
          <a:xfrm flipH="1" flipV="1">
            <a:off x="1600200" y="26670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37" name="Line 12"/>
          <p:cNvSpPr>
            <a:spLocks noChangeShapeType="1"/>
          </p:cNvSpPr>
          <p:nvPr/>
        </p:nvSpPr>
        <p:spPr bwMode="auto">
          <a:xfrm flipH="1" flipV="1">
            <a:off x="990600" y="3200400"/>
            <a:ext cx="609600" cy="152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38" name="Line 13"/>
          <p:cNvSpPr>
            <a:spLocks noChangeShapeType="1"/>
          </p:cNvSpPr>
          <p:nvPr/>
        </p:nvSpPr>
        <p:spPr bwMode="auto">
          <a:xfrm flipH="1">
            <a:off x="990600" y="3810000"/>
            <a:ext cx="533400" cy="152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39" name="Freeform 14"/>
          <p:cNvSpPr>
            <a:spLocks/>
          </p:cNvSpPr>
          <p:nvPr/>
        </p:nvSpPr>
        <p:spPr bwMode="auto">
          <a:xfrm>
            <a:off x="1066800" y="3048000"/>
            <a:ext cx="660400" cy="1651000"/>
          </a:xfrm>
          <a:custGeom>
            <a:avLst/>
            <a:gdLst>
              <a:gd name="T0" fmla="*/ 0 w 416"/>
              <a:gd name="T1" fmla="*/ 0 h 1040"/>
              <a:gd name="T2" fmla="*/ 2147483647 w 416"/>
              <a:gd name="T3" fmla="*/ 2147483647 h 1040"/>
              <a:gd name="T4" fmla="*/ 0 60000 65536"/>
              <a:gd name="T5" fmla="*/ 0 60000 65536"/>
              <a:gd name="T6" fmla="*/ 0 w 416"/>
              <a:gd name="T7" fmla="*/ 0 h 1040"/>
              <a:gd name="T8" fmla="*/ 416 w 416"/>
              <a:gd name="T9" fmla="*/ 1040 h 104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16" h="1040">
                <a:moveTo>
                  <a:pt x="0" y="0"/>
                </a:moveTo>
                <a:lnTo>
                  <a:pt x="416" y="104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ur-PK">
              <a:latin typeface="Tw Cen MT" pitchFamily="34" charset="0"/>
            </a:endParaRPr>
          </a:p>
        </p:txBody>
      </p:sp>
      <p:sp>
        <p:nvSpPr>
          <p:cNvPr id="26640" name="Line 15"/>
          <p:cNvSpPr>
            <a:spLocks noChangeShapeType="1"/>
          </p:cNvSpPr>
          <p:nvPr/>
        </p:nvSpPr>
        <p:spPr bwMode="auto">
          <a:xfrm>
            <a:off x="1295400" y="28194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41" name="Line 16"/>
          <p:cNvSpPr>
            <a:spLocks noChangeShapeType="1"/>
          </p:cNvSpPr>
          <p:nvPr/>
        </p:nvSpPr>
        <p:spPr bwMode="auto">
          <a:xfrm>
            <a:off x="1828800" y="4114800"/>
            <a:ext cx="228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42" name="Freeform 17"/>
          <p:cNvSpPr>
            <a:spLocks/>
          </p:cNvSpPr>
          <p:nvPr/>
        </p:nvSpPr>
        <p:spPr bwMode="auto">
          <a:xfrm>
            <a:off x="939800" y="3302000"/>
            <a:ext cx="431800" cy="1193800"/>
          </a:xfrm>
          <a:custGeom>
            <a:avLst/>
            <a:gdLst>
              <a:gd name="T0" fmla="*/ 0 w 272"/>
              <a:gd name="T1" fmla="*/ 0 h 752"/>
              <a:gd name="T2" fmla="*/ 2147483647 w 272"/>
              <a:gd name="T3" fmla="*/ 2147483647 h 752"/>
              <a:gd name="T4" fmla="*/ 0 60000 65536"/>
              <a:gd name="T5" fmla="*/ 0 60000 65536"/>
              <a:gd name="T6" fmla="*/ 0 w 272"/>
              <a:gd name="T7" fmla="*/ 0 h 752"/>
              <a:gd name="T8" fmla="*/ 272 w 272"/>
              <a:gd name="T9" fmla="*/ 752 h 75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72" h="752">
                <a:moveTo>
                  <a:pt x="0" y="0"/>
                </a:moveTo>
                <a:lnTo>
                  <a:pt x="272" y="752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ur-PK">
              <a:latin typeface="Tw Cen MT" pitchFamily="34" charset="0"/>
            </a:endParaRPr>
          </a:p>
        </p:txBody>
      </p:sp>
      <p:sp>
        <p:nvSpPr>
          <p:cNvPr id="26643" name="Line 18"/>
          <p:cNvSpPr>
            <a:spLocks noChangeShapeType="1"/>
          </p:cNvSpPr>
          <p:nvPr/>
        </p:nvSpPr>
        <p:spPr bwMode="auto">
          <a:xfrm>
            <a:off x="1600200" y="2590800"/>
            <a:ext cx="15240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44" name="Line 19"/>
          <p:cNvSpPr>
            <a:spLocks noChangeShapeType="1"/>
          </p:cNvSpPr>
          <p:nvPr/>
        </p:nvSpPr>
        <p:spPr bwMode="auto">
          <a:xfrm>
            <a:off x="2209800" y="41910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45" name="Line 20"/>
          <p:cNvSpPr>
            <a:spLocks noChangeShapeType="1"/>
          </p:cNvSpPr>
          <p:nvPr/>
        </p:nvSpPr>
        <p:spPr bwMode="auto">
          <a:xfrm>
            <a:off x="1828800" y="2590800"/>
            <a:ext cx="228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46" name="Line 21"/>
          <p:cNvSpPr>
            <a:spLocks noChangeShapeType="1"/>
          </p:cNvSpPr>
          <p:nvPr/>
        </p:nvSpPr>
        <p:spPr bwMode="auto">
          <a:xfrm>
            <a:off x="2057400" y="2590800"/>
            <a:ext cx="304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47" name="Line 22"/>
          <p:cNvSpPr>
            <a:spLocks noChangeShapeType="1"/>
          </p:cNvSpPr>
          <p:nvPr/>
        </p:nvSpPr>
        <p:spPr bwMode="auto">
          <a:xfrm>
            <a:off x="2590800" y="38862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48" name="Line 23"/>
          <p:cNvSpPr>
            <a:spLocks noChangeShapeType="1"/>
          </p:cNvSpPr>
          <p:nvPr/>
        </p:nvSpPr>
        <p:spPr bwMode="auto">
          <a:xfrm>
            <a:off x="2362200" y="2590800"/>
            <a:ext cx="76200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49" name="Line 24"/>
          <p:cNvSpPr>
            <a:spLocks noChangeShapeType="1"/>
          </p:cNvSpPr>
          <p:nvPr/>
        </p:nvSpPr>
        <p:spPr bwMode="auto">
          <a:xfrm>
            <a:off x="2590800" y="2667000"/>
            <a:ext cx="609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50" name="Oval 25"/>
          <p:cNvSpPr>
            <a:spLocks noChangeArrowheads="1"/>
          </p:cNvSpPr>
          <p:nvPr/>
        </p:nvSpPr>
        <p:spPr bwMode="auto">
          <a:xfrm>
            <a:off x="5105400" y="2514600"/>
            <a:ext cx="2286000" cy="2209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ur-PK">
              <a:latin typeface="Tw Cen MT" pitchFamily="34" charset="0"/>
            </a:endParaRPr>
          </a:p>
        </p:txBody>
      </p:sp>
      <p:sp>
        <p:nvSpPr>
          <p:cNvPr id="26651" name="Oval 26"/>
          <p:cNvSpPr>
            <a:spLocks noChangeArrowheads="1"/>
          </p:cNvSpPr>
          <p:nvPr/>
        </p:nvSpPr>
        <p:spPr bwMode="auto">
          <a:xfrm>
            <a:off x="5699125" y="3124200"/>
            <a:ext cx="1082675" cy="104616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ur-PK">
              <a:latin typeface="Tw Cen MT" pitchFamily="34" charset="0"/>
            </a:endParaRPr>
          </a:p>
        </p:txBody>
      </p:sp>
      <p:sp>
        <p:nvSpPr>
          <p:cNvPr id="26652" name="Line 27"/>
          <p:cNvSpPr>
            <a:spLocks noChangeShapeType="1"/>
          </p:cNvSpPr>
          <p:nvPr/>
        </p:nvSpPr>
        <p:spPr bwMode="auto">
          <a:xfrm flipH="1">
            <a:off x="5638800" y="4038600"/>
            <a:ext cx="30480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53" name="Line 28"/>
          <p:cNvSpPr>
            <a:spLocks noChangeShapeType="1"/>
          </p:cNvSpPr>
          <p:nvPr/>
        </p:nvSpPr>
        <p:spPr bwMode="auto">
          <a:xfrm>
            <a:off x="6324600" y="4191000"/>
            <a:ext cx="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54" name="Line 29"/>
          <p:cNvSpPr>
            <a:spLocks noChangeShapeType="1"/>
          </p:cNvSpPr>
          <p:nvPr/>
        </p:nvSpPr>
        <p:spPr bwMode="auto">
          <a:xfrm>
            <a:off x="6629400" y="4038600"/>
            <a:ext cx="304800" cy="457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55" name="Line 30"/>
          <p:cNvSpPr>
            <a:spLocks noChangeShapeType="1"/>
          </p:cNvSpPr>
          <p:nvPr/>
        </p:nvSpPr>
        <p:spPr bwMode="auto">
          <a:xfrm>
            <a:off x="6781800" y="3733800"/>
            <a:ext cx="609600" cy="762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56" name="Line 31"/>
          <p:cNvSpPr>
            <a:spLocks noChangeShapeType="1"/>
          </p:cNvSpPr>
          <p:nvPr/>
        </p:nvSpPr>
        <p:spPr bwMode="auto">
          <a:xfrm flipV="1">
            <a:off x="6705600" y="3048000"/>
            <a:ext cx="5334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57" name="Line 32"/>
          <p:cNvSpPr>
            <a:spLocks noChangeShapeType="1"/>
          </p:cNvSpPr>
          <p:nvPr/>
        </p:nvSpPr>
        <p:spPr bwMode="auto">
          <a:xfrm flipV="1">
            <a:off x="6400800" y="2514600"/>
            <a:ext cx="15240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58" name="Line 33"/>
          <p:cNvSpPr>
            <a:spLocks noChangeShapeType="1"/>
          </p:cNvSpPr>
          <p:nvPr/>
        </p:nvSpPr>
        <p:spPr bwMode="auto">
          <a:xfrm flipH="1" flipV="1">
            <a:off x="5181600" y="3200400"/>
            <a:ext cx="609600" cy="152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59" name="Line 34"/>
          <p:cNvSpPr>
            <a:spLocks noChangeShapeType="1"/>
          </p:cNvSpPr>
          <p:nvPr/>
        </p:nvSpPr>
        <p:spPr bwMode="auto">
          <a:xfrm flipH="1">
            <a:off x="5181600" y="3810000"/>
            <a:ext cx="533400" cy="152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60" name="Line 35"/>
          <p:cNvSpPr>
            <a:spLocks noChangeShapeType="1"/>
          </p:cNvSpPr>
          <p:nvPr/>
        </p:nvSpPr>
        <p:spPr bwMode="auto">
          <a:xfrm>
            <a:off x="5791200" y="2590800"/>
            <a:ext cx="152400" cy="6096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61" name="Text Box 36"/>
          <p:cNvSpPr txBox="1">
            <a:spLocks noChangeArrowheads="1"/>
          </p:cNvSpPr>
          <p:nvPr/>
        </p:nvSpPr>
        <p:spPr bwMode="auto">
          <a:xfrm>
            <a:off x="762000" y="1676400"/>
            <a:ext cx="1295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i="1">
                <a:latin typeface="Tw Cen MT" pitchFamily="34" charset="0"/>
              </a:rPr>
              <a:t>Q.rear</a:t>
            </a:r>
          </a:p>
        </p:txBody>
      </p:sp>
      <p:sp>
        <p:nvSpPr>
          <p:cNvPr id="26662" name="Text Box 37"/>
          <p:cNvSpPr txBox="1">
            <a:spLocks noChangeArrowheads="1"/>
          </p:cNvSpPr>
          <p:nvPr/>
        </p:nvSpPr>
        <p:spPr bwMode="auto">
          <a:xfrm>
            <a:off x="2971800" y="1676400"/>
            <a:ext cx="1295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i="1">
                <a:latin typeface="Tw Cen MT" pitchFamily="34" charset="0"/>
              </a:rPr>
              <a:t>Q.front</a:t>
            </a:r>
          </a:p>
        </p:txBody>
      </p:sp>
      <p:sp>
        <p:nvSpPr>
          <p:cNvPr id="26663" name="Text Box 38"/>
          <p:cNvSpPr txBox="1">
            <a:spLocks noChangeArrowheads="1"/>
          </p:cNvSpPr>
          <p:nvPr/>
        </p:nvSpPr>
        <p:spPr bwMode="auto">
          <a:xfrm>
            <a:off x="5029200" y="1676400"/>
            <a:ext cx="1295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i="1" dirty="0" err="1">
                <a:latin typeface="Tw Cen MT" pitchFamily="34" charset="0"/>
              </a:rPr>
              <a:t>Q.rear</a:t>
            </a:r>
            <a:endParaRPr lang="en-US" sz="2800" i="1" dirty="0">
              <a:latin typeface="Tw Cen MT" pitchFamily="34" charset="0"/>
            </a:endParaRPr>
          </a:p>
        </p:txBody>
      </p:sp>
      <p:sp>
        <p:nvSpPr>
          <p:cNvPr id="26664" name="Text Box 39"/>
          <p:cNvSpPr txBox="1">
            <a:spLocks noChangeArrowheads="1"/>
          </p:cNvSpPr>
          <p:nvPr/>
        </p:nvSpPr>
        <p:spPr bwMode="auto">
          <a:xfrm>
            <a:off x="7162800" y="1676400"/>
            <a:ext cx="1295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i="1">
                <a:latin typeface="Tw Cen MT" pitchFamily="34" charset="0"/>
              </a:rPr>
              <a:t>Q.front</a:t>
            </a:r>
          </a:p>
        </p:txBody>
      </p:sp>
      <p:sp>
        <p:nvSpPr>
          <p:cNvPr id="26665" name="Line 40"/>
          <p:cNvSpPr>
            <a:spLocks noChangeShapeType="1"/>
          </p:cNvSpPr>
          <p:nvPr/>
        </p:nvSpPr>
        <p:spPr bwMode="auto">
          <a:xfrm>
            <a:off x="5791200" y="26670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66" name="Line 41"/>
          <p:cNvSpPr>
            <a:spLocks noChangeShapeType="1"/>
          </p:cNvSpPr>
          <p:nvPr/>
        </p:nvSpPr>
        <p:spPr bwMode="auto">
          <a:xfrm>
            <a:off x="6096000" y="2590800"/>
            <a:ext cx="152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67" name="Line 42"/>
          <p:cNvSpPr>
            <a:spLocks noChangeShapeType="1"/>
          </p:cNvSpPr>
          <p:nvPr/>
        </p:nvSpPr>
        <p:spPr bwMode="auto">
          <a:xfrm>
            <a:off x="6324600" y="2514600"/>
            <a:ext cx="76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68" name="Line 43"/>
          <p:cNvSpPr>
            <a:spLocks noChangeShapeType="1"/>
          </p:cNvSpPr>
          <p:nvPr/>
        </p:nvSpPr>
        <p:spPr bwMode="auto">
          <a:xfrm>
            <a:off x="5943600" y="2590800"/>
            <a:ext cx="152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69" name="Oval 44"/>
          <p:cNvSpPr>
            <a:spLocks noChangeArrowheads="1"/>
          </p:cNvSpPr>
          <p:nvPr/>
        </p:nvSpPr>
        <p:spPr bwMode="auto">
          <a:xfrm>
            <a:off x="914400" y="2514600"/>
            <a:ext cx="2286000" cy="2209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ur-PK" sz="2400" b="1">
              <a:latin typeface="Tw Cen MT" pitchFamily="34" charset="0"/>
            </a:endParaRPr>
          </a:p>
        </p:txBody>
      </p:sp>
      <p:sp>
        <p:nvSpPr>
          <p:cNvPr id="26670" name="Oval 45"/>
          <p:cNvSpPr>
            <a:spLocks noChangeArrowheads="1"/>
          </p:cNvSpPr>
          <p:nvPr/>
        </p:nvSpPr>
        <p:spPr bwMode="auto">
          <a:xfrm>
            <a:off x="1508125" y="3124200"/>
            <a:ext cx="1082675" cy="104616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ur-PK">
              <a:latin typeface="Tw Cen MT" pitchFamily="34" charset="0"/>
            </a:endParaRPr>
          </a:p>
        </p:txBody>
      </p:sp>
      <p:sp>
        <p:nvSpPr>
          <p:cNvPr id="26671" name="Line 46"/>
          <p:cNvSpPr>
            <a:spLocks noChangeShapeType="1"/>
          </p:cNvSpPr>
          <p:nvPr/>
        </p:nvSpPr>
        <p:spPr bwMode="auto">
          <a:xfrm flipH="1">
            <a:off x="1447800" y="40386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72" name="Line 47"/>
          <p:cNvSpPr>
            <a:spLocks noChangeShapeType="1"/>
          </p:cNvSpPr>
          <p:nvPr/>
        </p:nvSpPr>
        <p:spPr bwMode="auto">
          <a:xfrm>
            <a:off x="2133600" y="4191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73" name="Line 48"/>
          <p:cNvSpPr>
            <a:spLocks noChangeShapeType="1"/>
          </p:cNvSpPr>
          <p:nvPr/>
        </p:nvSpPr>
        <p:spPr bwMode="auto">
          <a:xfrm>
            <a:off x="2438400" y="40386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74" name="Line 49"/>
          <p:cNvSpPr>
            <a:spLocks noChangeShapeType="1"/>
          </p:cNvSpPr>
          <p:nvPr/>
        </p:nvSpPr>
        <p:spPr bwMode="auto">
          <a:xfrm>
            <a:off x="2590800" y="3733800"/>
            <a:ext cx="609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75" name="Line 50"/>
          <p:cNvSpPr>
            <a:spLocks noChangeShapeType="1"/>
          </p:cNvSpPr>
          <p:nvPr/>
        </p:nvSpPr>
        <p:spPr bwMode="auto">
          <a:xfrm flipV="1">
            <a:off x="2514600" y="30480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76" name="Line 51"/>
          <p:cNvSpPr>
            <a:spLocks noChangeShapeType="1"/>
          </p:cNvSpPr>
          <p:nvPr/>
        </p:nvSpPr>
        <p:spPr bwMode="auto">
          <a:xfrm flipV="1">
            <a:off x="2209800" y="2514600"/>
            <a:ext cx="152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77" name="Line 52"/>
          <p:cNvSpPr>
            <a:spLocks noChangeShapeType="1"/>
          </p:cNvSpPr>
          <p:nvPr/>
        </p:nvSpPr>
        <p:spPr bwMode="auto">
          <a:xfrm flipH="1" flipV="1">
            <a:off x="990600" y="3200400"/>
            <a:ext cx="609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78" name="Line 53"/>
          <p:cNvSpPr>
            <a:spLocks noChangeShapeType="1"/>
          </p:cNvSpPr>
          <p:nvPr/>
        </p:nvSpPr>
        <p:spPr bwMode="auto">
          <a:xfrm flipH="1">
            <a:off x="990600" y="3810000"/>
            <a:ext cx="533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79" name="Line 54"/>
          <p:cNvSpPr>
            <a:spLocks noChangeShapeType="1"/>
          </p:cNvSpPr>
          <p:nvPr/>
        </p:nvSpPr>
        <p:spPr bwMode="auto">
          <a:xfrm>
            <a:off x="1600200" y="2590800"/>
            <a:ext cx="152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80" name="Oval 55"/>
          <p:cNvSpPr>
            <a:spLocks noChangeArrowheads="1"/>
          </p:cNvSpPr>
          <p:nvPr/>
        </p:nvSpPr>
        <p:spPr bwMode="auto">
          <a:xfrm>
            <a:off x="5105400" y="2514600"/>
            <a:ext cx="2286000" cy="22098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ur-PK">
              <a:latin typeface="Tw Cen MT" pitchFamily="34" charset="0"/>
            </a:endParaRPr>
          </a:p>
        </p:txBody>
      </p:sp>
      <p:sp>
        <p:nvSpPr>
          <p:cNvPr id="26681" name="Oval 56"/>
          <p:cNvSpPr>
            <a:spLocks noChangeArrowheads="1"/>
          </p:cNvSpPr>
          <p:nvPr/>
        </p:nvSpPr>
        <p:spPr bwMode="auto">
          <a:xfrm>
            <a:off x="5699125" y="3124200"/>
            <a:ext cx="1082675" cy="104616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ur-PK">
              <a:latin typeface="Tw Cen MT" pitchFamily="34" charset="0"/>
            </a:endParaRPr>
          </a:p>
        </p:txBody>
      </p:sp>
      <p:sp>
        <p:nvSpPr>
          <p:cNvPr id="26682" name="Line 57"/>
          <p:cNvSpPr>
            <a:spLocks noChangeShapeType="1"/>
          </p:cNvSpPr>
          <p:nvPr/>
        </p:nvSpPr>
        <p:spPr bwMode="auto">
          <a:xfrm flipH="1">
            <a:off x="5638800" y="4038600"/>
            <a:ext cx="3048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83" name="Line 58"/>
          <p:cNvSpPr>
            <a:spLocks noChangeShapeType="1"/>
          </p:cNvSpPr>
          <p:nvPr/>
        </p:nvSpPr>
        <p:spPr bwMode="auto">
          <a:xfrm>
            <a:off x="6324600" y="4191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84" name="Line 59"/>
          <p:cNvSpPr>
            <a:spLocks noChangeShapeType="1"/>
          </p:cNvSpPr>
          <p:nvPr/>
        </p:nvSpPr>
        <p:spPr bwMode="auto">
          <a:xfrm>
            <a:off x="6629400" y="40386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85" name="Line 60"/>
          <p:cNvSpPr>
            <a:spLocks noChangeShapeType="1"/>
          </p:cNvSpPr>
          <p:nvPr/>
        </p:nvSpPr>
        <p:spPr bwMode="auto">
          <a:xfrm>
            <a:off x="6781800" y="3733800"/>
            <a:ext cx="609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86" name="Line 61"/>
          <p:cNvSpPr>
            <a:spLocks noChangeShapeType="1"/>
          </p:cNvSpPr>
          <p:nvPr/>
        </p:nvSpPr>
        <p:spPr bwMode="auto">
          <a:xfrm flipV="1">
            <a:off x="6705600" y="3048000"/>
            <a:ext cx="533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87" name="Line 62"/>
          <p:cNvSpPr>
            <a:spLocks noChangeShapeType="1"/>
          </p:cNvSpPr>
          <p:nvPr/>
        </p:nvSpPr>
        <p:spPr bwMode="auto">
          <a:xfrm flipV="1">
            <a:off x="6400800" y="2514600"/>
            <a:ext cx="152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88" name="Line 63"/>
          <p:cNvSpPr>
            <a:spLocks noChangeShapeType="1"/>
          </p:cNvSpPr>
          <p:nvPr/>
        </p:nvSpPr>
        <p:spPr bwMode="auto">
          <a:xfrm flipH="1" flipV="1">
            <a:off x="5181600" y="3200400"/>
            <a:ext cx="6096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89" name="Line 64"/>
          <p:cNvSpPr>
            <a:spLocks noChangeShapeType="1"/>
          </p:cNvSpPr>
          <p:nvPr/>
        </p:nvSpPr>
        <p:spPr bwMode="auto">
          <a:xfrm flipH="1">
            <a:off x="5181600" y="3810000"/>
            <a:ext cx="533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90" name="Line 65"/>
          <p:cNvSpPr>
            <a:spLocks noChangeShapeType="1"/>
          </p:cNvSpPr>
          <p:nvPr/>
        </p:nvSpPr>
        <p:spPr bwMode="auto">
          <a:xfrm>
            <a:off x="5791200" y="2590800"/>
            <a:ext cx="152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6691" name="Text Box 66"/>
          <p:cNvSpPr txBox="1">
            <a:spLocks noChangeArrowheads="1"/>
          </p:cNvSpPr>
          <p:nvPr/>
        </p:nvSpPr>
        <p:spPr bwMode="auto">
          <a:xfrm>
            <a:off x="762000" y="1676400"/>
            <a:ext cx="1295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i="1">
                <a:latin typeface="Tw Cen MT" pitchFamily="34" charset="0"/>
              </a:rPr>
              <a:t>Q.rear</a:t>
            </a:r>
          </a:p>
        </p:txBody>
      </p:sp>
      <p:sp>
        <p:nvSpPr>
          <p:cNvPr id="26692" name="Text Box 67"/>
          <p:cNvSpPr txBox="1">
            <a:spLocks noChangeArrowheads="1"/>
          </p:cNvSpPr>
          <p:nvPr/>
        </p:nvSpPr>
        <p:spPr bwMode="auto">
          <a:xfrm>
            <a:off x="2362200" y="28956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>
                <a:latin typeface="Tw Cen MT" pitchFamily="34" charset="0"/>
              </a:rPr>
              <a:t>a</a:t>
            </a:r>
          </a:p>
        </p:txBody>
      </p:sp>
      <p:sp>
        <p:nvSpPr>
          <p:cNvPr id="26693" name="Text Box 68"/>
          <p:cNvSpPr txBox="1">
            <a:spLocks noChangeArrowheads="1"/>
          </p:cNvSpPr>
          <p:nvPr/>
        </p:nvSpPr>
        <p:spPr bwMode="auto">
          <a:xfrm>
            <a:off x="2667000" y="33528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>
                <a:latin typeface="Tw Cen MT" pitchFamily="34" charset="0"/>
              </a:rPr>
              <a:t>b</a:t>
            </a:r>
          </a:p>
        </p:txBody>
      </p:sp>
      <p:sp>
        <p:nvSpPr>
          <p:cNvPr id="26694" name="Text Box 69"/>
          <p:cNvSpPr txBox="1">
            <a:spLocks noChangeArrowheads="1"/>
          </p:cNvSpPr>
          <p:nvPr/>
        </p:nvSpPr>
        <p:spPr bwMode="auto">
          <a:xfrm>
            <a:off x="2209800" y="42672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>
                <a:latin typeface="Tw Cen MT" pitchFamily="34" charset="0"/>
              </a:rPr>
              <a:t>d</a:t>
            </a:r>
          </a:p>
        </p:txBody>
      </p:sp>
      <p:sp>
        <p:nvSpPr>
          <p:cNvPr id="26695" name="Text Box 70"/>
          <p:cNvSpPr txBox="1">
            <a:spLocks noChangeArrowheads="1"/>
          </p:cNvSpPr>
          <p:nvPr/>
        </p:nvSpPr>
        <p:spPr bwMode="auto">
          <a:xfrm>
            <a:off x="2590800" y="38862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>
                <a:latin typeface="Tw Cen MT" pitchFamily="34" charset="0"/>
              </a:rPr>
              <a:t>c</a:t>
            </a:r>
          </a:p>
        </p:txBody>
      </p:sp>
      <p:sp>
        <p:nvSpPr>
          <p:cNvPr id="26696" name="Text Box 71"/>
          <p:cNvSpPr txBox="1">
            <a:spLocks noChangeArrowheads="1"/>
          </p:cNvSpPr>
          <p:nvPr/>
        </p:nvSpPr>
        <p:spPr bwMode="auto">
          <a:xfrm>
            <a:off x="1828800" y="25908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>
                <a:latin typeface="Tw Cen MT" pitchFamily="34" charset="0"/>
              </a:rPr>
              <a:t>i</a:t>
            </a:r>
          </a:p>
        </p:txBody>
      </p:sp>
      <p:sp>
        <p:nvSpPr>
          <p:cNvPr id="26697" name="Text Box 72"/>
          <p:cNvSpPr txBox="1">
            <a:spLocks noChangeArrowheads="1"/>
          </p:cNvSpPr>
          <p:nvPr/>
        </p:nvSpPr>
        <p:spPr bwMode="auto">
          <a:xfrm>
            <a:off x="1676400" y="42672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>
                <a:latin typeface="Tw Cen MT" pitchFamily="34" charset="0"/>
              </a:rPr>
              <a:t>e</a:t>
            </a:r>
          </a:p>
        </p:txBody>
      </p:sp>
      <p:sp>
        <p:nvSpPr>
          <p:cNvPr id="26698" name="Text Box 73"/>
          <p:cNvSpPr txBox="1">
            <a:spLocks noChangeArrowheads="1"/>
          </p:cNvSpPr>
          <p:nvPr/>
        </p:nvSpPr>
        <p:spPr bwMode="auto">
          <a:xfrm>
            <a:off x="1219200" y="28956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>
                <a:latin typeface="Tw Cen MT" pitchFamily="34" charset="0"/>
              </a:rPr>
              <a:t>h</a:t>
            </a:r>
          </a:p>
        </p:txBody>
      </p:sp>
      <p:sp>
        <p:nvSpPr>
          <p:cNvPr id="26699" name="Text Box 74"/>
          <p:cNvSpPr txBox="1">
            <a:spLocks noChangeArrowheads="1"/>
          </p:cNvSpPr>
          <p:nvPr/>
        </p:nvSpPr>
        <p:spPr bwMode="auto">
          <a:xfrm>
            <a:off x="990600" y="34290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>
                <a:latin typeface="Tw Cen MT" pitchFamily="34" charset="0"/>
              </a:rPr>
              <a:t>g</a:t>
            </a:r>
          </a:p>
        </p:txBody>
      </p:sp>
      <p:sp>
        <p:nvSpPr>
          <p:cNvPr id="26700" name="Text Box 75"/>
          <p:cNvSpPr txBox="1">
            <a:spLocks noChangeArrowheads="1"/>
          </p:cNvSpPr>
          <p:nvPr/>
        </p:nvSpPr>
        <p:spPr bwMode="auto">
          <a:xfrm>
            <a:off x="1143000" y="39624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>
                <a:latin typeface="Tw Cen MT" pitchFamily="34" charset="0"/>
              </a:rPr>
              <a:t>f</a:t>
            </a:r>
          </a:p>
        </p:txBody>
      </p:sp>
      <p:sp>
        <p:nvSpPr>
          <p:cNvPr id="26701" name="Text Box 76"/>
          <p:cNvSpPr txBox="1">
            <a:spLocks noChangeArrowheads="1"/>
          </p:cNvSpPr>
          <p:nvPr/>
        </p:nvSpPr>
        <p:spPr bwMode="auto">
          <a:xfrm>
            <a:off x="6019800" y="26670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>
                <a:latin typeface="Tw Cen MT" pitchFamily="34" charset="0"/>
              </a:rPr>
              <a:t>i</a:t>
            </a:r>
          </a:p>
        </p:txBody>
      </p:sp>
      <p:cxnSp>
        <p:nvCxnSpPr>
          <p:cNvPr id="26702" name="AutoShape 77"/>
          <p:cNvCxnSpPr>
            <a:cxnSpLocks noChangeShapeType="1"/>
            <a:stCxn id="26691" idx="2"/>
            <a:endCxn id="26669" idx="0"/>
          </p:cNvCxnSpPr>
          <p:nvPr/>
        </p:nvCxnSpPr>
        <p:spPr bwMode="auto">
          <a:xfrm rot="16200000" flipH="1">
            <a:off x="1574006" y="2031207"/>
            <a:ext cx="319087" cy="647700"/>
          </a:xfrm>
          <a:prstGeom prst="curvedConnector3">
            <a:avLst>
              <a:gd name="adj1" fmla="val 4975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6703" name="AutoShape 78"/>
          <p:cNvCxnSpPr>
            <a:cxnSpLocks noChangeShapeType="1"/>
            <a:stCxn id="26662" idx="1"/>
            <a:endCxn id="26669" idx="7"/>
          </p:cNvCxnSpPr>
          <p:nvPr/>
        </p:nvCxnSpPr>
        <p:spPr bwMode="auto">
          <a:xfrm rot="10800000" flipV="1">
            <a:off x="2865438" y="1936750"/>
            <a:ext cx="106362" cy="90170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6704" name="AutoShape 79"/>
          <p:cNvCxnSpPr>
            <a:cxnSpLocks noChangeShapeType="1"/>
            <a:stCxn id="26664" idx="1"/>
            <a:endCxn id="26680" idx="0"/>
          </p:cNvCxnSpPr>
          <p:nvPr/>
        </p:nvCxnSpPr>
        <p:spPr bwMode="auto">
          <a:xfrm rot="10800000" flipV="1">
            <a:off x="6248400" y="1936750"/>
            <a:ext cx="914400" cy="577850"/>
          </a:xfrm>
          <a:prstGeom prst="curvedConnector2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6705" name="AutoShape 80"/>
          <p:cNvCxnSpPr>
            <a:cxnSpLocks noChangeShapeType="1"/>
            <a:stCxn id="26663" idx="2"/>
            <a:endCxn id="26680" idx="0"/>
          </p:cNvCxnSpPr>
          <p:nvPr/>
        </p:nvCxnSpPr>
        <p:spPr bwMode="auto">
          <a:xfrm rot="16200000" flipH="1">
            <a:off x="5803106" y="2069307"/>
            <a:ext cx="319087" cy="571500"/>
          </a:xfrm>
          <a:prstGeom prst="curvedConnector3">
            <a:avLst>
              <a:gd name="adj1" fmla="val 49750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26706" name="Text Box 81"/>
          <p:cNvSpPr txBox="1">
            <a:spLocks noChangeArrowheads="1"/>
          </p:cNvSpPr>
          <p:nvPr/>
        </p:nvSpPr>
        <p:spPr bwMode="auto">
          <a:xfrm>
            <a:off x="914400" y="5029200"/>
            <a:ext cx="2438400" cy="116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Tw Cen MT" pitchFamily="34" charset="0"/>
              </a:rPr>
              <a:t>A Completely</a:t>
            </a:r>
          </a:p>
          <a:p>
            <a:pPr>
              <a:spcBef>
                <a:spcPct val="50000"/>
              </a:spcBef>
            </a:pPr>
            <a:r>
              <a:rPr lang="en-US" sz="2800">
                <a:latin typeface="Tw Cen MT" pitchFamily="34" charset="0"/>
              </a:rPr>
              <a:t> Filled Queue</a:t>
            </a:r>
          </a:p>
        </p:txBody>
      </p:sp>
      <p:sp>
        <p:nvSpPr>
          <p:cNvPr id="26707" name="Text Box 82"/>
          <p:cNvSpPr txBox="1">
            <a:spLocks noChangeArrowheads="1"/>
          </p:cNvSpPr>
          <p:nvPr/>
        </p:nvSpPr>
        <p:spPr bwMode="auto">
          <a:xfrm>
            <a:off x="5181600" y="5029200"/>
            <a:ext cx="3124200" cy="1160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>
                <a:latin typeface="Tw Cen MT" pitchFamily="34" charset="0"/>
              </a:rPr>
              <a:t>A Queue with</a:t>
            </a:r>
          </a:p>
          <a:p>
            <a:pPr>
              <a:spcBef>
                <a:spcPct val="50000"/>
              </a:spcBef>
            </a:pPr>
            <a:r>
              <a:rPr lang="en-US" sz="2800">
                <a:latin typeface="Tw Cen MT" pitchFamily="34" charset="0"/>
              </a:rPr>
              <a:t>Only 1 Element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990600" y="503238"/>
            <a:ext cx="73914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Circular Queue Implementation</a:t>
            </a:r>
            <a:endParaRPr lang="ur-PK" dirty="0" smtClean="0"/>
          </a:p>
        </p:txBody>
      </p:sp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914400" y="2133600"/>
            <a:ext cx="3810000" cy="3733800"/>
          </a:xfrm>
        </p:spPr>
        <p:txBody>
          <a:bodyPr/>
          <a:lstStyle/>
          <a:p>
            <a:pPr>
              <a:buFontTx/>
              <a:buNone/>
            </a:pPr>
            <a:r>
              <a:rPr lang="en-US" sz="2400" dirty="0" smtClean="0"/>
              <a:t>class </a:t>
            </a:r>
            <a:r>
              <a:rPr lang="en-US" sz="2400" dirty="0" err="1" smtClean="0"/>
              <a:t>CirQueue</a:t>
            </a:r>
            <a:endParaRPr lang="en-US" sz="2400" dirty="0" smtClean="0"/>
          </a:p>
          <a:p>
            <a:pPr>
              <a:buFontTx/>
              <a:buNone/>
            </a:pPr>
            <a:r>
              <a:rPr lang="en-US" sz="2400" dirty="0" smtClean="0"/>
              <a:t>{</a:t>
            </a:r>
          </a:p>
          <a:p>
            <a:pPr>
              <a:buFontTx/>
              <a:buNone/>
            </a:pPr>
            <a:r>
              <a:rPr lang="en-US" sz="2400" dirty="0" smtClean="0"/>
              <a:t>	private:</a:t>
            </a:r>
          </a:p>
          <a:p>
            <a:pPr>
              <a:buFontTx/>
              <a:buNone/>
            </a:pPr>
            <a:r>
              <a:rPr lang="en-US" sz="2400" dirty="0" smtClean="0"/>
              <a:t>   		</a:t>
            </a:r>
            <a:r>
              <a:rPr lang="en-US" sz="2400" dirty="0" err="1" smtClean="0"/>
              <a:t>int</a:t>
            </a:r>
            <a:r>
              <a:rPr lang="en-US" sz="2400" dirty="0" smtClean="0"/>
              <a:t> queue[5];</a:t>
            </a:r>
          </a:p>
          <a:p>
            <a:pPr>
              <a:buFontTx/>
              <a:buNone/>
            </a:pPr>
            <a:r>
              <a:rPr lang="en-US" sz="2400" dirty="0" smtClean="0"/>
              <a:t>      	</a:t>
            </a:r>
            <a:r>
              <a:rPr lang="en-US" sz="2400" dirty="0" err="1" smtClean="0"/>
              <a:t>int</a:t>
            </a:r>
            <a:r>
              <a:rPr lang="en-US" sz="2400" dirty="0" smtClean="0"/>
              <a:t> rear;</a:t>
            </a:r>
          </a:p>
          <a:p>
            <a:pPr>
              <a:buFontTx/>
              <a:buNone/>
            </a:pPr>
            <a:r>
              <a:rPr lang="en-US" sz="2400" dirty="0" smtClean="0"/>
              <a:t>      	</a:t>
            </a:r>
            <a:r>
              <a:rPr lang="en-US" sz="2400" dirty="0" err="1" smtClean="0"/>
              <a:t>int</a:t>
            </a:r>
            <a:r>
              <a:rPr lang="en-US" sz="2400" dirty="0" smtClean="0"/>
              <a:t> front;</a:t>
            </a:r>
          </a:p>
          <a:p>
            <a:pPr>
              <a:buFontTx/>
              <a:buNone/>
            </a:pPr>
            <a:r>
              <a:rPr lang="en-US" sz="2400" dirty="0" smtClean="0"/>
              <a:t>      	</a:t>
            </a:r>
            <a:r>
              <a:rPr lang="en-US" sz="2400" dirty="0" err="1" smtClean="0"/>
              <a:t>int</a:t>
            </a:r>
            <a:r>
              <a:rPr lang="en-US" sz="2400" dirty="0" smtClean="0"/>
              <a:t> </a:t>
            </a:r>
            <a:r>
              <a:rPr lang="en-US" sz="2400" dirty="0" err="1" smtClean="0"/>
              <a:t>maxSize</a:t>
            </a:r>
            <a:r>
              <a:rPr lang="en-US" sz="2400" dirty="0" smtClean="0"/>
              <a:t>;</a:t>
            </a:r>
          </a:p>
          <a:p>
            <a:pPr>
              <a:buFontTx/>
              <a:buNone/>
            </a:pPr>
            <a:r>
              <a:rPr lang="en-US" sz="2400" dirty="0" smtClean="0"/>
              <a:t>      	</a:t>
            </a:r>
            <a:r>
              <a:rPr lang="en-US" sz="2400" dirty="0" err="1" smtClean="0"/>
              <a:t>int</a:t>
            </a:r>
            <a:r>
              <a:rPr lang="en-US" sz="2400" dirty="0" smtClean="0"/>
              <a:t> counter;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C98C94F3-D4AF-4AE4-8786-4180B5D779FC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27652" name="Content Placeholder 2"/>
          <p:cNvSpPr txBox="1">
            <a:spLocks/>
          </p:cNvSpPr>
          <p:nvPr/>
        </p:nvSpPr>
        <p:spPr bwMode="auto">
          <a:xfrm>
            <a:off x="4953000" y="2133600"/>
            <a:ext cx="38100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19088" indent="-319088"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sz="2400">
                <a:latin typeface="Tw Cen MT" pitchFamily="34" charset="0"/>
              </a:rPr>
              <a:t>public:</a:t>
            </a:r>
          </a:p>
          <a:p>
            <a:pPr marL="319088" indent="-319088"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sz="2400">
                <a:latin typeface="Tw Cen MT" pitchFamily="34" charset="0"/>
              </a:rPr>
              <a:t>   		CirQueue();</a:t>
            </a:r>
          </a:p>
          <a:p>
            <a:pPr marL="319088" indent="-319088"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sz="2400">
                <a:latin typeface="Tw Cen MT" pitchFamily="34" charset="0"/>
              </a:rPr>
              <a:t>      	void enqueue();</a:t>
            </a:r>
          </a:p>
          <a:p>
            <a:pPr marL="319088" indent="-319088"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sz="2400">
                <a:latin typeface="Tw Cen MT" pitchFamily="34" charset="0"/>
              </a:rPr>
              <a:t>      	void dequeue();</a:t>
            </a:r>
          </a:p>
          <a:p>
            <a:pPr marL="319088" indent="-319088"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sz="2400">
                <a:latin typeface="Tw Cen MT" pitchFamily="34" charset="0"/>
              </a:rPr>
              <a:t>      	bool isEmpty();</a:t>
            </a:r>
          </a:p>
          <a:p>
            <a:pPr marL="319088" indent="-319088"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sz="2400">
                <a:latin typeface="Tw Cen MT" pitchFamily="34" charset="0"/>
              </a:rPr>
              <a:t>      	bool isFull();</a:t>
            </a:r>
          </a:p>
          <a:p>
            <a:pPr marL="319088" indent="-319088"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sz="2400">
                <a:latin typeface="Tw Cen MT" pitchFamily="34" charset="0"/>
              </a:rPr>
              <a:t>      	void display();</a:t>
            </a:r>
          </a:p>
          <a:p>
            <a:pPr marL="319088" indent="-319088">
              <a:spcBef>
                <a:spcPts val="700"/>
              </a:spcBef>
              <a:buClr>
                <a:schemeClr val="accent2"/>
              </a:buClr>
              <a:buSzPct val="60000"/>
            </a:pPr>
            <a:r>
              <a:rPr lang="en-US" sz="2400">
                <a:latin typeface="Tw Cen MT" pitchFamily="34" charset="0"/>
              </a:rPr>
              <a:t>};</a:t>
            </a:r>
            <a:endParaRPr lang="ur-PK" sz="2400">
              <a:latin typeface="Tw Cen MT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1066800" y="228600"/>
            <a:ext cx="4648200" cy="990600"/>
          </a:xfrm>
        </p:spPr>
        <p:txBody>
          <a:bodyPr/>
          <a:lstStyle/>
          <a:p>
            <a:r>
              <a:rPr lang="en-US" dirty="0" smtClean="0"/>
              <a:t>Constructor</a:t>
            </a:r>
            <a:endParaRPr lang="ur-PK" dirty="0" smtClean="0"/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2746375" y="1905000"/>
            <a:ext cx="3806825" cy="4191000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en-US" smtClean="0"/>
              <a:t>CirQueue::CirQueue()</a:t>
            </a:r>
          </a:p>
          <a:p>
            <a:pPr>
              <a:buFontTx/>
              <a:buNone/>
            </a:pPr>
            <a:r>
              <a:rPr lang="en-US" smtClean="0"/>
              <a:t>{</a:t>
            </a:r>
          </a:p>
          <a:p>
            <a:pPr>
              <a:buFontTx/>
              <a:buNone/>
            </a:pPr>
            <a:r>
              <a:rPr lang="en-US" smtClean="0"/>
              <a:t>	front = 0;</a:t>
            </a:r>
          </a:p>
          <a:p>
            <a:pPr>
              <a:buFontTx/>
              <a:buNone/>
            </a:pPr>
            <a:r>
              <a:rPr lang="en-US" smtClean="0"/>
              <a:t>   rear = -1;</a:t>
            </a:r>
          </a:p>
          <a:p>
            <a:pPr>
              <a:buFontTx/>
              <a:buNone/>
            </a:pPr>
            <a:r>
              <a:rPr lang="en-US" smtClean="0"/>
              <a:t>   maxSize = 5;</a:t>
            </a:r>
          </a:p>
          <a:p>
            <a:pPr>
              <a:buFontTx/>
              <a:buNone/>
            </a:pPr>
            <a:r>
              <a:rPr lang="en-US" smtClean="0"/>
              <a:t>   counter =0;</a:t>
            </a:r>
          </a:p>
          <a:p>
            <a:pPr>
              <a:buFontTx/>
              <a:buNone/>
            </a:pPr>
            <a:r>
              <a:rPr lang="en-US" smtClean="0"/>
              <a:t>}</a:t>
            </a:r>
            <a:endParaRPr lang="ur-PK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C7E6A5DA-C4A3-4465-8BF3-1A62F6EC2061}" type="slidenum">
              <a:rPr lang="en-US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1066800" y="427038"/>
            <a:ext cx="6477000" cy="563562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Enqueue</a:t>
            </a:r>
            <a:r>
              <a:rPr lang="en-US" dirty="0" smtClean="0"/>
              <a:t>( ) Function</a:t>
            </a:r>
            <a:endParaRPr lang="ur-PK" dirty="0" smtClean="0"/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2438400" y="1524000"/>
            <a:ext cx="5257800" cy="5181600"/>
          </a:xfrm>
        </p:spPr>
        <p:txBody>
          <a:bodyPr>
            <a:normAutofit lnSpcReduction="10000"/>
          </a:bodyPr>
          <a:lstStyle/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void </a:t>
            </a:r>
            <a:r>
              <a:rPr lang="en-US" sz="2400" dirty="0" err="1" smtClean="0"/>
              <a:t>CirQueue</a:t>
            </a:r>
            <a:r>
              <a:rPr lang="en-US" sz="2400" dirty="0" smtClean="0"/>
              <a:t>::</a:t>
            </a:r>
            <a:r>
              <a:rPr lang="en-US" sz="2400" dirty="0" err="1" smtClean="0"/>
              <a:t>enqueue</a:t>
            </a:r>
            <a:r>
              <a:rPr lang="en-US" sz="2400" dirty="0" smtClean="0"/>
              <a:t>()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{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	if ( </a:t>
            </a:r>
            <a:r>
              <a:rPr lang="en-US" sz="2400" dirty="0" err="1" smtClean="0"/>
              <a:t>isFull</a:t>
            </a:r>
            <a:r>
              <a:rPr lang="en-US" sz="2400" dirty="0" smtClean="0"/>
              <a:t>())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   	</a:t>
            </a:r>
            <a:r>
              <a:rPr lang="en-US" sz="2400" dirty="0" err="1" smtClean="0"/>
              <a:t>cout</a:t>
            </a:r>
            <a:r>
              <a:rPr lang="en-US" sz="2400" dirty="0" smtClean="0"/>
              <a:t>&lt;&lt;"queue is full";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   else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   {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      rear = (rear + 1) % </a:t>
            </a:r>
            <a:r>
              <a:rPr lang="en-US" sz="2400" dirty="0" err="1" smtClean="0"/>
              <a:t>maxSize</a:t>
            </a:r>
            <a:r>
              <a:rPr lang="en-US" sz="2400" dirty="0" smtClean="0"/>
              <a:t>;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      </a:t>
            </a:r>
            <a:r>
              <a:rPr lang="en-US" sz="2400" dirty="0" err="1" smtClean="0"/>
              <a:t>cout</a:t>
            </a:r>
            <a:r>
              <a:rPr lang="en-US" sz="2400" dirty="0" smtClean="0"/>
              <a:t>&lt;&lt;"Enter Data=";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      </a:t>
            </a:r>
            <a:r>
              <a:rPr lang="en-US" sz="2400" dirty="0" err="1" smtClean="0"/>
              <a:t>cin</a:t>
            </a:r>
            <a:r>
              <a:rPr lang="en-US" sz="2400" dirty="0" smtClean="0"/>
              <a:t>&gt;&gt; queue[rear];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      counter ++;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   }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}</a:t>
            </a:r>
            <a:endParaRPr lang="ur-PK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8070E6BF-421B-4878-8E8E-3757FBB92E14}" type="slidenum">
              <a:rPr lang="en-US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1146175" y="228600"/>
            <a:ext cx="6245225" cy="990600"/>
          </a:xfrm>
        </p:spPr>
        <p:txBody>
          <a:bodyPr/>
          <a:lstStyle/>
          <a:p>
            <a:r>
              <a:rPr lang="en-US" dirty="0" err="1" smtClean="0"/>
              <a:t>Dequeue</a:t>
            </a:r>
            <a:r>
              <a:rPr lang="en-US" dirty="0" smtClean="0"/>
              <a:t>( ) Function</a:t>
            </a:r>
            <a:endParaRPr lang="ur-PK" dirty="0" smtClean="0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1984375" y="1752600"/>
            <a:ext cx="5711825" cy="4419600"/>
          </a:xfrm>
        </p:spPr>
        <p:txBody>
          <a:bodyPr>
            <a:normAutofit fontScale="92500" lnSpcReduction="20000"/>
          </a:bodyPr>
          <a:lstStyle/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void </a:t>
            </a:r>
            <a:r>
              <a:rPr lang="en-US" sz="2400" dirty="0" err="1" smtClean="0"/>
              <a:t>CirQueue</a:t>
            </a:r>
            <a:r>
              <a:rPr lang="en-US" sz="2400" dirty="0" smtClean="0"/>
              <a:t>::</a:t>
            </a:r>
            <a:r>
              <a:rPr lang="en-US" sz="2400" dirty="0" err="1" smtClean="0"/>
              <a:t>dequeue</a:t>
            </a:r>
            <a:r>
              <a:rPr lang="en-US" sz="2400" dirty="0" smtClean="0"/>
              <a:t>()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{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	if ( </a:t>
            </a:r>
            <a:r>
              <a:rPr lang="en-US" sz="2400" dirty="0" err="1" smtClean="0"/>
              <a:t>isEmpty</a:t>
            </a:r>
            <a:r>
              <a:rPr lang="en-US" sz="2400" dirty="0" smtClean="0"/>
              <a:t>())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   	</a:t>
            </a:r>
            <a:r>
              <a:rPr lang="en-US" sz="2400" dirty="0" err="1" smtClean="0"/>
              <a:t>cout</a:t>
            </a:r>
            <a:r>
              <a:rPr lang="en-US" sz="2400" dirty="0" smtClean="0"/>
              <a:t>&lt;&lt;"Queue is empty";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   else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   {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    	</a:t>
            </a:r>
            <a:r>
              <a:rPr lang="en-US" sz="2400" dirty="0" err="1" smtClean="0"/>
              <a:t>cout</a:t>
            </a:r>
            <a:r>
              <a:rPr lang="en-US" sz="2400" dirty="0" smtClean="0"/>
              <a:t>&lt;&lt; "Element deleted="&lt;&lt;queue[front];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      front = (front +1)% </a:t>
            </a:r>
            <a:r>
              <a:rPr lang="en-US" sz="2400" dirty="0" err="1" smtClean="0"/>
              <a:t>maxSize</a:t>
            </a:r>
            <a:r>
              <a:rPr lang="en-US" sz="2400" dirty="0" smtClean="0"/>
              <a:t>;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      counter --;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   }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}</a:t>
            </a:r>
            <a:endParaRPr lang="ur-PK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296E0864-2170-474B-8DA0-35563E65D080}" type="slidenum">
              <a:rPr lang="en-US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1066800" y="228600"/>
            <a:ext cx="5791200" cy="990600"/>
          </a:xfrm>
        </p:spPr>
        <p:txBody>
          <a:bodyPr/>
          <a:lstStyle/>
          <a:p>
            <a:r>
              <a:rPr lang="en-US" dirty="0" smtClean="0"/>
              <a:t>Display( ) Function</a:t>
            </a:r>
            <a:endParaRPr lang="ur-PK" dirty="0" smtClean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1447800" y="1676400"/>
            <a:ext cx="6550025" cy="4495800"/>
          </a:xfrm>
        </p:spPr>
        <p:txBody>
          <a:bodyPr>
            <a:normAutofit fontScale="92500" lnSpcReduction="10000"/>
          </a:bodyPr>
          <a:lstStyle/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void </a:t>
            </a:r>
            <a:r>
              <a:rPr lang="en-US" sz="2400" dirty="0" err="1" smtClean="0"/>
              <a:t>CirQueue</a:t>
            </a:r>
            <a:r>
              <a:rPr lang="en-US" sz="2400" dirty="0" smtClean="0"/>
              <a:t>::display()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{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	if(</a:t>
            </a:r>
            <a:r>
              <a:rPr lang="en-US" sz="2400" dirty="0" err="1" smtClean="0"/>
              <a:t>isEmpty</a:t>
            </a:r>
            <a:r>
              <a:rPr lang="en-US" sz="2400" dirty="0" smtClean="0"/>
              <a:t>())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   	</a:t>
            </a:r>
            <a:r>
              <a:rPr lang="en-US" sz="2400" dirty="0" err="1" smtClean="0"/>
              <a:t>cout</a:t>
            </a:r>
            <a:r>
              <a:rPr lang="en-US" sz="2400" dirty="0" smtClean="0"/>
              <a:t>&lt;&lt;"Queue is empty";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   else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   {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		for (</a:t>
            </a:r>
            <a:r>
              <a:rPr lang="en-US" sz="2400" dirty="0" err="1" smtClean="0"/>
              <a:t>int</a:t>
            </a:r>
            <a:r>
              <a:rPr lang="en-US" sz="2400" dirty="0" smtClean="0"/>
              <a:t> </a:t>
            </a:r>
            <a:r>
              <a:rPr lang="en-US" sz="2400" dirty="0" err="1" smtClean="0"/>
              <a:t>i</a:t>
            </a:r>
            <a:r>
              <a:rPr lang="en-US" sz="2400" dirty="0" smtClean="0"/>
              <a:t>=0; </a:t>
            </a:r>
            <a:r>
              <a:rPr lang="en-US" sz="2400" dirty="0" err="1" smtClean="0"/>
              <a:t>i</a:t>
            </a:r>
            <a:r>
              <a:rPr lang="en-US" sz="2400" dirty="0" smtClean="0"/>
              <a:t>&lt;counter; </a:t>
            </a:r>
            <a:r>
              <a:rPr lang="en-US" sz="2400" dirty="0" err="1" smtClean="0"/>
              <a:t>i</a:t>
            </a:r>
            <a:r>
              <a:rPr lang="en-US" sz="2400" dirty="0" smtClean="0"/>
              <a:t>++)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   		</a:t>
            </a:r>
            <a:r>
              <a:rPr lang="en-US" sz="2400" dirty="0" err="1" smtClean="0"/>
              <a:t>cout</a:t>
            </a:r>
            <a:r>
              <a:rPr lang="en-US" sz="2400" dirty="0" smtClean="0"/>
              <a:t>&lt;&lt; queue[(front+ </a:t>
            </a:r>
            <a:r>
              <a:rPr lang="en-US" sz="2400" dirty="0" err="1" smtClean="0"/>
              <a:t>i</a:t>
            </a:r>
            <a:r>
              <a:rPr lang="en-US" sz="2400" dirty="0" smtClean="0"/>
              <a:t>)% </a:t>
            </a:r>
            <a:r>
              <a:rPr lang="en-US" sz="2400" dirty="0" err="1" smtClean="0"/>
              <a:t>maxSize</a:t>
            </a:r>
            <a:r>
              <a:rPr lang="en-US" sz="2400" dirty="0" smtClean="0"/>
              <a:t>]&lt;&lt;</a:t>
            </a:r>
            <a:r>
              <a:rPr lang="en-US" sz="2400" dirty="0" err="1" smtClean="0"/>
              <a:t>endl</a:t>
            </a:r>
            <a:r>
              <a:rPr lang="en-US" sz="2400" dirty="0" smtClean="0"/>
              <a:t>;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   }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   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}</a:t>
            </a:r>
            <a:endParaRPr lang="ur-PK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94AC0CDA-45DE-4223-98F3-ABB925B6105C}" type="slidenum">
              <a:rPr lang="en-US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1219200" y="457200"/>
            <a:ext cx="6553200" cy="68580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isEmpty</a:t>
            </a:r>
            <a:r>
              <a:rPr lang="en-US" dirty="0" smtClean="0"/>
              <a:t>( ) and </a:t>
            </a:r>
            <a:r>
              <a:rPr lang="en-US" dirty="0" err="1" smtClean="0"/>
              <a:t>isFull</a:t>
            </a:r>
            <a:r>
              <a:rPr lang="en-US" dirty="0" smtClean="0"/>
              <a:t>( )</a:t>
            </a:r>
            <a:endParaRPr lang="ur-PK" dirty="0" smtClean="0"/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>
          <a:xfrm>
            <a:off x="2209800" y="1524000"/>
            <a:ext cx="4343400" cy="5029200"/>
          </a:xfrm>
        </p:spPr>
        <p:txBody>
          <a:bodyPr>
            <a:normAutofit fontScale="92500" lnSpcReduction="20000"/>
          </a:bodyPr>
          <a:lstStyle/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err="1" smtClean="0"/>
              <a:t>bool</a:t>
            </a:r>
            <a:r>
              <a:rPr lang="en-US" sz="2400" dirty="0" smtClean="0"/>
              <a:t> </a:t>
            </a:r>
            <a:r>
              <a:rPr lang="en-US" sz="2400" dirty="0" err="1" smtClean="0"/>
              <a:t>CirQueue</a:t>
            </a:r>
            <a:r>
              <a:rPr lang="en-US" sz="2400" dirty="0" smtClean="0"/>
              <a:t>::</a:t>
            </a:r>
            <a:r>
              <a:rPr lang="en-US" sz="2400" dirty="0" err="1" smtClean="0"/>
              <a:t>isEmpty</a:t>
            </a:r>
            <a:r>
              <a:rPr lang="en-US" sz="2400" dirty="0" smtClean="0"/>
              <a:t>()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{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	if (counter == 0)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   	return true;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   else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   	return false;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}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err="1" smtClean="0"/>
              <a:t>bool</a:t>
            </a:r>
            <a:r>
              <a:rPr lang="en-US" sz="2400" dirty="0" smtClean="0"/>
              <a:t> </a:t>
            </a:r>
            <a:r>
              <a:rPr lang="en-US" sz="2400" dirty="0" err="1" smtClean="0"/>
              <a:t>CirQueue</a:t>
            </a:r>
            <a:r>
              <a:rPr lang="en-US" sz="2400" dirty="0" smtClean="0"/>
              <a:t>::</a:t>
            </a:r>
            <a:r>
              <a:rPr lang="en-US" sz="2400" dirty="0" err="1" smtClean="0"/>
              <a:t>isFull</a:t>
            </a:r>
            <a:r>
              <a:rPr lang="en-US" sz="2400" dirty="0" smtClean="0"/>
              <a:t>()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{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	if (counter &lt; </a:t>
            </a:r>
            <a:r>
              <a:rPr lang="en-US" sz="2400" dirty="0" err="1" smtClean="0"/>
              <a:t>maxSize</a:t>
            </a:r>
            <a:r>
              <a:rPr lang="en-US" sz="2400" dirty="0" smtClean="0"/>
              <a:t>)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   	return false;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   else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   	return true;</a:t>
            </a:r>
          </a:p>
          <a:p>
            <a:pPr marL="320040" indent="-320040" fontAlgn="auto">
              <a:spcAft>
                <a:spcPts val="0"/>
              </a:spcAft>
              <a:buFontTx/>
              <a:buNone/>
              <a:defRPr/>
            </a:pPr>
            <a:r>
              <a:rPr lang="en-US" sz="2400" dirty="0" smtClean="0"/>
              <a:t>}</a:t>
            </a:r>
            <a:endParaRPr lang="ur-PK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DB13237F-19FA-4C79-985A-EA533F1125A0}" type="slidenum">
              <a:rPr lang="en-US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Title 2"/>
          <p:cNvSpPr>
            <a:spLocks noGrp="1"/>
          </p:cNvSpPr>
          <p:nvPr>
            <p:ph type="title"/>
          </p:nvPr>
        </p:nvSpPr>
        <p:spPr>
          <a:xfrm>
            <a:off x="2578392" y="1905000"/>
            <a:ext cx="6400800" cy="914400"/>
          </a:xfrm>
        </p:spPr>
        <p:txBody>
          <a:bodyPr/>
          <a:lstStyle/>
          <a:p>
            <a:r>
              <a:rPr lang="en-US" dirty="0" smtClean="0"/>
              <a:t>Priority Queues</a:t>
            </a:r>
          </a:p>
        </p:txBody>
      </p:sp>
      <p:sp>
        <p:nvSpPr>
          <p:cNvPr id="33794" name="Text Placeholder 1"/>
          <p:cNvSpPr>
            <a:spLocks noGrp="1"/>
          </p:cNvSpPr>
          <p:nvPr>
            <p:ph type="body" idx="1"/>
          </p:nvPr>
        </p:nvSpPr>
        <p:spPr>
          <a:xfrm>
            <a:off x="1944687" y="3124200"/>
            <a:ext cx="7123113" cy="2895600"/>
          </a:xfrm>
        </p:spPr>
        <p:txBody>
          <a:bodyPr>
            <a:normAutofit fontScale="92500" lnSpcReduction="10000"/>
          </a:bodyPr>
          <a:lstStyle/>
          <a:p>
            <a:pPr lvl="1">
              <a:lnSpc>
                <a:spcPct val="90000"/>
              </a:lnSpc>
              <a:buClr>
                <a:schemeClr val="bg1"/>
              </a:buClr>
              <a:buFont typeface="Wingdings" pitchFamily="2" charset="2"/>
              <a:buChar char="q"/>
            </a:pPr>
            <a:r>
              <a:rPr lang="en-US" sz="2900" dirty="0" smtClean="0">
                <a:solidFill>
                  <a:schemeClr val="tx1"/>
                </a:solidFill>
              </a:rPr>
              <a:t>A priority queue is a data structure in which prioritized insertion and deletion operations on elements can be performed according to their priority values.</a:t>
            </a:r>
          </a:p>
          <a:p>
            <a:pPr lvl="1">
              <a:lnSpc>
                <a:spcPct val="90000"/>
              </a:lnSpc>
              <a:buClr>
                <a:schemeClr val="bg1"/>
              </a:buClr>
              <a:buFont typeface="Wingdings" pitchFamily="2" charset="2"/>
              <a:buChar char="q"/>
            </a:pPr>
            <a:r>
              <a:rPr lang="en-US" sz="2900" dirty="0" smtClean="0">
                <a:solidFill>
                  <a:schemeClr val="tx1"/>
                </a:solidFill>
              </a:rPr>
              <a:t>There are two types of priority queues:</a:t>
            </a:r>
          </a:p>
          <a:p>
            <a:pPr marL="1143000" lvl="2">
              <a:lnSpc>
                <a:spcPct val="90000"/>
              </a:lnSpc>
              <a:buClr>
                <a:schemeClr val="bg1"/>
              </a:buClr>
              <a:buFont typeface="Wingdings" pitchFamily="2" charset="2"/>
              <a:buChar char="q"/>
            </a:pPr>
            <a:r>
              <a:rPr lang="en-US" sz="2000" dirty="0" smtClean="0">
                <a:solidFill>
                  <a:schemeClr val="tx1"/>
                </a:solidFill>
              </a:rPr>
              <a:t>Ascending Priority queue</a:t>
            </a:r>
          </a:p>
          <a:p>
            <a:pPr marL="1143000" lvl="2">
              <a:lnSpc>
                <a:spcPct val="90000"/>
              </a:lnSpc>
              <a:buClr>
                <a:schemeClr val="bg1"/>
              </a:buClr>
              <a:buFont typeface="Wingdings" pitchFamily="2" charset="2"/>
              <a:buChar char="q"/>
            </a:pPr>
            <a:r>
              <a:rPr lang="en-US" sz="2000" dirty="0" smtClean="0">
                <a:solidFill>
                  <a:schemeClr val="tx1"/>
                </a:solidFill>
              </a:rPr>
              <a:t>Descending Priority queue</a:t>
            </a:r>
            <a:endParaRPr lang="en-US" sz="2800" dirty="0" smtClean="0">
              <a:solidFill>
                <a:schemeClr val="tx1"/>
              </a:solidFill>
            </a:endParaRPr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lIns="91440" tIns="45720" rIns="91440" bIns="45720" numCol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AF9D468-DDC3-4C14-95D0-57B4A3D5486A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4495800" cy="1143000"/>
          </a:xfrm>
        </p:spPr>
        <p:txBody>
          <a:bodyPr/>
          <a:lstStyle/>
          <a:p>
            <a:r>
              <a:rPr lang="en-US" dirty="0" smtClean="0"/>
              <a:t>Introduction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00200"/>
            <a:ext cx="8229600" cy="4267200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 smtClean="0"/>
              <a:t>Stack and Queue are data structures whose elements are ordered based on a sequence in which they have been inserted.</a:t>
            </a:r>
          </a:p>
          <a:p>
            <a:pPr algn="just"/>
            <a:r>
              <a:rPr lang="en-US" dirty="0" smtClean="0"/>
              <a:t>E.g. pop() function removes the item pushed last in the stack.</a:t>
            </a:r>
          </a:p>
          <a:p>
            <a:pPr algn="just"/>
            <a:r>
              <a:rPr lang="en-US" dirty="0" smtClean="0"/>
              <a:t>Intrinsic order among the elements themselves (e.g. numeric or alphabetic order etc.) is ignored in a stack or a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61D83F77-B93B-450A-A988-56A94A6BFA8B}" type="slidenum">
              <a:rPr lang="en-US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4"/>
          <p:cNvSpPr>
            <a:spLocks noGrp="1" noChangeArrowheads="1"/>
          </p:cNvSpPr>
          <p:nvPr>
            <p:ph type="title"/>
          </p:nvPr>
        </p:nvSpPr>
        <p:spPr>
          <a:xfrm>
            <a:off x="1069975" y="228600"/>
            <a:ext cx="6931025" cy="990600"/>
          </a:xfrm>
        </p:spPr>
        <p:txBody>
          <a:bodyPr/>
          <a:lstStyle/>
          <a:p>
            <a:r>
              <a:rPr lang="en-US" dirty="0" smtClean="0"/>
              <a:t>Types of Priority Queue</a:t>
            </a:r>
          </a:p>
        </p:txBody>
      </p:sp>
      <p:sp>
        <p:nvSpPr>
          <p:cNvPr id="35843" name="Rectangle 5"/>
          <p:cNvSpPr>
            <a:spLocks noGrp="1" noChangeArrowheads="1"/>
          </p:cNvSpPr>
          <p:nvPr>
            <p:ph idx="1"/>
          </p:nvPr>
        </p:nvSpPr>
        <p:spPr>
          <a:xfrm>
            <a:off x="838200" y="1600200"/>
            <a:ext cx="8382000" cy="4525963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b="1" u="sng" dirty="0" smtClean="0"/>
              <a:t>Ascending Priority queue</a:t>
            </a:r>
            <a:r>
              <a:rPr lang="en-US" dirty="0" smtClean="0"/>
              <a:t>: a collection of items into which items can be inserted </a:t>
            </a:r>
            <a:r>
              <a:rPr lang="en-US" b="1" i="1" dirty="0" smtClean="0"/>
              <a:t>randomly</a:t>
            </a:r>
            <a:r>
              <a:rPr lang="en-US" dirty="0" smtClean="0"/>
              <a:t> but only the </a:t>
            </a:r>
            <a:r>
              <a:rPr lang="en-US" b="1" i="1" dirty="0" smtClean="0"/>
              <a:t>smallest</a:t>
            </a:r>
            <a:r>
              <a:rPr lang="en-US" dirty="0" smtClean="0"/>
              <a:t> item can be removed.</a:t>
            </a:r>
          </a:p>
          <a:p>
            <a:pPr algn="just"/>
            <a:r>
              <a:rPr lang="en-US" dirty="0" smtClean="0"/>
              <a:t>If “</a:t>
            </a:r>
            <a:r>
              <a:rPr lang="en-US" b="1" dirty="0" smtClean="0"/>
              <a:t>A-Priority-Q</a:t>
            </a:r>
            <a:r>
              <a:rPr lang="en-US" dirty="0" smtClean="0"/>
              <a:t>” is an ascending priority queue then </a:t>
            </a:r>
          </a:p>
          <a:p>
            <a:pPr lvl="1" algn="just"/>
            <a:r>
              <a:rPr lang="en-US" dirty="0" err="1" smtClean="0"/>
              <a:t>Enqueue</a:t>
            </a:r>
            <a:r>
              <a:rPr lang="en-US" dirty="0" smtClean="0"/>
              <a:t>() will insert item ‘x’ into </a:t>
            </a:r>
            <a:r>
              <a:rPr lang="en-US" b="1" dirty="0" smtClean="0"/>
              <a:t>A-Priority-Q</a:t>
            </a:r>
            <a:r>
              <a:rPr lang="en-US" dirty="0" smtClean="0"/>
              <a:t>, </a:t>
            </a:r>
          </a:p>
          <a:p>
            <a:pPr lvl="1" algn="just"/>
            <a:r>
              <a:rPr lang="en-US" dirty="0" err="1" smtClean="0"/>
              <a:t>minDequeue</a:t>
            </a:r>
            <a:r>
              <a:rPr lang="en-US" dirty="0" smtClean="0"/>
              <a:t>() will remove the minimum item from </a:t>
            </a:r>
            <a:r>
              <a:rPr lang="en-US" b="1" dirty="0" smtClean="0"/>
              <a:t>A-Priority-Q</a:t>
            </a:r>
            <a:r>
              <a:rPr lang="en-US" dirty="0" smtClean="0"/>
              <a:t> and return its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9CFE8CBC-5CDF-4205-8753-2A5A8855E762}" type="slidenum">
              <a:rPr lang="en-US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title"/>
          </p:nvPr>
        </p:nvSpPr>
        <p:spPr>
          <a:xfrm>
            <a:off x="993775" y="228600"/>
            <a:ext cx="7007225" cy="990600"/>
          </a:xfrm>
        </p:spPr>
        <p:txBody>
          <a:bodyPr/>
          <a:lstStyle/>
          <a:p>
            <a:r>
              <a:rPr lang="en-US" dirty="0" smtClean="0"/>
              <a:t>Types of Priority Queue</a:t>
            </a:r>
          </a:p>
        </p:txBody>
      </p:sp>
      <p:sp>
        <p:nvSpPr>
          <p:cNvPr id="36867" name="Rectangle 5"/>
          <p:cNvSpPr>
            <a:spLocks noGrp="1" noChangeArrowheads="1"/>
          </p:cNvSpPr>
          <p:nvPr>
            <p:ph idx="1"/>
          </p:nvPr>
        </p:nvSpPr>
        <p:spPr>
          <a:xfrm>
            <a:off x="990600" y="1600200"/>
            <a:ext cx="8001000" cy="4495800"/>
          </a:xfrm>
        </p:spPr>
        <p:txBody>
          <a:bodyPr>
            <a:normAutofit lnSpcReduction="10000"/>
          </a:bodyPr>
          <a:lstStyle/>
          <a:p>
            <a:r>
              <a:rPr lang="en-US" b="1" u="sng" dirty="0" smtClean="0"/>
              <a:t>Descending Priority queue</a:t>
            </a:r>
            <a:r>
              <a:rPr lang="en-US" dirty="0" smtClean="0"/>
              <a:t>: a collection of items into which items can be inserted </a:t>
            </a:r>
            <a:r>
              <a:rPr lang="en-US" b="1" i="1" dirty="0" smtClean="0"/>
              <a:t>randomly</a:t>
            </a:r>
            <a:r>
              <a:rPr lang="en-US" dirty="0" smtClean="0"/>
              <a:t> but only the </a:t>
            </a:r>
            <a:r>
              <a:rPr lang="en-US" b="1" i="1" dirty="0" smtClean="0"/>
              <a:t>largest</a:t>
            </a:r>
            <a:r>
              <a:rPr lang="en-US" dirty="0" smtClean="0"/>
              <a:t> item can be removed</a:t>
            </a:r>
          </a:p>
          <a:p>
            <a:r>
              <a:rPr lang="en-US" dirty="0" smtClean="0"/>
              <a:t>If “</a:t>
            </a:r>
            <a:r>
              <a:rPr lang="en-US" b="1" dirty="0" smtClean="0"/>
              <a:t>D-Priority-Q</a:t>
            </a:r>
            <a:r>
              <a:rPr lang="en-US" dirty="0" smtClean="0"/>
              <a:t>” is a descending priority queue then </a:t>
            </a:r>
          </a:p>
          <a:p>
            <a:pPr lvl="1"/>
            <a:r>
              <a:rPr lang="en-US" dirty="0" err="1" smtClean="0"/>
              <a:t>Enqueue</a:t>
            </a:r>
            <a:r>
              <a:rPr lang="en-US" dirty="0" smtClean="0"/>
              <a:t>() will insert item x into </a:t>
            </a:r>
            <a:r>
              <a:rPr lang="en-US" b="1" dirty="0" smtClean="0"/>
              <a:t>D-Priority-Q</a:t>
            </a:r>
            <a:r>
              <a:rPr lang="en-US" dirty="0" smtClean="0"/>
              <a:t>, </a:t>
            </a:r>
          </a:p>
          <a:p>
            <a:pPr lvl="1"/>
            <a:r>
              <a:rPr lang="en-US" dirty="0" err="1" smtClean="0"/>
              <a:t>maxDequeue</a:t>
            </a:r>
            <a:r>
              <a:rPr lang="en-US" dirty="0" smtClean="0"/>
              <a:t>( ) will remove the maximum item from </a:t>
            </a:r>
            <a:r>
              <a:rPr lang="en-US" b="1" dirty="0" smtClean="0"/>
              <a:t>D-Priority-Q</a:t>
            </a:r>
            <a:r>
              <a:rPr lang="en-US" dirty="0" smtClean="0"/>
              <a:t> and return its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6E3B3ABA-0D93-413B-B28A-6ACE76604DE2}" type="slidenum">
              <a:rPr lang="en-US"/>
              <a:pPr>
                <a:defRPr/>
              </a:pPr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5"/>
          <p:cNvSpPr>
            <a:spLocks noGrp="1" noChangeArrowheads="1"/>
          </p:cNvSpPr>
          <p:nvPr>
            <p:ph type="title"/>
          </p:nvPr>
        </p:nvSpPr>
        <p:spPr>
          <a:xfrm>
            <a:off x="1143000" y="503238"/>
            <a:ext cx="3429000" cy="6397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Generally</a:t>
            </a:r>
          </a:p>
        </p:txBody>
      </p:sp>
      <p:sp>
        <p:nvSpPr>
          <p:cNvPr id="31746" name="Rectangle 4"/>
          <p:cNvSpPr>
            <a:spLocks noGrp="1" noChangeArrowheads="1"/>
          </p:cNvSpPr>
          <p:nvPr>
            <p:ph idx="1"/>
          </p:nvPr>
        </p:nvSpPr>
        <p:spPr>
          <a:xfrm>
            <a:off x="990600" y="1676400"/>
            <a:ext cx="8001000" cy="4648200"/>
          </a:xfrm>
        </p:spPr>
        <p:txBody>
          <a:bodyPr>
            <a:normAutofit fontScale="92500" lnSpcReduction="10000"/>
          </a:bodyPr>
          <a:lstStyle/>
          <a:p>
            <a:pPr marL="320040" indent="-320040" algn="just" fontAlgn="auto">
              <a:lnSpc>
                <a:spcPct val="80000"/>
              </a:lnSpc>
              <a:spcAft>
                <a:spcPts val="0"/>
              </a:spcAft>
              <a:buFont typeface="Wingdings"/>
              <a:buChar char=""/>
              <a:defRPr/>
            </a:pPr>
            <a:r>
              <a:rPr lang="en-US" sz="2400" dirty="0" smtClean="0"/>
              <a:t>In both the above types, if elements with equal priority are present, the FIFO technique is applied.</a:t>
            </a:r>
          </a:p>
          <a:p>
            <a:pPr marL="320040" indent="-320040" algn="just" fontAlgn="auto">
              <a:lnSpc>
                <a:spcPct val="80000"/>
              </a:lnSpc>
              <a:spcAft>
                <a:spcPts val="0"/>
              </a:spcAft>
              <a:buFont typeface="Wingdings"/>
              <a:buChar char=""/>
              <a:defRPr/>
            </a:pPr>
            <a:endParaRPr lang="en-US" sz="2400" dirty="0" smtClean="0"/>
          </a:p>
          <a:p>
            <a:pPr marL="320040" indent="-320040" algn="just" fontAlgn="auto">
              <a:lnSpc>
                <a:spcPct val="80000"/>
              </a:lnSpc>
              <a:spcAft>
                <a:spcPts val="0"/>
              </a:spcAft>
              <a:buFont typeface="Wingdings"/>
              <a:buChar char=""/>
              <a:defRPr/>
            </a:pPr>
            <a:r>
              <a:rPr lang="en-US" sz="2400" dirty="0" smtClean="0"/>
              <a:t>Both types of priority queues are similar in a way that both of them remove and return the element with the highest </a:t>
            </a:r>
            <a:r>
              <a:rPr lang="en-US" sz="2400" b="1" dirty="0" smtClean="0">
                <a:solidFill>
                  <a:srgbClr val="FF0000"/>
                </a:solidFill>
              </a:rPr>
              <a:t>“Priority” </a:t>
            </a:r>
            <a:r>
              <a:rPr lang="en-US" sz="2400" dirty="0" smtClean="0"/>
              <a:t>when the function remove() is called.</a:t>
            </a:r>
          </a:p>
          <a:p>
            <a:pPr marL="640080" lvl="1" indent="-274320" algn="just" fontAlgn="auto">
              <a:lnSpc>
                <a:spcPct val="80000"/>
              </a:lnSpc>
              <a:spcAft>
                <a:spcPts val="0"/>
              </a:spcAft>
              <a:buFont typeface="Wingdings 2"/>
              <a:buChar char=""/>
              <a:defRPr/>
            </a:pPr>
            <a:r>
              <a:rPr lang="en-US" sz="2000" dirty="0" smtClean="0"/>
              <a:t>For an ascending priority queue item with smallest value has maximum “priority”</a:t>
            </a:r>
          </a:p>
          <a:p>
            <a:pPr marL="640080" lvl="1" indent="-274320" algn="just" fontAlgn="auto">
              <a:lnSpc>
                <a:spcPct val="80000"/>
              </a:lnSpc>
              <a:spcAft>
                <a:spcPts val="0"/>
              </a:spcAft>
              <a:buFont typeface="Wingdings 2"/>
              <a:buChar char=""/>
              <a:defRPr/>
            </a:pPr>
            <a:r>
              <a:rPr lang="en-US" sz="2000" dirty="0" smtClean="0"/>
              <a:t>For a descending priority queue item with highest value has maximum “priority”</a:t>
            </a:r>
          </a:p>
          <a:p>
            <a:pPr marL="320040" indent="-320040" algn="just" fontAlgn="auto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endParaRPr lang="en-US" sz="2400" dirty="0" smtClean="0"/>
          </a:p>
          <a:p>
            <a:pPr marL="320040" indent="-320040" algn="just" fontAlgn="auto">
              <a:lnSpc>
                <a:spcPct val="80000"/>
              </a:lnSpc>
              <a:spcAft>
                <a:spcPts val="0"/>
              </a:spcAft>
              <a:buFont typeface="Wingdings"/>
              <a:buChar char=""/>
              <a:defRPr/>
            </a:pPr>
            <a:r>
              <a:rPr lang="en-US" sz="2400" dirty="0" smtClean="0"/>
              <a:t>This implies that we must have criteria for a priority queue to determine the Priority of its constituent elements. </a:t>
            </a:r>
          </a:p>
          <a:p>
            <a:pPr marL="320040" indent="-320040" algn="just" fontAlgn="auto">
              <a:lnSpc>
                <a:spcPct val="80000"/>
              </a:lnSpc>
              <a:spcAft>
                <a:spcPts val="0"/>
              </a:spcAft>
              <a:buFont typeface="Wingdings"/>
              <a:buChar char=""/>
              <a:defRPr/>
            </a:pPr>
            <a:r>
              <a:rPr lang="en-US" sz="2400" dirty="0" smtClean="0"/>
              <a:t>the elements of a priority queue can be numbers, characters or any complex structures such as phone book entries, events in a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1837567A-765E-4B03-99DB-907C58C57458}" type="slidenum">
              <a:rPr lang="en-US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5"/>
          <p:cNvSpPr>
            <a:spLocks noGrp="1" noChangeArrowheads="1"/>
          </p:cNvSpPr>
          <p:nvPr>
            <p:ph type="title"/>
          </p:nvPr>
        </p:nvSpPr>
        <p:spPr>
          <a:xfrm>
            <a:off x="993775" y="228600"/>
            <a:ext cx="6321425" cy="990600"/>
          </a:xfrm>
        </p:spPr>
        <p:txBody>
          <a:bodyPr/>
          <a:lstStyle/>
          <a:p>
            <a:r>
              <a:rPr lang="en-US" dirty="0" smtClean="0"/>
              <a:t>Priority Queue Issues</a:t>
            </a:r>
          </a:p>
        </p:txBody>
      </p:sp>
      <p:sp>
        <p:nvSpPr>
          <p:cNvPr id="38915" name="Rectangle 4"/>
          <p:cNvSpPr>
            <a:spLocks noGrp="1" noChangeArrowheads="1"/>
          </p:cNvSpPr>
          <p:nvPr>
            <p:ph idx="1"/>
          </p:nvPr>
        </p:nvSpPr>
        <p:spPr>
          <a:xfrm>
            <a:off x="838200" y="1752600"/>
            <a:ext cx="8153400" cy="40386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sz="2400" dirty="0" smtClean="0"/>
              <a:t>In what manner should the items be inserted in a priority queue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Ordered (so that retrieval is simple, but insertion will become complex)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Arbitrary (insertion is simple but retrieval will require elaborate search mechanism)</a:t>
            </a:r>
          </a:p>
          <a:p>
            <a:pPr>
              <a:lnSpc>
                <a:spcPct val="80000"/>
              </a:lnSpc>
            </a:pPr>
            <a:r>
              <a:rPr lang="en-US" sz="2400" dirty="0" smtClean="0"/>
              <a:t>Retrieval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In case of un-ordered priority queue, what if minimum number is to be removed from an ascending queue of n elements (n number of comparisons)</a:t>
            </a:r>
          </a:p>
          <a:p>
            <a:pPr>
              <a:lnSpc>
                <a:spcPct val="80000"/>
              </a:lnSpc>
            </a:pPr>
            <a:r>
              <a:rPr lang="en-US" sz="2400" dirty="0" smtClean="0"/>
              <a:t>In what manner should the queue be maintained when an item is removed from it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Emptied location is kept blank (how to recognize a blank location ??)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/>
              <a:t>Remaining items are shifted</a:t>
            </a:r>
          </a:p>
          <a:p>
            <a:pPr>
              <a:lnSpc>
                <a:spcPct val="80000"/>
              </a:lnSpc>
            </a:pPr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25C5ADDF-AE57-4AB3-A291-EB1E7FC191BB}" type="slidenum">
              <a:rPr lang="en-US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44</TotalTime>
  <Words>1113</Words>
  <Application>Microsoft Office PowerPoint</Application>
  <PresentationFormat>On-screen Show (4:3)</PresentationFormat>
  <Paragraphs>315</Paragraphs>
  <Slides>30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Solstice</vt:lpstr>
      <vt:lpstr>DATA STRUCTURES</vt:lpstr>
      <vt:lpstr>Queues</vt:lpstr>
      <vt:lpstr>Common Operations on Queues</vt:lpstr>
      <vt:lpstr>Enqueue and Dequeue</vt:lpstr>
      <vt:lpstr>Queues Implementations</vt:lpstr>
      <vt:lpstr>Static Implementation of Queues</vt:lpstr>
      <vt:lpstr>Dynamic Implementation of Queues</vt:lpstr>
      <vt:lpstr>Dynamic Implementation</vt:lpstr>
      <vt:lpstr>Dynamic Implementation</vt:lpstr>
      <vt:lpstr>Dynamic implementation of Queue</vt:lpstr>
      <vt:lpstr>Constructor</vt:lpstr>
      <vt:lpstr>Enqueue( ) Function</vt:lpstr>
      <vt:lpstr>Dequeue( ) Function</vt:lpstr>
      <vt:lpstr>Static Implementation of Queue</vt:lpstr>
      <vt:lpstr>Static Implementation of Queue</vt:lpstr>
      <vt:lpstr>Static Implementation of Queue</vt:lpstr>
      <vt:lpstr>Static Implementation of Queue</vt:lpstr>
      <vt:lpstr>Circular Queue</vt:lpstr>
      <vt:lpstr>Circular Queue Implementation</vt:lpstr>
      <vt:lpstr>Constructor</vt:lpstr>
      <vt:lpstr>Enqueue( ) Function</vt:lpstr>
      <vt:lpstr>Dequeue( ) Function</vt:lpstr>
      <vt:lpstr>Display( ) Function</vt:lpstr>
      <vt:lpstr>isEmpty( ) and isFull( )</vt:lpstr>
      <vt:lpstr>Priority Queues</vt:lpstr>
      <vt:lpstr>Introduction</vt:lpstr>
      <vt:lpstr>Types of Priority Queue</vt:lpstr>
      <vt:lpstr>Types of Priority Queue</vt:lpstr>
      <vt:lpstr>Generally</vt:lpstr>
      <vt:lpstr>Priority Queue Issues</vt:lpstr>
    </vt:vector>
  </TitlesOfParts>
  <Company>Office UOG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AND ALGORITHM</dc:title>
  <dc:creator>Ayesha</dc:creator>
  <cp:lastModifiedBy>Ayesha</cp:lastModifiedBy>
  <cp:revision>34</cp:revision>
  <dcterms:created xsi:type="dcterms:W3CDTF">2011-10-28T05:56:49Z</dcterms:created>
  <dcterms:modified xsi:type="dcterms:W3CDTF">2012-11-15T17:43:23Z</dcterms:modified>
</cp:coreProperties>
</file>