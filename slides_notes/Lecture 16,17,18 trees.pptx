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7BA79-E92C-4643-AF9B-63863D5BD684}" type="datetimeFigureOut">
              <a:rPr lang="en-US" smtClean="0"/>
              <a:pPr/>
              <a:t>1/7/2013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1FC1C-A088-4A64-A95E-0F1230350F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ar-SA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A841220-2AB8-4248-BC54-496D873FB7D8}" type="slidenum">
              <a:rPr lang="ur-PK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ur-PK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ar-S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F1B3C2-DD51-4264-907F-966DBF2023FF}" type="slidenum">
              <a:rPr lang="ur-PK" smtClean="0"/>
              <a:pPr>
                <a:defRPr/>
              </a:pPr>
              <a:t>29</a:t>
            </a:fld>
            <a:endParaRPr lang="ur-PK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ar-S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799E0B-5A89-42FD-8670-BC91BF90EC52}" type="slidenum">
              <a:rPr lang="ur-PK" smtClean="0"/>
              <a:pPr>
                <a:defRPr/>
              </a:pPr>
              <a:t>67</a:t>
            </a:fld>
            <a:endParaRPr lang="ur-PK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E034B-A731-4671-BEFA-2CD5C424D978}" type="datetimeFigureOut">
              <a:rPr lang="en-US" smtClean="0"/>
              <a:pPr/>
              <a:t>1/7/2013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7DA28-4029-4F94-BC0D-532E233E92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E034B-A731-4671-BEFA-2CD5C424D978}" type="datetimeFigureOut">
              <a:rPr lang="en-US" smtClean="0"/>
              <a:pPr/>
              <a:t>1/7/2013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7DA28-4029-4F94-BC0D-532E233E92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E034B-A731-4671-BEFA-2CD5C424D978}" type="datetimeFigureOut">
              <a:rPr lang="en-US" smtClean="0"/>
              <a:pPr/>
              <a:t>1/7/2013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7DA28-4029-4F94-BC0D-532E233E92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E034B-A731-4671-BEFA-2CD5C424D978}" type="datetimeFigureOut">
              <a:rPr lang="en-US" smtClean="0"/>
              <a:pPr/>
              <a:t>1/7/2013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7DA28-4029-4F94-BC0D-532E233E92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E034B-A731-4671-BEFA-2CD5C424D978}" type="datetimeFigureOut">
              <a:rPr lang="en-US" smtClean="0"/>
              <a:pPr/>
              <a:t>1/7/2013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7DA28-4029-4F94-BC0D-532E233E92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E034B-A731-4671-BEFA-2CD5C424D978}" type="datetimeFigureOut">
              <a:rPr lang="en-US" smtClean="0"/>
              <a:pPr/>
              <a:t>1/7/2013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7DA28-4029-4F94-BC0D-532E233E92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E034B-A731-4671-BEFA-2CD5C424D978}" type="datetimeFigureOut">
              <a:rPr lang="en-US" smtClean="0"/>
              <a:pPr/>
              <a:t>1/7/2013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7DA28-4029-4F94-BC0D-532E233E92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E034B-A731-4671-BEFA-2CD5C424D978}" type="datetimeFigureOut">
              <a:rPr lang="en-US" smtClean="0"/>
              <a:pPr/>
              <a:t>1/7/2013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7DA28-4029-4F94-BC0D-532E233E92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E034B-A731-4671-BEFA-2CD5C424D978}" type="datetimeFigureOut">
              <a:rPr lang="en-US" smtClean="0"/>
              <a:pPr/>
              <a:t>1/7/2013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7DA28-4029-4F94-BC0D-532E233E92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E034B-A731-4671-BEFA-2CD5C424D978}" type="datetimeFigureOut">
              <a:rPr lang="en-US" smtClean="0"/>
              <a:pPr/>
              <a:t>1/7/2013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7DA28-4029-4F94-BC0D-532E233E92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E034B-A731-4671-BEFA-2CD5C424D978}" type="datetimeFigureOut">
              <a:rPr lang="en-US" smtClean="0"/>
              <a:pPr/>
              <a:t>1/7/2013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7DA28-4029-4F94-BC0D-532E233E92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E034B-A731-4671-BEFA-2CD5C424D978}" type="datetimeFigureOut">
              <a:rPr lang="en-US" smtClean="0"/>
              <a:pPr/>
              <a:t>1/7/2013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7DA28-4029-4F94-BC0D-532E233E928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upload.wikimedia.org/wikipedia/commons/f/f7/Binary_tree.svg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Data Structure</a:t>
            </a:r>
            <a:endParaRPr lang="ur-PK" dirty="0" smtClean="0"/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Lecture 16,17,18</a:t>
            </a:r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Trees</a:t>
            </a:r>
            <a:endParaRPr lang="ur-PK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en-US" smtClean="0"/>
              <a:t>Introduction</a:t>
            </a:r>
            <a:endParaRPr lang="ur-PK" smtClean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sz="2400" smtClean="0"/>
              <a:t>Data structure such as Arrays, Stacks, Linked List and Queues are linear data structure. Elements are arranged in linear manner i.e. one after another.</a:t>
            </a:r>
          </a:p>
          <a:p>
            <a:pPr algn="l" rtl="0" eaLnBrk="1" hangingPunct="1"/>
            <a:r>
              <a:rPr lang="en-US" sz="2400" smtClean="0"/>
              <a:t>Tree is a non-linear data structure.</a:t>
            </a:r>
          </a:p>
          <a:p>
            <a:pPr algn="l" rtl="0" eaLnBrk="1" hangingPunct="1"/>
            <a:r>
              <a:rPr lang="en-US" sz="2400" smtClean="0">
                <a:latin typeface="Helvetica" charset="0"/>
              </a:rPr>
              <a:t>Tree imposes a </a:t>
            </a:r>
            <a:r>
              <a:rPr lang="en-US" sz="2400" b="1" i="1" smtClean="0">
                <a:latin typeface="Helvetica" charset="0"/>
              </a:rPr>
              <a:t>Hierarchical </a:t>
            </a:r>
            <a:r>
              <a:rPr lang="en-US" sz="2400" smtClean="0">
                <a:latin typeface="Helvetica" charset="0"/>
              </a:rPr>
              <a:t>structure, on a collection of items.</a:t>
            </a:r>
          </a:p>
          <a:p>
            <a:pPr algn="l" rtl="0" eaLnBrk="1" hangingPunct="1"/>
            <a:r>
              <a:rPr lang="en-US" sz="2400" smtClean="0">
                <a:latin typeface="Helvetica" charset="0"/>
              </a:rPr>
              <a:t>Several Practical applications</a:t>
            </a:r>
          </a:p>
          <a:p>
            <a:pPr lvl="1" algn="l" rtl="0" eaLnBrk="1" hangingPunct="1"/>
            <a:r>
              <a:rPr lang="en-US" sz="2000" smtClean="0">
                <a:latin typeface="Helvetica" charset="0"/>
              </a:rPr>
              <a:t>Organization charts.</a:t>
            </a:r>
          </a:p>
          <a:p>
            <a:pPr lvl="1" algn="l" rtl="0" eaLnBrk="1" hangingPunct="1"/>
            <a:r>
              <a:rPr lang="en-US" sz="2000" smtClean="0"/>
              <a:t>Family hierarchy </a:t>
            </a:r>
          </a:p>
          <a:p>
            <a:pPr lvl="1" algn="l" rtl="0" eaLnBrk="1" hangingPunct="1"/>
            <a:r>
              <a:rPr lang="en-US" sz="2000" smtClean="0"/>
              <a:t>Representation of algebraic expression </a:t>
            </a:r>
            <a:endParaRPr lang="ur-PK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Introduction</a:t>
            </a:r>
            <a:endParaRPr lang="ur-PK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algn="l" rtl="0" eaLnBrk="1" hangingPunct="1"/>
            <a:r>
              <a:rPr lang="en-US" smtClean="0"/>
              <a:t>Organizational Chart</a:t>
            </a:r>
            <a:endParaRPr lang="ur-PK" smtClean="0"/>
          </a:p>
        </p:txBody>
      </p:sp>
      <p:pic>
        <p:nvPicPr>
          <p:cNvPr id="6148" name="Picture 6" descr="org_ch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781175"/>
            <a:ext cx="4724400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73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Introduction</a:t>
            </a:r>
            <a:endParaRPr lang="ur-PK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609600" y="609600"/>
            <a:ext cx="8229600" cy="5516563"/>
          </a:xfrm>
        </p:spPr>
        <p:txBody>
          <a:bodyPr/>
          <a:lstStyle/>
          <a:p>
            <a:pPr algn="l" rtl="0" eaLnBrk="1" hangingPunct="1"/>
            <a:r>
              <a:rPr lang="en-US" sz="2400" smtClean="0"/>
              <a:t>Representation of algebraic expression</a:t>
            </a:r>
          </a:p>
          <a:p>
            <a:pPr algn="l" rtl="0" eaLnBrk="1" hangingPunct="1"/>
            <a:r>
              <a:rPr lang="en-US" sz="2400" smtClean="0"/>
              <a:t>Z=(J - K) / ((L * M) + N)</a:t>
            </a:r>
            <a:endParaRPr lang="ur-PK" sz="2400" smtClean="0"/>
          </a:p>
        </p:txBody>
      </p:sp>
      <p:sp>
        <p:nvSpPr>
          <p:cNvPr id="7172" name="Oval 4"/>
          <p:cNvSpPr>
            <a:spLocks noChangeArrowheads="1"/>
          </p:cNvSpPr>
          <p:nvPr/>
        </p:nvSpPr>
        <p:spPr bwMode="auto">
          <a:xfrm>
            <a:off x="4038600" y="1447800"/>
            <a:ext cx="1238250" cy="889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7173" name="Oval 5"/>
          <p:cNvSpPr>
            <a:spLocks noChangeArrowheads="1"/>
          </p:cNvSpPr>
          <p:nvPr/>
        </p:nvSpPr>
        <p:spPr bwMode="auto">
          <a:xfrm>
            <a:off x="2514600" y="3000375"/>
            <a:ext cx="1238250" cy="889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7174" name="Oval 6"/>
          <p:cNvSpPr>
            <a:spLocks noChangeArrowheads="1"/>
          </p:cNvSpPr>
          <p:nvPr/>
        </p:nvSpPr>
        <p:spPr bwMode="auto">
          <a:xfrm>
            <a:off x="5715000" y="2971800"/>
            <a:ext cx="1238250" cy="889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cxnSp>
        <p:nvCxnSpPr>
          <p:cNvPr id="7175" name="AutoShape 11"/>
          <p:cNvCxnSpPr>
            <a:cxnSpLocks noChangeShapeType="1"/>
            <a:stCxn id="7172" idx="4"/>
            <a:endCxn id="7174" idx="0"/>
          </p:cNvCxnSpPr>
          <p:nvPr/>
        </p:nvCxnSpPr>
        <p:spPr bwMode="auto">
          <a:xfrm rot="16200000" flipH="1">
            <a:off x="5178425" y="1816100"/>
            <a:ext cx="635000" cy="167640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7176" name="AutoShape 12"/>
          <p:cNvCxnSpPr>
            <a:cxnSpLocks noChangeShapeType="1"/>
            <a:stCxn id="7172" idx="4"/>
            <a:endCxn id="7173" idx="0"/>
          </p:cNvCxnSpPr>
          <p:nvPr/>
        </p:nvCxnSpPr>
        <p:spPr bwMode="auto">
          <a:xfrm rot="5400000">
            <a:off x="3563937" y="1906588"/>
            <a:ext cx="663575" cy="152400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7177" name="Text Box 28"/>
          <p:cNvSpPr txBox="1">
            <a:spLocks noChangeArrowheads="1"/>
          </p:cNvSpPr>
          <p:nvPr/>
        </p:nvSpPr>
        <p:spPr bwMode="auto">
          <a:xfrm>
            <a:off x="2743200" y="3228975"/>
            <a:ext cx="619125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>
                <a:solidFill>
                  <a:srgbClr val="FF3300"/>
                </a:solidFill>
              </a:rPr>
              <a:t>-</a:t>
            </a:r>
          </a:p>
        </p:txBody>
      </p:sp>
      <p:sp>
        <p:nvSpPr>
          <p:cNvPr id="7178" name="Text Box 29"/>
          <p:cNvSpPr txBox="1">
            <a:spLocks noChangeArrowheads="1"/>
          </p:cNvSpPr>
          <p:nvPr/>
        </p:nvSpPr>
        <p:spPr bwMode="auto">
          <a:xfrm>
            <a:off x="4191000" y="1628775"/>
            <a:ext cx="866775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>
                <a:solidFill>
                  <a:srgbClr val="FF3300"/>
                </a:solidFill>
              </a:rPr>
              <a:t>/</a:t>
            </a:r>
          </a:p>
        </p:txBody>
      </p:sp>
      <p:sp>
        <p:nvSpPr>
          <p:cNvPr id="7179" name="Text Box 30"/>
          <p:cNvSpPr txBox="1">
            <a:spLocks noChangeArrowheads="1"/>
          </p:cNvSpPr>
          <p:nvPr/>
        </p:nvSpPr>
        <p:spPr bwMode="auto">
          <a:xfrm>
            <a:off x="5867400" y="3200400"/>
            <a:ext cx="990600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ur-PK" sz="2400" b="1">
                <a:solidFill>
                  <a:srgbClr val="FF3300"/>
                </a:solidFill>
              </a:rPr>
              <a:t>+</a:t>
            </a:r>
            <a:endParaRPr lang="en-US" sz="2400" b="1">
              <a:solidFill>
                <a:srgbClr val="FF3300"/>
              </a:solidFill>
            </a:endParaRPr>
          </a:p>
        </p:txBody>
      </p:sp>
      <p:sp>
        <p:nvSpPr>
          <p:cNvPr id="7180" name="Oval 5"/>
          <p:cNvSpPr>
            <a:spLocks noChangeArrowheads="1"/>
          </p:cNvSpPr>
          <p:nvPr/>
        </p:nvSpPr>
        <p:spPr bwMode="auto">
          <a:xfrm>
            <a:off x="1676400" y="4521200"/>
            <a:ext cx="1238250" cy="889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7181" name="Oval 6"/>
          <p:cNvSpPr>
            <a:spLocks noChangeArrowheads="1"/>
          </p:cNvSpPr>
          <p:nvPr/>
        </p:nvSpPr>
        <p:spPr bwMode="auto">
          <a:xfrm>
            <a:off x="3657600" y="4597400"/>
            <a:ext cx="1238250" cy="889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cxnSp>
        <p:nvCxnSpPr>
          <p:cNvPr id="7182" name="AutoShape 11"/>
          <p:cNvCxnSpPr>
            <a:cxnSpLocks noChangeShapeType="1"/>
            <a:endCxn id="7181" idx="0"/>
          </p:cNvCxnSpPr>
          <p:nvPr/>
        </p:nvCxnSpPr>
        <p:spPr bwMode="auto">
          <a:xfrm>
            <a:off x="3133725" y="3886200"/>
            <a:ext cx="1143000" cy="6826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7183" name="AutoShape 12"/>
          <p:cNvCxnSpPr>
            <a:cxnSpLocks noChangeShapeType="1"/>
            <a:endCxn id="7180" idx="0"/>
          </p:cNvCxnSpPr>
          <p:nvPr/>
        </p:nvCxnSpPr>
        <p:spPr bwMode="auto">
          <a:xfrm flipH="1">
            <a:off x="2295525" y="3886200"/>
            <a:ext cx="838200" cy="6064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7184" name="Text Box 28"/>
          <p:cNvSpPr txBox="1">
            <a:spLocks noChangeArrowheads="1"/>
          </p:cNvSpPr>
          <p:nvPr/>
        </p:nvSpPr>
        <p:spPr bwMode="auto">
          <a:xfrm>
            <a:off x="1905000" y="4724400"/>
            <a:ext cx="619125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>
                <a:solidFill>
                  <a:srgbClr val="FF3300"/>
                </a:solidFill>
              </a:rPr>
              <a:t>J</a:t>
            </a:r>
          </a:p>
        </p:txBody>
      </p:sp>
      <p:sp>
        <p:nvSpPr>
          <p:cNvPr id="7185" name="Text Box 30"/>
          <p:cNvSpPr txBox="1">
            <a:spLocks noChangeArrowheads="1"/>
          </p:cNvSpPr>
          <p:nvPr/>
        </p:nvSpPr>
        <p:spPr bwMode="auto">
          <a:xfrm>
            <a:off x="3810000" y="4826000"/>
            <a:ext cx="990600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>
                <a:solidFill>
                  <a:srgbClr val="FF3300"/>
                </a:solidFill>
              </a:rPr>
              <a:t>K</a:t>
            </a:r>
          </a:p>
        </p:txBody>
      </p:sp>
      <p:sp>
        <p:nvSpPr>
          <p:cNvPr id="7186" name="Oval 5"/>
          <p:cNvSpPr>
            <a:spLocks noChangeArrowheads="1"/>
          </p:cNvSpPr>
          <p:nvPr/>
        </p:nvSpPr>
        <p:spPr bwMode="auto">
          <a:xfrm>
            <a:off x="5029200" y="4521200"/>
            <a:ext cx="1238250" cy="889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7187" name="Oval 6"/>
          <p:cNvSpPr>
            <a:spLocks noChangeArrowheads="1"/>
          </p:cNvSpPr>
          <p:nvPr/>
        </p:nvSpPr>
        <p:spPr bwMode="auto">
          <a:xfrm>
            <a:off x="7010400" y="4597400"/>
            <a:ext cx="1238250" cy="889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cxnSp>
        <p:nvCxnSpPr>
          <p:cNvPr id="7188" name="AutoShape 11"/>
          <p:cNvCxnSpPr>
            <a:cxnSpLocks noChangeShapeType="1"/>
            <a:endCxn id="7187" idx="0"/>
          </p:cNvCxnSpPr>
          <p:nvPr/>
        </p:nvCxnSpPr>
        <p:spPr bwMode="auto">
          <a:xfrm>
            <a:off x="6486525" y="3886200"/>
            <a:ext cx="1143000" cy="6826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7189" name="AutoShape 12"/>
          <p:cNvCxnSpPr>
            <a:cxnSpLocks noChangeShapeType="1"/>
            <a:endCxn id="7186" idx="0"/>
          </p:cNvCxnSpPr>
          <p:nvPr/>
        </p:nvCxnSpPr>
        <p:spPr bwMode="auto">
          <a:xfrm flipH="1">
            <a:off x="5648325" y="3886200"/>
            <a:ext cx="838200" cy="6064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7190" name="Text Box 28"/>
          <p:cNvSpPr txBox="1">
            <a:spLocks noChangeArrowheads="1"/>
          </p:cNvSpPr>
          <p:nvPr/>
        </p:nvSpPr>
        <p:spPr bwMode="auto">
          <a:xfrm>
            <a:off x="5257800" y="4749800"/>
            <a:ext cx="619125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ur-PK" sz="2400" b="1">
                <a:solidFill>
                  <a:srgbClr val="FF3300"/>
                </a:solidFill>
              </a:rPr>
              <a:t>٭</a:t>
            </a:r>
            <a:endParaRPr lang="en-US" sz="2400" b="1">
              <a:solidFill>
                <a:srgbClr val="FF3300"/>
              </a:solidFill>
            </a:endParaRPr>
          </a:p>
        </p:txBody>
      </p:sp>
      <p:sp>
        <p:nvSpPr>
          <p:cNvPr id="7191" name="Text Box 30"/>
          <p:cNvSpPr txBox="1">
            <a:spLocks noChangeArrowheads="1"/>
          </p:cNvSpPr>
          <p:nvPr/>
        </p:nvSpPr>
        <p:spPr bwMode="auto">
          <a:xfrm>
            <a:off x="7162800" y="4826000"/>
            <a:ext cx="990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>
                <a:solidFill>
                  <a:srgbClr val="FF3300"/>
                </a:solidFill>
              </a:rPr>
              <a:t>N</a:t>
            </a:r>
          </a:p>
        </p:txBody>
      </p:sp>
      <p:sp>
        <p:nvSpPr>
          <p:cNvPr id="7192" name="Oval 5"/>
          <p:cNvSpPr>
            <a:spLocks noChangeArrowheads="1"/>
          </p:cNvSpPr>
          <p:nvPr/>
        </p:nvSpPr>
        <p:spPr bwMode="auto">
          <a:xfrm>
            <a:off x="4191000" y="5816600"/>
            <a:ext cx="1238250" cy="889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7193" name="Text Box 28"/>
          <p:cNvSpPr txBox="1">
            <a:spLocks noChangeArrowheads="1"/>
          </p:cNvSpPr>
          <p:nvPr/>
        </p:nvSpPr>
        <p:spPr bwMode="auto">
          <a:xfrm>
            <a:off x="4419600" y="6045200"/>
            <a:ext cx="619125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>
                <a:solidFill>
                  <a:srgbClr val="FF3300"/>
                </a:solidFill>
              </a:rPr>
              <a:t>L</a:t>
            </a:r>
          </a:p>
        </p:txBody>
      </p:sp>
      <p:sp>
        <p:nvSpPr>
          <p:cNvPr id="7194" name="Oval 5"/>
          <p:cNvSpPr>
            <a:spLocks noChangeArrowheads="1"/>
          </p:cNvSpPr>
          <p:nvPr/>
        </p:nvSpPr>
        <p:spPr bwMode="auto">
          <a:xfrm>
            <a:off x="5924550" y="5816600"/>
            <a:ext cx="1238250" cy="889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7195" name="Text Box 28"/>
          <p:cNvSpPr txBox="1">
            <a:spLocks noChangeArrowheads="1"/>
          </p:cNvSpPr>
          <p:nvPr/>
        </p:nvSpPr>
        <p:spPr bwMode="auto">
          <a:xfrm>
            <a:off x="6153150" y="6045200"/>
            <a:ext cx="619125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>
                <a:solidFill>
                  <a:srgbClr val="FF3300"/>
                </a:solidFill>
              </a:rPr>
              <a:t>M</a:t>
            </a:r>
          </a:p>
        </p:txBody>
      </p:sp>
      <p:cxnSp>
        <p:nvCxnSpPr>
          <p:cNvPr id="7196" name="AutoShape 12"/>
          <p:cNvCxnSpPr>
            <a:cxnSpLocks noChangeShapeType="1"/>
            <a:stCxn id="7186" idx="4"/>
            <a:endCxn id="7192" idx="0"/>
          </p:cNvCxnSpPr>
          <p:nvPr/>
        </p:nvCxnSpPr>
        <p:spPr bwMode="auto">
          <a:xfrm rot="5400000">
            <a:off x="5026025" y="5194300"/>
            <a:ext cx="406400" cy="83820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7197" name="AutoShape 11"/>
          <p:cNvCxnSpPr>
            <a:cxnSpLocks noChangeShapeType="1"/>
            <a:stCxn id="7186" idx="4"/>
            <a:endCxn id="7194" idx="0"/>
          </p:cNvCxnSpPr>
          <p:nvPr/>
        </p:nvCxnSpPr>
        <p:spPr bwMode="auto">
          <a:xfrm rot="16200000" flipH="1">
            <a:off x="5892800" y="5165725"/>
            <a:ext cx="406400" cy="89535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Tree Definition</a:t>
            </a:r>
            <a:endParaRPr lang="ur-PK" smtClean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sz="2400" smtClean="0"/>
              <a:t>A tree is a collection of nodes</a:t>
            </a:r>
          </a:p>
          <a:p>
            <a:pPr lvl="1" algn="l" rtl="0" eaLnBrk="1" hangingPunct="1"/>
            <a:r>
              <a:rPr lang="en-US" sz="2400" smtClean="0"/>
              <a:t>The collection can be empty</a:t>
            </a:r>
          </a:p>
          <a:p>
            <a:pPr lvl="1" algn="l" rtl="0" eaLnBrk="1" hangingPunct="1"/>
            <a:r>
              <a:rPr lang="en-US" sz="2400" smtClean="0"/>
              <a:t> If not empty, a tree consists of a distinguished node </a:t>
            </a:r>
            <a:r>
              <a:rPr lang="en-US" sz="2400" b="1" smtClean="0"/>
              <a:t>R</a:t>
            </a:r>
            <a:r>
              <a:rPr lang="en-US" sz="2400" smtClean="0"/>
              <a:t> (the </a:t>
            </a:r>
            <a:r>
              <a:rPr lang="en-US" sz="2400" i="1" smtClean="0"/>
              <a:t>root</a:t>
            </a:r>
            <a:r>
              <a:rPr lang="en-US" sz="2400" smtClean="0"/>
              <a:t>), and zero or more nonempty </a:t>
            </a:r>
            <a:r>
              <a:rPr lang="en-US" sz="2400" b="1" i="1" smtClean="0"/>
              <a:t>subtrees</a:t>
            </a:r>
            <a:r>
              <a:rPr lang="en-US" sz="2400" smtClean="0"/>
              <a:t> T</a:t>
            </a:r>
            <a:r>
              <a:rPr lang="en-US" sz="2400" baseline="-25000" smtClean="0"/>
              <a:t>1</a:t>
            </a:r>
            <a:r>
              <a:rPr lang="en-US" sz="2400" smtClean="0"/>
              <a:t>, T</a:t>
            </a:r>
            <a:r>
              <a:rPr lang="en-US" sz="2400" baseline="-25000" smtClean="0"/>
              <a:t>2</a:t>
            </a:r>
            <a:r>
              <a:rPr lang="en-US" sz="2400" smtClean="0"/>
              <a:t>, ...., T</a:t>
            </a:r>
            <a:r>
              <a:rPr lang="en-US" sz="2400" baseline="-25000" smtClean="0"/>
              <a:t>k</a:t>
            </a:r>
            <a:r>
              <a:rPr lang="en-US" sz="2400" smtClean="0"/>
              <a:t>, each of whose roots are connected by a directed </a:t>
            </a:r>
            <a:r>
              <a:rPr lang="en-US" sz="2400" b="1" i="1" smtClean="0"/>
              <a:t>edge</a:t>
            </a:r>
            <a:r>
              <a:rPr lang="en-US" sz="2400" smtClean="0"/>
              <a:t> from </a:t>
            </a:r>
            <a:r>
              <a:rPr lang="en-US" sz="2400" b="1" smtClean="0"/>
              <a:t>R.</a:t>
            </a:r>
          </a:p>
          <a:p>
            <a:pPr algn="l" rtl="0" eaLnBrk="1" hangingPunct="1"/>
            <a:endParaRPr lang="ur-PK" smtClean="0"/>
          </a:p>
        </p:txBody>
      </p:sp>
      <p:pic>
        <p:nvPicPr>
          <p:cNvPr id="8196" name="Picture 4" descr="fig4_1"/>
          <p:cNvPicPr>
            <a:picLocks noChangeAspect="1" noChangeArrowheads="1"/>
          </p:cNvPicPr>
          <p:nvPr/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865188" y="4114800"/>
            <a:ext cx="7669212" cy="202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 descr="fig4_2"/>
          <p:cNvPicPr>
            <a:picLocks noChangeAspect="1" noChangeArrowheads="1"/>
          </p:cNvPicPr>
          <p:nvPr/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228600" y="990600"/>
            <a:ext cx="8915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Tree Terminologies</a:t>
            </a:r>
            <a:endParaRPr lang="ur-PK" smtClean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algn="l" rtl="0" eaLnBrk="1" hangingPunct="1"/>
            <a:r>
              <a:rPr lang="en-US" sz="2400" b="1" dirty="0" smtClean="0"/>
              <a:t>Root</a:t>
            </a:r>
          </a:p>
          <a:p>
            <a:pPr lvl="1" algn="l" rtl="0" eaLnBrk="1" hangingPunct="1"/>
            <a:r>
              <a:rPr lang="en-US" sz="2400" dirty="0" smtClean="0"/>
              <a:t>It is the mother node of a tree structure. This tree does not have parent. It is the first node in hierarchical  arrangement.</a:t>
            </a:r>
          </a:p>
          <a:p>
            <a:pPr algn="l" rtl="0" eaLnBrk="1" hangingPunct="1"/>
            <a:r>
              <a:rPr lang="en-US" sz="2400" b="1" dirty="0" smtClean="0"/>
              <a:t>Node</a:t>
            </a:r>
          </a:p>
          <a:p>
            <a:pPr lvl="1" algn="l" rtl="0" eaLnBrk="1" hangingPunct="1"/>
            <a:r>
              <a:rPr lang="en-US" sz="2400" dirty="0" smtClean="0"/>
              <a:t>The node of a tree stores the data and its role is the same as in the linked list. Nodes are connected by the means of links with other nodes.</a:t>
            </a:r>
          </a:p>
          <a:p>
            <a:pPr algn="l" rtl="0" eaLnBrk="1" hangingPunct="1"/>
            <a:r>
              <a:rPr lang="en-US" sz="2400" b="1" dirty="0" smtClean="0"/>
              <a:t>Parent</a:t>
            </a:r>
          </a:p>
          <a:p>
            <a:pPr lvl="1" algn="l" rtl="0" eaLnBrk="1" hangingPunct="1"/>
            <a:r>
              <a:rPr lang="en-US" sz="2400" dirty="0" smtClean="0"/>
              <a:t>It is the immediate predecessor of a node. In the figure, A is the parent of B and C.</a:t>
            </a:r>
            <a:endParaRPr lang="ur-PK" sz="2400" dirty="0" smtClean="0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858000" y="5191125"/>
            <a:ext cx="1752600" cy="1362075"/>
            <a:chOff x="6858000" y="5191125"/>
            <a:chExt cx="1752600" cy="1362075"/>
          </a:xfrm>
        </p:grpSpPr>
        <p:sp>
          <p:nvSpPr>
            <p:cNvPr id="10246" name="Oval 38"/>
            <p:cNvSpPr>
              <a:spLocks noChangeArrowheads="1"/>
            </p:cNvSpPr>
            <p:nvPr/>
          </p:nvSpPr>
          <p:spPr bwMode="auto">
            <a:xfrm>
              <a:off x="7391400" y="519112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10247" name="Oval 39"/>
            <p:cNvSpPr>
              <a:spLocks noChangeArrowheads="1"/>
            </p:cNvSpPr>
            <p:nvPr/>
          </p:nvSpPr>
          <p:spPr bwMode="auto">
            <a:xfrm>
              <a:off x="6858000" y="5981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10248" name="Oval 40"/>
            <p:cNvSpPr>
              <a:spLocks noChangeArrowheads="1"/>
            </p:cNvSpPr>
            <p:nvPr/>
          </p:nvSpPr>
          <p:spPr bwMode="auto">
            <a:xfrm>
              <a:off x="7848600" y="5981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cxnSp>
          <p:nvCxnSpPr>
            <p:cNvPr id="10249" name="AutoShape 49"/>
            <p:cNvCxnSpPr>
              <a:cxnSpLocks noChangeShapeType="1"/>
              <a:stCxn id="10246" idx="4"/>
              <a:endCxn id="10248" idx="0"/>
            </p:cNvCxnSpPr>
            <p:nvPr/>
          </p:nvCxnSpPr>
          <p:spPr bwMode="auto">
            <a:xfrm>
              <a:off x="7772400" y="5791200"/>
              <a:ext cx="4572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10250" name="AutoShape 50"/>
            <p:cNvCxnSpPr>
              <a:cxnSpLocks noChangeShapeType="1"/>
              <a:stCxn id="10246" idx="4"/>
              <a:endCxn id="10247" idx="0"/>
            </p:cNvCxnSpPr>
            <p:nvPr/>
          </p:nvCxnSpPr>
          <p:spPr bwMode="auto">
            <a:xfrm flipH="1">
              <a:off x="7239000" y="5791200"/>
              <a:ext cx="5334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10251" name="Text Box 71"/>
            <p:cNvSpPr txBox="1">
              <a:spLocks noChangeArrowheads="1"/>
            </p:cNvSpPr>
            <p:nvPr/>
          </p:nvSpPr>
          <p:spPr bwMode="auto">
            <a:xfrm>
              <a:off x="7010400" y="5981700"/>
              <a:ext cx="381000" cy="36933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>
                  <a:solidFill>
                    <a:srgbClr val="FF3300"/>
                  </a:solidFill>
                </a:rPr>
                <a:t>B</a:t>
              </a:r>
            </a:p>
          </p:txBody>
        </p:sp>
        <p:sp>
          <p:nvSpPr>
            <p:cNvPr id="10252" name="Text Box 72"/>
            <p:cNvSpPr txBox="1">
              <a:spLocks noChangeArrowheads="1"/>
            </p:cNvSpPr>
            <p:nvPr/>
          </p:nvSpPr>
          <p:spPr bwMode="auto">
            <a:xfrm>
              <a:off x="7467600" y="5219700"/>
              <a:ext cx="533400" cy="36933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>
                  <a:solidFill>
                    <a:srgbClr val="FF3300"/>
                  </a:solidFill>
                </a:rPr>
                <a:t>A</a:t>
              </a:r>
            </a:p>
          </p:txBody>
        </p:sp>
      </p:grpSp>
      <p:sp>
        <p:nvSpPr>
          <p:cNvPr id="10245" name="Text Box 73"/>
          <p:cNvSpPr txBox="1">
            <a:spLocks noChangeArrowheads="1"/>
          </p:cNvSpPr>
          <p:nvPr/>
        </p:nvSpPr>
        <p:spPr bwMode="auto">
          <a:xfrm>
            <a:off x="7924800" y="5981700"/>
            <a:ext cx="609600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Tree Terminologies</a:t>
            </a:r>
            <a:endParaRPr lang="ur-PK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 algn="l" rtl="0" eaLnBrk="1" hangingPunct="1"/>
            <a:r>
              <a:rPr lang="en-US" sz="2400" b="1" dirty="0" smtClean="0"/>
              <a:t>Child</a:t>
            </a:r>
          </a:p>
          <a:p>
            <a:pPr lvl="1" algn="l" rtl="0" eaLnBrk="1" hangingPunct="1"/>
            <a:r>
              <a:rPr lang="en-US" sz="2400" dirty="0" smtClean="0"/>
              <a:t>When a predecessor of a node is parent then all successor nodes are called child nodes. In the figure, B and C are the child nodes of A.</a:t>
            </a:r>
          </a:p>
          <a:p>
            <a:pPr algn="l" rtl="0" eaLnBrk="1" hangingPunct="1"/>
            <a:r>
              <a:rPr lang="en-US" sz="2400" b="1" dirty="0" smtClean="0"/>
              <a:t>Link / Edge</a:t>
            </a:r>
          </a:p>
          <a:p>
            <a:pPr lvl="1" algn="l" rtl="0" eaLnBrk="1" hangingPunct="1"/>
            <a:r>
              <a:rPr lang="en-US" sz="2400" dirty="0" smtClean="0"/>
              <a:t>An edge connects the two nodes. The line drawn from one node to other node is called edge / link. Link is nothing but a pointer to node in a tree structure.</a:t>
            </a:r>
          </a:p>
          <a:p>
            <a:pPr algn="l" rtl="0" eaLnBrk="1" hangingPunct="1"/>
            <a:r>
              <a:rPr lang="en-US" sz="2400" b="1" dirty="0" smtClean="0"/>
              <a:t>Leaf</a:t>
            </a:r>
          </a:p>
          <a:p>
            <a:pPr lvl="1" algn="l" rtl="0" eaLnBrk="1" hangingPunct="1"/>
            <a:r>
              <a:rPr lang="en-US" sz="2400" dirty="0" smtClean="0"/>
              <a:t>This node is located at the end of the tree. It does not have any child hence it is called leaf node.</a:t>
            </a:r>
            <a:endParaRPr lang="ur-PK" sz="2400" dirty="0" smtClean="0"/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7162800" y="152400"/>
            <a:ext cx="1752600" cy="1362075"/>
            <a:chOff x="6858000" y="5191125"/>
            <a:chExt cx="1752600" cy="1362075"/>
          </a:xfrm>
        </p:grpSpPr>
        <p:sp>
          <p:nvSpPr>
            <p:cNvPr id="11269" name="Oval 40"/>
            <p:cNvSpPr>
              <a:spLocks noChangeArrowheads="1"/>
            </p:cNvSpPr>
            <p:nvPr/>
          </p:nvSpPr>
          <p:spPr bwMode="auto">
            <a:xfrm>
              <a:off x="7848600" y="5981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6858000" y="5191125"/>
              <a:ext cx="1524000" cy="1362075"/>
              <a:chOff x="6858000" y="5191125"/>
              <a:chExt cx="1524000" cy="1362075"/>
            </a:xfrm>
          </p:grpSpPr>
          <p:sp>
            <p:nvSpPr>
              <p:cNvPr id="11271" name="Oval 38"/>
              <p:cNvSpPr>
                <a:spLocks noChangeArrowheads="1"/>
              </p:cNvSpPr>
              <p:nvPr/>
            </p:nvSpPr>
            <p:spPr bwMode="auto">
              <a:xfrm>
                <a:off x="7391400" y="5191125"/>
                <a:ext cx="762000" cy="571500"/>
              </a:xfrm>
              <a:prstGeom prst="ellipse">
                <a:avLst/>
              </a:prstGeom>
              <a:noFill/>
              <a:ln w="57150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11272" name="Oval 39"/>
              <p:cNvSpPr>
                <a:spLocks noChangeArrowheads="1"/>
              </p:cNvSpPr>
              <p:nvPr/>
            </p:nvSpPr>
            <p:spPr bwMode="auto">
              <a:xfrm>
                <a:off x="6858000" y="5981700"/>
                <a:ext cx="762000" cy="571500"/>
              </a:xfrm>
              <a:prstGeom prst="ellipse">
                <a:avLst/>
              </a:prstGeom>
              <a:noFill/>
              <a:ln w="57150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SA"/>
              </a:p>
            </p:txBody>
          </p:sp>
          <p:cxnSp>
            <p:nvCxnSpPr>
              <p:cNvPr id="11273" name="AutoShape 49"/>
              <p:cNvCxnSpPr>
                <a:cxnSpLocks noChangeShapeType="1"/>
                <a:stCxn id="11271" idx="4"/>
                <a:endCxn id="11269" idx="0"/>
              </p:cNvCxnSpPr>
              <p:nvPr/>
            </p:nvCxnSpPr>
            <p:spPr bwMode="auto">
              <a:xfrm>
                <a:off x="7772400" y="5791200"/>
                <a:ext cx="457200" cy="161925"/>
              </a:xfrm>
              <a:prstGeom prst="straightConnector1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1274" name="AutoShape 50"/>
              <p:cNvCxnSpPr>
                <a:cxnSpLocks noChangeShapeType="1"/>
                <a:stCxn id="11271" idx="4"/>
                <a:endCxn id="11272" idx="0"/>
              </p:cNvCxnSpPr>
              <p:nvPr/>
            </p:nvCxnSpPr>
            <p:spPr bwMode="auto">
              <a:xfrm flipH="1">
                <a:off x="7239000" y="5791200"/>
                <a:ext cx="533400" cy="161925"/>
              </a:xfrm>
              <a:prstGeom prst="straightConnector1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1275" name="Text Box 71"/>
              <p:cNvSpPr txBox="1">
                <a:spLocks noChangeArrowheads="1"/>
              </p:cNvSpPr>
              <p:nvPr/>
            </p:nvSpPr>
            <p:spPr bwMode="auto">
              <a:xfrm>
                <a:off x="7010400" y="5981700"/>
                <a:ext cx="381000" cy="36933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>
                    <a:solidFill>
                      <a:srgbClr val="FF3300"/>
                    </a:solidFill>
                  </a:rPr>
                  <a:t>B</a:t>
                </a:r>
              </a:p>
            </p:txBody>
          </p:sp>
          <p:sp>
            <p:nvSpPr>
              <p:cNvPr id="11276" name="Text Box 72"/>
              <p:cNvSpPr txBox="1">
                <a:spLocks noChangeArrowheads="1"/>
              </p:cNvSpPr>
              <p:nvPr/>
            </p:nvSpPr>
            <p:spPr bwMode="auto">
              <a:xfrm>
                <a:off x="7467600" y="5219700"/>
                <a:ext cx="533400" cy="36933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>
                    <a:solidFill>
                      <a:srgbClr val="FF3300"/>
                    </a:solidFill>
                  </a:rPr>
                  <a:t>A</a:t>
                </a:r>
              </a:p>
            </p:txBody>
          </p:sp>
          <p:sp>
            <p:nvSpPr>
              <p:cNvPr id="11277" name="Text Box 71"/>
              <p:cNvSpPr txBox="1">
                <a:spLocks noChangeArrowheads="1"/>
              </p:cNvSpPr>
              <p:nvPr/>
            </p:nvSpPr>
            <p:spPr bwMode="auto">
              <a:xfrm>
                <a:off x="8001000" y="6031468"/>
                <a:ext cx="381000" cy="36933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>
                    <a:solidFill>
                      <a:srgbClr val="FF3300"/>
                    </a:solidFill>
                  </a:rPr>
                  <a:t>C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Tree Terminologies</a:t>
            </a:r>
            <a:endParaRPr lang="ur-PK" smtClean="0"/>
          </a:p>
        </p:txBody>
      </p:sp>
      <p:sp>
        <p:nvSpPr>
          <p:cNvPr id="1028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algn="l" rtl="0" eaLnBrk="1" hangingPunct="1"/>
            <a:r>
              <a:rPr lang="en-US" sz="2400" b="1" dirty="0" smtClean="0"/>
              <a:t>Level</a:t>
            </a:r>
          </a:p>
          <a:p>
            <a:pPr lvl="1" algn="l" rtl="0" eaLnBrk="1" hangingPunct="1"/>
            <a:r>
              <a:rPr lang="en-US" sz="2000" b="1" dirty="0" smtClean="0"/>
              <a:t>Level is the rank of tree hierarchy. The whole tree structured is leveled. The level of the root node is always at 0. </a:t>
            </a:r>
            <a:r>
              <a:rPr lang="en-US" sz="2000" b="1" smtClean="0"/>
              <a:t>the immediate children of root are at level 1 and their children are at level 2 and so </a:t>
            </a:r>
            <a:r>
              <a:rPr lang="en-US" sz="2000" b="1" smtClean="0"/>
              <a:t>on</a:t>
            </a:r>
            <a:r>
              <a:rPr lang="en-US" sz="2000" b="1" smtClean="0"/>
              <a:t>. </a:t>
            </a:r>
            <a:endParaRPr lang="en-US" sz="2000" b="1" smtClean="0"/>
          </a:p>
          <a:p>
            <a:pPr algn="l" rtl="0" eaLnBrk="1" hangingPunct="1"/>
            <a:r>
              <a:rPr lang="en-US" sz="2400" b="1" dirty="0" smtClean="0"/>
              <a:t>Height</a:t>
            </a:r>
          </a:p>
          <a:p>
            <a:pPr lvl="1" algn="l" rtl="0" eaLnBrk="1" hangingPunct="1"/>
            <a:r>
              <a:rPr lang="en-US" sz="2000" b="1" dirty="0" smtClean="0"/>
              <a:t>The highest number of nodes that is possible in a way starting from the first node (ROOT) to a leaf node is called the height of tree. The formula for finding the height of a tree                    , where h is the height and I is the max level of the tree</a:t>
            </a:r>
          </a:p>
          <a:p>
            <a:pPr algn="l" rtl="0" eaLnBrk="1" hangingPunct="1">
              <a:buFontTx/>
              <a:buNone/>
            </a:pPr>
            <a:endParaRPr lang="ur-PK" sz="2400" b="1" dirty="0" smtClean="0"/>
          </a:p>
        </p:txBody>
      </p:sp>
      <p:grpSp>
        <p:nvGrpSpPr>
          <p:cNvPr id="2" name="Group 84"/>
          <p:cNvGrpSpPr>
            <a:grpSpLocks/>
          </p:cNvGrpSpPr>
          <p:nvPr/>
        </p:nvGrpSpPr>
        <p:grpSpPr bwMode="auto">
          <a:xfrm>
            <a:off x="2273300" y="4648200"/>
            <a:ext cx="6870700" cy="1981200"/>
            <a:chOff x="1828800" y="3962400"/>
            <a:chExt cx="6871315" cy="1981200"/>
          </a:xfrm>
        </p:grpSpPr>
        <p:sp>
          <p:nvSpPr>
            <p:cNvPr id="1030" name="Text Box 19"/>
            <p:cNvSpPr txBox="1">
              <a:spLocks noChangeArrowheads="1"/>
            </p:cNvSpPr>
            <p:nvPr/>
          </p:nvSpPr>
          <p:spPr bwMode="auto">
            <a:xfrm>
              <a:off x="1828800" y="3962400"/>
              <a:ext cx="1249060" cy="36933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rtl="0"/>
              <a:r>
                <a:rPr lang="en-US"/>
                <a:t>Root node</a:t>
              </a:r>
            </a:p>
          </p:txBody>
        </p:sp>
        <p:grpSp>
          <p:nvGrpSpPr>
            <p:cNvPr id="3" name="Group 83"/>
            <p:cNvGrpSpPr>
              <a:grpSpLocks/>
            </p:cNvGrpSpPr>
            <p:nvPr/>
          </p:nvGrpSpPr>
          <p:grpSpPr bwMode="auto">
            <a:xfrm>
              <a:off x="1828800" y="3962400"/>
              <a:ext cx="6871315" cy="1981200"/>
              <a:chOff x="1828800" y="3962400"/>
              <a:chExt cx="6871315" cy="1981200"/>
            </a:xfrm>
          </p:grpSpPr>
          <p:sp>
            <p:nvSpPr>
              <p:cNvPr id="1032" name="Oval 4"/>
              <p:cNvSpPr>
                <a:spLocks noChangeArrowheads="1"/>
              </p:cNvSpPr>
              <p:nvPr/>
            </p:nvSpPr>
            <p:spPr bwMode="auto">
              <a:xfrm>
                <a:off x="5257800" y="4010025"/>
                <a:ext cx="762000" cy="381000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l" rtl="0"/>
                <a:endParaRPr lang="ar-SA"/>
              </a:p>
            </p:txBody>
          </p:sp>
          <p:sp>
            <p:nvSpPr>
              <p:cNvPr id="1033" name="Oval 5"/>
              <p:cNvSpPr>
                <a:spLocks noChangeArrowheads="1"/>
              </p:cNvSpPr>
              <p:nvPr/>
            </p:nvSpPr>
            <p:spPr bwMode="auto">
              <a:xfrm>
                <a:off x="4343400" y="4848225"/>
                <a:ext cx="762000" cy="381000"/>
              </a:xfrm>
              <a:prstGeom prst="ellipse">
                <a:avLst/>
              </a:prstGeom>
              <a:noFill/>
              <a:ln w="57150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l" rtl="0"/>
                <a:endParaRPr lang="ar-SA"/>
              </a:p>
            </p:txBody>
          </p:sp>
          <p:sp>
            <p:nvSpPr>
              <p:cNvPr id="1034" name="Oval 6"/>
              <p:cNvSpPr>
                <a:spLocks noChangeArrowheads="1"/>
              </p:cNvSpPr>
              <p:nvPr/>
            </p:nvSpPr>
            <p:spPr bwMode="auto">
              <a:xfrm>
                <a:off x="5410200" y="4848225"/>
                <a:ext cx="762000" cy="381000"/>
              </a:xfrm>
              <a:prstGeom prst="ellipse">
                <a:avLst/>
              </a:prstGeom>
              <a:noFill/>
              <a:ln w="57150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l" rtl="0"/>
                <a:endParaRPr lang="ar-SA"/>
              </a:p>
            </p:txBody>
          </p:sp>
          <p:sp>
            <p:nvSpPr>
              <p:cNvPr id="1035" name="Oval 7"/>
              <p:cNvSpPr>
                <a:spLocks noChangeArrowheads="1"/>
              </p:cNvSpPr>
              <p:nvPr/>
            </p:nvSpPr>
            <p:spPr bwMode="auto">
              <a:xfrm>
                <a:off x="3886200" y="5534025"/>
                <a:ext cx="762000" cy="381000"/>
              </a:xfrm>
              <a:prstGeom prst="ellips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l" rtl="0"/>
                <a:endParaRPr lang="ar-SA"/>
              </a:p>
            </p:txBody>
          </p:sp>
          <p:sp>
            <p:nvSpPr>
              <p:cNvPr id="1036" name="Oval 8"/>
              <p:cNvSpPr>
                <a:spLocks noChangeArrowheads="1"/>
              </p:cNvSpPr>
              <p:nvPr/>
            </p:nvSpPr>
            <p:spPr bwMode="auto">
              <a:xfrm>
                <a:off x="4800600" y="5534025"/>
                <a:ext cx="762000" cy="381000"/>
              </a:xfrm>
              <a:prstGeom prst="ellips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l" rtl="0"/>
                <a:endParaRPr lang="ar-SA"/>
              </a:p>
            </p:txBody>
          </p:sp>
          <p:sp>
            <p:nvSpPr>
              <p:cNvPr id="1037" name="Oval 9"/>
              <p:cNvSpPr>
                <a:spLocks noChangeArrowheads="1"/>
              </p:cNvSpPr>
              <p:nvPr/>
            </p:nvSpPr>
            <p:spPr bwMode="auto">
              <a:xfrm>
                <a:off x="5715000" y="5534025"/>
                <a:ext cx="762000" cy="381000"/>
              </a:xfrm>
              <a:prstGeom prst="ellips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l" rtl="0"/>
                <a:endParaRPr lang="ar-SA"/>
              </a:p>
            </p:txBody>
          </p:sp>
          <p:sp>
            <p:nvSpPr>
              <p:cNvPr id="1038" name="Oval 10"/>
              <p:cNvSpPr>
                <a:spLocks noChangeArrowheads="1"/>
              </p:cNvSpPr>
              <p:nvPr/>
            </p:nvSpPr>
            <p:spPr bwMode="auto">
              <a:xfrm>
                <a:off x="6629400" y="5534025"/>
                <a:ext cx="762000" cy="381000"/>
              </a:xfrm>
              <a:prstGeom prst="ellips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l" rtl="0"/>
                <a:endParaRPr lang="ar-SA"/>
              </a:p>
            </p:txBody>
          </p:sp>
          <p:cxnSp>
            <p:nvCxnSpPr>
              <p:cNvPr id="1039" name="AutoShape 11"/>
              <p:cNvCxnSpPr>
                <a:cxnSpLocks noChangeShapeType="1"/>
                <a:stCxn id="1033" idx="4"/>
                <a:endCxn id="1035" idx="0"/>
              </p:cNvCxnSpPr>
              <p:nvPr/>
            </p:nvCxnSpPr>
            <p:spPr bwMode="auto">
              <a:xfrm flipH="1">
                <a:off x="4267200" y="5257800"/>
                <a:ext cx="457200" cy="247650"/>
              </a:xfrm>
              <a:prstGeom prst="straightConnector1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040" name="AutoShape 12"/>
              <p:cNvCxnSpPr>
                <a:cxnSpLocks noChangeShapeType="1"/>
                <a:stCxn id="1034" idx="4"/>
                <a:endCxn id="1036" idx="0"/>
              </p:cNvCxnSpPr>
              <p:nvPr/>
            </p:nvCxnSpPr>
            <p:spPr bwMode="auto">
              <a:xfrm flipH="1">
                <a:off x="5181600" y="5257800"/>
                <a:ext cx="609600" cy="247650"/>
              </a:xfrm>
              <a:prstGeom prst="straightConnector1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041" name="AutoShape 13"/>
              <p:cNvCxnSpPr>
                <a:cxnSpLocks noChangeShapeType="1"/>
                <a:stCxn id="1034" idx="4"/>
                <a:endCxn id="1037" idx="0"/>
              </p:cNvCxnSpPr>
              <p:nvPr/>
            </p:nvCxnSpPr>
            <p:spPr bwMode="auto">
              <a:xfrm>
                <a:off x="5791200" y="5257800"/>
                <a:ext cx="304800" cy="247650"/>
              </a:xfrm>
              <a:prstGeom prst="straightConnector1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042" name="AutoShape 14"/>
              <p:cNvCxnSpPr>
                <a:cxnSpLocks noChangeShapeType="1"/>
                <a:stCxn id="1034" idx="4"/>
                <a:endCxn id="1038" idx="0"/>
              </p:cNvCxnSpPr>
              <p:nvPr/>
            </p:nvCxnSpPr>
            <p:spPr bwMode="auto">
              <a:xfrm>
                <a:off x="5791200" y="5257800"/>
                <a:ext cx="1219200" cy="247650"/>
              </a:xfrm>
              <a:prstGeom prst="straightConnector1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043" name="AutoShape 15"/>
              <p:cNvCxnSpPr>
                <a:cxnSpLocks noChangeShapeType="1"/>
                <a:stCxn id="1032" idx="4"/>
                <a:endCxn id="1034" idx="0"/>
              </p:cNvCxnSpPr>
              <p:nvPr/>
            </p:nvCxnSpPr>
            <p:spPr bwMode="auto">
              <a:xfrm>
                <a:off x="5638800" y="4419600"/>
                <a:ext cx="152400" cy="400050"/>
              </a:xfrm>
              <a:prstGeom prst="straightConnector1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044" name="AutoShape 16"/>
              <p:cNvCxnSpPr>
                <a:cxnSpLocks noChangeShapeType="1"/>
                <a:stCxn id="1032" idx="4"/>
                <a:endCxn id="1033" idx="0"/>
              </p:cNvCxnSpPr>
              <p:nvPr/>
            </p:nvCxnSpPr>
            <p:spPr bwMode="auto">
              <a:xfrm flipH="1">
                <a:off x="4724400" y="4419600"/>
                <a:ext cx="914400" cy="400050"/>
              </a:xfrm>
              <a:prstGeom prst="straightConnector1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45" name="Oval 17"/>
              <p:cNvSpPr>
                <a:spLocks noChangeArrowheads="1"/>
              </p:cNvSpPr>
              <p:nvPr/>
            </p:nvSpPr>
            <p:spPr bwMode="auto">
              <a:xfrm>
                <a:off x="6400800" y="4848225"/>
                <a:ext cx="762000" cy="381000"/>
              </a:xfrm>
              <a:prstGeom prst="ellips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l" rtl="0"/>
                <a:endParaRPr lang="ar-SA"/>
              </a:p>
            </p:txBody>
          </p:sp>
          <p:cxnSp>
            <p:nvCxnSpPr>
              <p:cNvPr id="1046" name="AutoShape 18"/>
              <p:cNvCxnSpPr>
                <a:cxnSpLocks noChangeShapeType="1"/>
                <a:stCxn id="1032" idx="4"/>
                <a:endCxn id="1045" idx="0"/>
              </p:cNvCxnSpPr>
              <p:nvPr/>
            </p:nvCxnSpPr>
            <p:spPr bwMode="auto">
              <a:xfrm>
                <a:off x="5638800" y="4419600"/>
                <a:ext cx="1143000" cy="400050"/>
              </a:xfrm>
              <a:prstGeom prst="straightConnector1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47" name="Text Box 20"/>
              <p:cNvSpPr txBox="1">
                <a:spLocks noChangeArrowheads="1"/>
              </p:cNvSpPr>
              <p:nvPr/>
            </p:nvSpPr>
            <p:spPr bwMode="auto">
              <a:xfrm>
                <a:off x="1828800" y="5486400"/>
                <a:ext cx="1326004" cy="36933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rtl="0"/>
                <a:r>
                  <a:rPr lang="en-US">
                    <a:solidFill>
                      <a:srgbClr val="FF3300"/>
                    </a:solidFill>
                  </a:rPr>
                  <a:t>Leaf nodes</a:t>
                </a:r>
              </a:p>
            </p:txBody>
          </p:sp>
          <p:sp>
            <p:nvSpPr>
              <p:cNvPr id="1048" name="Text Box 21"/>
              <p:cNvSpPr txBox="1">
                <a:spLocks noChangeArrowheads="1"/>
              </p:cNvSpPr>
              <p:nvPr/>
            </p:nvSpPr>
            <p:spPr bwMode="auto">
              <a:xfrm>
                <a:off x="1828800" y="4800600"/>
                <a:ext cx="1595309" cy="36933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rtl="0"/>
                <a:r>
                  <a:rPr lang="en-US">
                    <a:solidFill>
                      <a:schemeClr val="tx2"/>
                    </a:solidFill>
                  </a:rPr>
                  <a:t>Interior nodes</a:t>
                </a:r>
              </a:p>
            </p:txBody>
          </p:sp>
          <p:sp>
            <p:nvSpPr>
              <p:cNvPr id="1049" name="Text Box 22"/>
              <p:cNvSpPr txBox="1">
                <a:spLocks noChangeArrowheads="1"/>
              </p:cNvSpPr>
              <p:nvPr/>
            </p:nvSpPr>
            <p:spPr bwMode="auto">
              <a:xfrm>
                <a:off x="7848600" y="4724400"/>
                <a:ext cx="851515" cy="36933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rtl="0"/>
                <a:r>
                  <a:rPr lang="en-US">
                    <a:solidFill>
                      <a:srgbClr val="0000FF"/>
                    </a:solidFill>
                  </a:rPr>
                  <a:t>Height</a:t>
                </a:r>
              </a:p>
            </p:txBody>
          </p:sp>
          <p:sp>
            <p:nvSpPr>
              <p:cNvPr id="1050" name="AutoShape 23"/>
              <p:cNvSpPr>
                <a:spLocks/>
              </p:cNvSpPr>
              <p:nvPr/>
            </p:nvSpPr>
            <p:spPr bwMode="auto">
              <a:xfrm>
                <a:off x="7467600" y="3962400"/>
                <a:ext cx="381000" cy="1981200"/>
              </a:xfrm>
              <a:prstGeom prst="rightBrace">
                <a:avLst>
                  <a:gd name="adj1" fmla="val 43333"/>
                  <a:gd name="adj2" fmla="val 50000"/>
                </a:avLst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l" rtl="0"/>
                <a:endParaRPr lang="ar-SA"/>
              </a:p>
            </p:txBody>
          </p:sp>
        </p:grpSp>
      </p:grp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5334000" y="3733800"/>
          <a:ext cx="1219200" cy="457200"/>
        </p:xfrm>
        <a:graphic>
          <a:graphicData uri="http://schemas.openxmlformats.org/presentationml/2006/ole">
            <p:oleObj spid="_x0000_s2050" name="Equation" r:id="rId4" imgW="67284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Tree Terminologies</a:t>
            </a:r>
            <a:endParaRPr lang="ur-PK" smtClean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algn="l" rtl="0" eaLnBrk="1" hangingPunct="1"/>
            <a:r>
              <a:rPr lang="en-US" sz="2400" b="1" dirty="0" smtClean="0"/>
              <a:t>Sibling</a:t>
            </a:r>
          </a:p>
          <a:p>
            <a:pPr lvl="1" algn="l" rtl="0" eaLnBrk="1" hangingPunct="1"/>
            <a:r>
              <a:rPr lang="en-US" sz="2000" b="1" dirty="0" smtClean="0"/>
              <a:t>The child node of same parent are called sibling. They are also called brother nodes.</a:t>
            </a:r>
          </a:p>
          <a:p>
            <a:pPr algn="l" rtl="0" eaLnBrk="1" hangingPunct="1"/>
            <a:r>
              <a:rPr lang="en-US" sz="2400" b="1" dirty="0" smtClean="0"/>
              <a:t>Degree of a Node</a:t>
            </a:r>
          </a:p>
          <a:p>
            <a:pPr lvl="1" algn="l" rtl="0" eaLnBrk="1" hangingPunct="1"/>
            <a:r>
              <a:rPr lang="en-US" sz="2000" b="1" dirty="0" smtClean="0"/>
              <a:t>The maximum number of children that exists for a node is called as degree of a node.</a:t>
            </a:r>
          </a:p>
          <a:p>
            <a:pPr algn="l" rtl="0" eaLnBrk="1" hangingPunct="1"/>
            <a:r>
              <a:rPr lang="en-US" sz="2400" b="1" dirty="0" smtClean="0"/>
              <a:t>Terminal Node</a:t>
            </a:r>
          </a:p>
          <a:p>
            <a:pPr lvl="1" algn="l" rtl="0" eaLnBrk="1" hangingPunct="1"/>
            <a:r>
              <a:rPr lang="en-US" sz="2000" b="1" dirty="0" smtClean="0"/>
              <a:t>The node with degree zero is called terminal node or leaf.</a:t>
            </a:r>
          </a:p>
          <a:p>
            <a:pPr algn="l" rtl="0" eaLnBrk="1" hangingPunct="1"/>
            <a:r>
              <a:rPr lang="en-US" sz="2400" b="1" dirty="0" smtClean="0"/>
              <a:t>Path length.</a:t>
            </a:r>
          </a:p>
          <a:p>
            <a:pPr lvl="1" algn="l" rtl="0" eaLnBrk="1" hangingPunct="1"/>
            <a:r>
              <a:rPr lang="en-US" sz="2000" b="1" dirty="0" smtClean="0"/>
              <a:t>Is the number of successive edges from source node to destination node.</a:t>
            </a:r>
          </a:p>
          <a:p>
            <a:pPr algn="l" rtl="0" eaLnBrk="1" hangingPunct="1"/>
            <a:r>
              <a:rPr lang="en-US" sz="2400" b="1" dirty="0" smtClean="0"/>
              <a:t>Ancestor and descendant</a:t>
            </a:r>
          </a:p>
          <a:p>
            <a:pPr lvl="1" algn="l" rtl="0" eaLnBrk="1" hangingPunct="1"/>
            <a:r>
              <a:rPr lang="en-US" sz="2000" b="1" dirty="0" smtClean="0"/>
              <a:t>Proper ancestor and proper descendant</a:t>
            </a:r>
          </a:p>
          <a:p>
            <a:pPr algn="l" rtl="0" eaLnBrk="1" hangingPunct="1"/>
            <a:endParaRPr lang="en-US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Tree Terminologies</a:t>
            </a:r>
            <a:endParaRPr lang="ur-PK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algn="l" rtl="0" eaLnBrk="1" hangingPunct="1"/>
            <a:r>
              <a:rPr lang="en-US" sz="2400" b="1" smtClean="0"/>
              <a:t>Depth</a:t>
            </a:r>
          </a:p>
          <a:p>
            <a:pPr lvl="1" algn="l" rtl="0" eaLnBrk="1" hangingPunct="1"/>
            <a:r>
              <a:rPr lang="en-US" sz="2000" b="1" smtClean="0"/>
              <a:t>Depth of a binary tree is the maximum level of any leaf of a tree.</a:t>
            </a:r>
          </a:p>
          <a:p>
            <a:pPr algn="l" rtl="0" eaLnBrk="1" hangingPunct="1"/>
            <a:r>
              <a:rPr lang="en-US" sz="2400" b="1" smtClean="0"/>
              <a:t>Forest</a:t>
            </a:r>
          </a:p>
          <a:p>
            <a:pPr lvl="1" algn="l" rtl="0" eaLnBrk="1" hangingPunct="1"/>
            <a:r>
              <a:rPr lang="en-US" sz="2000" b="1" smtClean="0"/>
              <a:t>It is a group of disjoint trees. If we remove a root node from a tree then it becomes the forest. In the following example, if we remove a root A then two disjoint sub-trees will be observed. They are left sub-tree B and right sub-tree C.</a:t>
            </a:r>
            <a:endParaRPr lang="ur-PK" sz="2000" b="1" smtClean="0"/>
          </a:p>
          <a:p>
            <a:pPr algn="l" rtl="0" eaLnBrk="1" hangingPunct="1"/>
            <a:endParaRPr lang="ur-PK" smtClean="0"/>
          </a:p>
        </p:txBody>
      </p:sp>
      <p:sp>
        <p:nvSpPr>
          <p:cNvPr id="13316" name="Oval 40"/>
          <p:cNvSpPr>
            <a:spLocks noChangeArrowheads="1"/>
          </p:cNvSpPr>
          <p:nvPr/>
        </p:nvSpPr>
        <p:spPr bwMode="auto">
          <a:xfrm>
            <a:off x="4191000" y="4457700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3317" name="Oval 38"/>
          <p:cNvSpPr>
            <a:spLocks noChangeArrowheads="1"/>
          </p:cNvSpPr>
          <p:nvPr/>
        </p:nvSpPr>
        <p:spPr bwMode="auto">
          <a:xfrm>
            <a:off x="3733800" y="366712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3318" name="Oval 39"/>
          <p:cNvSpPr>
            <a:spLocks noChangeArrowheads="1"/>
          </p:cNvSpPr>
          <p:nvPr/>
        </p:nvSpPr>
        <p:spPr bwMode="auto">
          <a:xfrm>
            <a:off x="3200400" y="4457700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cxnSp>
        <p:nvCxnSpPr>
          <p:cNvPr id="13319" name="AutoShape 49"/>
          <p:cNvCxnSpPr>
            <a:cxnSpLocks noChangeShapeType="1"/>
            <a:stCxn id="13317" idx="4"/>
            <a:endCxn id="13316" idx="0"/>
          </p:cNvCxnSpPr>
          <p:nvPr/>
        </p:nvCxnSpPr>
        <p:spPr bwMode="auto">
          <a:xfrm>
            <a:off x="4114800" y="4267200"/>
            <a:ext cx="457200" cy="1619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13320" name="AutoShape 50"/>
          <p:cNvCxnSpPr>
            <a:cxnSpLocks noChangeShapeType="1"/>
            <a:stCxn id="13317" idx="4"/>
            <a:endCxn id="13318" idx="0"/>
          </p:cNvCxnSpPr>
          <p:nvPr/>
        </p:nvCxnSpPr>
        <p:spPr bwMode="auto">
          <a:xfrm flipH="1">
            <a:off x="3581400" y="4267200"/>
            <a:ext cx="533400" cy="1619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13321" name="Text Box 71"/>
          <p:cNvSpPr txBox="1">
            <a:spLocks noChangeArrowheads="1"/>
          </p:cNvSpPr>
          <p:nvPr/>
        </p:nvSpPr>
        <p:spPr bwMode="auto">
          <a:xfrm>
            <a:off x="3352800" y="4457700"/>
            <a:ext cx="381000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</a:rPr>
              <a:t>B</a:t>
            </a:r>
          </a:p>
        </p:txBody>
      </p:sp>
      <p:sp>
        <p:nvSpPr>
          <p:cNvPr id="13322" name="Text Box 72"/>
          <p:cNvSpPr txBox="1">
            <a:spLocks noChangeArrowheads="1"/>
          </p:cNvSpPr>
          <p:nvPr/>
        </p:nvSpPr>
        <p:spPr bwMode="auto">
          <a:xfrm>
            <a:off x="3810000" y="3695700"/>
            <a:ext cx="533400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</a:rPr>
              <a:t>A</a:t>
            </a:r>
          </a:p>
        </p:txBody>
      </p:sp>
      <p:sp>
        <p:nvSpPr>
          <p:cNvPr id="13323" name="Text Box 71"/>
          <p:cNvSpPr txBox="1">
            <a:spLocks noChangeArrowheads="1"/>
          </p:cNvSpPr>
          <p:nvPr/>
        </p:nvSpPr>
        <p:spPr bwMode="auto">
          <a:xfrm>
            <a:off x="4343400" y="4506913"/>
            <a:ext cx="381000" cy="369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</a:rPr>
              <a:t>C</a:t>
            </a:r>
          </a:p>
        </p:txBody>
      </p:sp>
      <p:sp>
        <p:nvSpPr>
          <p:cNvPr id="13324" name="Oval 39"/>
          <p:cNvSpPr>
            <a:spLocks noChangeArrowheads="1"/>
          </p:cNvSpPr>
          <p:nvPr/>
        </p:nvSpPr>
        <p:spPr bwMode="auto">
          <a:xfrm>
            <a:off x="2667000" y="5219700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cxnSp>
        <p:nvCxnSpPr>
          <p:cNvPr id="13325" name="AutoShape 50"/>
          <p:cNvCxnSpPr>
            <a:cxnSpLocks noChangeShapeType="1"/>
            <a:endCxn id="13324" idx="0"/>
          </p:cNvCxnSpPr>
          <p:nvPr/>
        </p:nvCxnSpPr>
        <p:spPr bwMode="auto">
          <a:xfrm flipH="1">
            <a:off x="3048000" y="5029200"/>
            <a:ext cx="533400" cy="1619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13326" name="Text Box 71"/>
          <p:cNvSpPr txBox="1">
            <a:spLocks noChangeArrowheads="1"/>
          </p:cNvSpPr>
          <p:nvPr/>
        </p:nvSpPr>
        <p:spPr bwMode="auto">
          <a:xfrm>
            <a:off x="2819400" y="5219700"/>
            <a:ext cx="381000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</a:rPr>
              <a:t>D</a:t>
            </a:r>
          </a:p>
        </p:txBody>
      </p:sp>
      <p:sp>
        <p:nvSpPr>
          <p:cNvPr id="13327" name="Oval 40"/>
          <p:cNvSpPr>
            <a:spLocks noChangeArrowheads="1"/>
          </p:cNvSpPr>
          <p:nvPr/>
        </p:nvSpPr>
        <p:spPr bwMode="auto">
          <a:xfrm>
            <a:off x="4648200" y="5219700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3328" name="Oval 39"/>
          <p:cNvSpPr>
            <a:spLocks noChangeArrowheads="1"/>
          </p:cNvSpPr>
          <p:nvPr/>
        </p:nvSpPr>
        <p:spPr bwMode="auto">
          <a:xfrm>
            <a:off x="3657600" y="5219700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cxnSp>
        <p:nvCxnSpPr>
          <p:cNvPr id="13329" name="AutoShape 49"/>
          <p:cNvCxnSpPr>
            <a:cxnSpLocks noChangeShapeType="1"/>
            <a:endCxn id="13327" idx="0"/>
          </p:cNvCxnSpPr>
          <p:nvPr/>
        </p:nvCxnSpPr>
        <p:spPr bwMode="auto">
          <a:xfrm>
            <a:off x="4572000" y="5029200"/>
            <a:ext cx="457200" cy="1619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13330" name="AutoShape 50"/>
          <p:cNvCxnSpPr>
            <a:cxnSpLocks noChangeShapeType="1"/>
            <a:endCxn id="13328" idx="0"/>
          </p:cNvCxnSpPr>
          <p:nvPr/>
        </p:nvCxnSpPr>
        <p:spPr bwMode="auto">
          <a:xfrm flipH="1">
            <a:off x="4038600" y="5029200"/>
            <a:ext cx="533400" cy="1619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13331" name="Text Box 71"/>
          <p:cNvSpPr txBox="1">
            <a:spLocks noChangeArrowheads="1"/>
          </p:cNvSpPr>
          <p:nvPr/>
        </p:nvSpPr>
        <p:spPr bwMode="auto">
          <a:xfrm>
            <a:off x="3810000" y="5219700"/>
            <a:ext cx="381000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</a:rPr>
              <a:t>E</a:t>
            </a:r>
          </a:p>
        </p:txBody>
      </p:sp>
      <p:sp>
        <p:nvSpPr>
          <p:cNvPr id="13332" name="Text Box 71"/>
          <p:cNvSpPr txBox="1">
            <a:spLocks noChangeArrowheads="1"/>
          </p:cNvSpPr>
          <p:nvPr/>
        </p:nvSpPr>
        <p:spPr bwMode="auto">
          <a:xfrm>
            <a:off x="4800600" y="5268913"/>
            <a:ext cx="381000" cy="369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</a:rPr>
              <a:t>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Binary Trees</a:t>
            </a:r>
            <a:endParaRPr lang="ur-PK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>
              <a:defRPr/>
            </a:pPr>
            <a:r>
              <a:rPr lang="en-US" sz="2400" dirty="0" smtClean="0">
                <a:sym typeface="Marlett" pitchFamily="2" charset="2"/>
              </a:rPr>
              <a:t>The simplest form of tree is a </a:t>
            </a:r>
            <a:r>
              <a:rPr lang="en-US" sz="2400" b="1" dirty="0" smtClean="0">
                <a:solidFill>
                  <a:srgbClr val="FA0000"/>
                </a:solidFill>
                <a:sym typeface="Marlett" pitchFamily="2" charset="2"/>
              </a:rPr>
              <a:t>binary tree</a:t>
            </a:r>
            <a:r>
              <a:rPr lang="en-US" sz="2400" dirty="0" smtClean="0">
                <a:sym typeface="Marlett" pitchFamily="2" charset="2"/>
              </a:rPr>
              <a:t>. A binary tree consists of </a:t>
            </a:r>
          </a:p>
          <a:p>
            <a:pPr marL="914400" lvl="1" indent="-457200" algn="l" rtl="0" eaLnBrk="1" hangingPunct="1">
              <a:defRPr/>
            </a:pPr>
            <a:r>
              <a:rPr lang="en-US" sz="2200" dirty="0" smtClean="0">
                <a:sym typeface="Marlett" pitchFamily="2" charset="2"/>
              </a:rPr>
              <a:t>a </a:t>
            </a:r>
            <a:r>
              <a:rPr lang="en-US" sz="2200" i="1" dirty="0" smtClean="0">
                <a:sym typeface="Marlett" pitchFamily="2" charset="2"/>
              </a:rPr>
              <a:t>node</a:t>
            </a:r>
            <a:r>
              <a:rPr lang="en-US" sz="2200" dirty="0" smtClean="0">
                <a:sym typeface="Marlett" pitchFamily="2" charset="2"/>
              </a:rPr>
              <a:t> (called the </a:t>
            </a:r>
            <a:r>
              <a:rPr lang="en-US" sz="2200" b="1" dirty="0" smtClean="0">
                <a:solidFill>
                  <a:srgbClr val="FA0000"/>
                </a:solidFill>
                <a:sym typeface="Marlett" pitchFamily="2" charset="2"/>
              </a:rPr>
              <a:t>root</a:t>
            </a:r>
            <a:r>
              <a:rPr lang="en-US" sz="2200" dirty="0" smtClean="0">
                <a:sym typeface="Marlett" pitchFamily="2" charset="2"/>
              </a:rPr>
              <a:t> node) and </a:t>
            </a:r>
          </a:p>
          <a:p>
            <a:pPr marL="914400" lvl="1" indent="-457200" algn="l" rtl="0" eaLnBrk="1" hangingPunct="1">
              <a:defRPr/>
            </a:pPr>
            <a:r>
              <a:rPr lang="en-US" sz="2200" dirty="0" smtClean="0">
                <a:sym typeface="Marlett" pitchFamily="2" charset="2"/>
              </a:rPr>
              <a:t>left and right sub-trees.</a:t>
            </a:r>
            <a:br>
              <a:rPr lang="en-US" sz="2200" dirty="0" smtClean="0">
                <a:sym typeface="Marlett" pitchFamily="2" charset="2"/>
              </a:rPr>
            </a:br>
            <a:r>
              <a:rPr lang="en-US" sz="2200" dirty="0" smtClean="0">
                <a:sym typeface="Marlett" pitchFamily="2" charset="2"/>
              </a:rPr>
              <a:t>Both the sub-trees are themselves binary trees</a:t>
            </a:r>
          </a:p>
          <a:p>
            <a:pPr algn="l" rtl="0" eaLnBrk="1" hangingPunct="1">
              <a:defRPr/>
            </a:pPr>
            <a:r>
              <a:rPr lang="en-US" sz="2400" dirty="0" smtClean="0">
                <a:sym typeface="Marlett" pitchFamily="2" charset="2"/>
              </a:rPr>
              <a:t>We now have a </a:t>
            </a:r>
            <a:r>
              <a:rPr lang="en-US" sz="2400" i="1" dirty="0" smtClean="0">
                <a:sym typeface="Marlett" pitchFamily="2" charset="2"/>
              </a:rPr>
              <a:t>recursively defined data structure</a:t>
            </a:r>
            <a:r>
              <a:rPr lang="en-US" sz="2400" dirty="0" smtClean="0">
                <a:latin typeface="Times New Roman" pitchFamily="18" charset="0"/>
                <a:sym typeface="Marlett" pitchFamily="2" charset="2"/>
              </a:rPr>
              <a:t>. </a:t>
            </a:r>
          </a:p>
          <a:p>
            <a:pPr algn="l" rtl="0" eaLnBrk="1" hangingPunct="1">
              <a:defRPr/>
            </a:pPr>
            <a:endParaRPr lang="en-US" sz="2400" dirty="0" smtClean="0">
              <a:sym typeface="Marlett" pitchFamily="2" charset="2"/>
            </a:endParaRPr>
          </a:p>
          <a:p>
            <a:pPr algn="l" rtl="0" eaLnBrk="1" hangingPunct="1">
              <a:defRPr/>
            </a:pPr>
            <a:endParaRPr lang="en-US" sz="2400" dirty="0" smtClean="0">
              <a:sym typeface="Marlett" pitchFamily="2" charset="2"/>
            </a:endParaRPr>
          </a:p>
          <a:p>
            <a:pPr algn="l" rtl="0" eaLnBrk="1" hangingPunct="1">
              <a:defRPr/>
            </a:pPr>
            <a:r>
              <a:rPr lang="en-US" sz="2400" dirty="0" smtClean="0">
                <a:sym typeface="Marlett" pitchFamily="2" charset="2"/>
              </a:rPr>
              <a:t>Also, a tree is binary if each node of it has a maximum of two branches i.e. a node of a binary tree can have maximum two children.</a:t>
            </a:r>
          </a:p>
          <a:p>
            <a:pPr lvl="1" algn="l" rtl="0" eaLnBrk="1" hangingPunct="1">
              <a:buFontTx/>
              <a:buNone/>
              <a:defRPr/>
            </a:pPr>
            <a:endParaRPr lang="ur-PK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5" descr="Image:Binary tree.sv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371600"/>
            <a:ext cx="4876800" cy="427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Rectangle 6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10600" cy="723900"/>
          </a:xfrm>
          <a:noFill/>
        </p:spPr>
        <p:txBody>
          <a:bodyPr lIns="92075" tIns="46038" rIns="92075" bIns="46038" anchor="b">
            <a:normAutofit fontScale="90000"/>
          </a:bodyPr>
          <a:lstStyle/>
          <a:p>
            <a:pPr eaLnBrk="1" hangingPunct="1"/>
            <a:r>
              <a:rPr lang="en-US" smtClean="0"/>
              <a:t>A Binary Tree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731838"/>
            <a:ext cx="7489825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>
                <a:solidFill>
                  <a:schemeClr val="folHlink"/>
                </a:solidFill>
              </a:rPr>
              <a:t>Binary Tree</a:t>
            </a:r>
          </a:p>
        </p:txBody>
      </p:sp>
      <p:pic>
        <p:nvPicPr>
          <p:cNvPr id="16387" name="Picture 3" descr="tre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524000"/>
            <a:ext cx="8332788" cy="4872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Notation</a:t>
            </a:r>
          </a:p>
        </p:txBody>
      </p:sp>
      <p:sp>
        <p:nvSpPr>
          <p:cNvPr id="386051" name="Text Box 3"/>
          <p:cNvSpPr txBox="1">
            <a:spLocks noChangeArrowheads="1"/>
          </p:cNvSpPr>
          <p:nvPr/>
        </p:nvSpPr>
        <p:spPr bwMode="auto">
          <a:xfrm>
            <a:off x="511175" y="1600200"/>
            <a:ext cx="2359025" cy="187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rtl="0" eaLnBrk="0" hangingPunct="0"/>
            <a:r>
              <a:rPr lang="en-US" sz="2800" u="sng" dirty="0">
                <a:latin typeface="Comic Sans MS" pitchFamily="66" charset="0"/>
              </a:rPr>
              <a:t>node</a:t>
            </a:r>
          </a:p>
          <a:p>
            <a:pPr algn="l" rtl="0" eaLnBrk="0" hangingPunct="0">
              <a:buFontTx/>
              <a:buChar char="•"/>
            </a:pPr>
            <a:endParaRPr lang="en-US" sz="2400" dirty="0">
              <a:latin typeface="Comic Sans MS" pitchFamily="66" charset="0"/>
            </a:endParaRPr>
          </a:p>
          <a:p>
            <a:pPr algn="l" rtl="0" eaLnBrk="0" hangingPunct="0">
              <a:buFontTx/>
              <a:buChar char="•"/>
            </a:pPr>
            <a:r>
              <a:rPr lang="en-US" sz="2400" dirty="0">
                <a:latin typeface="Comic Sans MS" pitchFamily="66" charset="0"/>
              </a:rPr>
              <a:t>root</a:t>
            </a:r>
          </a:p>
          <a:p>
            <a:pPr lvl="1" algn="l" rtl="0" eaLnBrk="0" hangingPunct="0">
              <a:buFontTx/>
              <a:buChar char="•"/>
            </a:pPr>
            <a:r>
              <a:rPr lang="en-US" sz="2000" dirty="0">
                <a:latin typeface="Comic Sans MS" pitchFamily="66" charset="0"/>
              </a:rPr>
              <a:t>left </a:t>
            </a:r>
            <a:r>
              <a:rPr lang="en-US" sz="2000" dirty="0" err="1">
                <a:latin typeface="Comic Sans MS" pitchFamily="66" charset="0"/>
              </a:rPr>
              <a:t>subtree</a:t>
            </a:r>
            <a:endParaRPr lang="en-US" sz="2000" dirty="0">
              <a:latin typeface="Comic Sans MS" pitchFamily="66" charset="0"/>
            </a:endParaRPr>
          </a:p>
          <a:p>
            <a:pPr lvl="1" algn="l" rtl="0" eaLnBrk="0" hangingPunct="0">
              <a:buFontTx/>
              <a:buChar char="•"/>
            </a:pPr>
            <a:r>
              <a:rPr lang="en-US" sz="2000" dirty="0">
                <a:latin typeface="Comic Sans MS" pitchFamily="66" charset="0"/>
              </a:rPr>
              <a:t>right </a:t>
            </a:r>
            <a:r>
              <a:rPr lang="en-US" sz="2000" dirty="0" err="1">
                <a:latin typeface="Comic Sans MS" pitchFamily="66" charset="0"/>
              </a:rPr>
              <a:t>subtree</a:t>
            </a:r>
            <a:endParaRPr lang="en-US" sz="2000" dirty="0">
              <a:latin typeface="Comic Sans MS" pitchFamily="66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24000" y="1828800"/>
            <a:ext cx="6934200" cy="3429000"/>
            <a:chOff x="960" y="1152"/>
            <a:chExt cx="4368" cy="2160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960" y="1152"/>
              <a:ext cx="2640" cy="528"/>
              <a:chOff x="960" y="1152"/>
              <a:chExt cx="2640" cy="528"/>
            </a:xfrm>
          </p:grpSpPr>
          <p:sp>
            <p:nvSpPr>
              <p:cNvPr id="17456" name="Line 6"/>
              <p:cNvSpPr>
                <a:spLocks noChangeShapeType="1"/>
              </p:cNvSpPr>
              <p:nvPr/>
            </p:nvSpPr>
            <p:spPr bwMode="auto">
              <a:xfrm flipV="1">
                <a:off x="960" y="1344"/>
                <a:ext cx="2160" cy="33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7" name="Oval 7"/>
              <p:cNvSpPr>
                <a:spLocks noChangeArrowheads="1"/>
              </p:cNvSpPr>
              <p:nvPr/>
            </p:nvSpPr>
            <p:spPr bwMode="auto">
              <a:xfrm>
                <a:off x="3216" y="1152"/>
                <a:ext cx="384" cy="38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</p:grpSp>
        <p:sp>
          <p:nvSpPr>
            <p:cNvPr id="17418" name="Line 8"/>
            <p:cNvSpPr>
              <a:spLocks noChangeShapeType="1"/>
            </p:cNvSpPr>
            <p:nvPr/>
          </p:nvSpPr>
          <p:spPr bwMode="auto">
            <a:xfrm flipH="1">
              <a:off x="2736" y="1440"/>
              <a:ext cx="52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9" name="Line 9"/>
            <p:cNvSpPr>
              <a:spLocks noChangeShapeType="1"/>
            </p:cNvSpPr>
            <p:nvPr/>
          </p:nvSpPr>
          <p:spPr bwMode="auto">
            <a:xfrm>
              <a:off x="3600" y="1440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0" name="Line 10"/>
            <p:cNvSpPr>
              <a:spLocks noChangeShapeType="1"/>
            </p:cNvSpPr>
            <p:nvPr/>
          </p:nvSpPr>
          <p:spPr bwMode="auto">
            <a:xfrm>
              <a:off x="2688" y="2016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1" name="Line 11"/>
            <p:cNvSpPr>
              <a:spLocks noChangeShapeType="1"/>
            </p:cNvSpPr>
            <p:nvPr/>
          </p:nvSpPr>
          <p:spPr bwMode="auto">
            <a:xfrm flipH="1">
              <a:off x="3936" y="2016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2" name="Line 12"/>
            <p:cNvSpPr>
              <a:spLocks noChangeShapeType="1"/>
            </p:cNvSpPr>
            <p:nvPr/>
          </p:nvSpPr>
          <p:spPr bwMode="auto">
            <a:xfrm flipH="1">
              <a:off x="3504" y="2640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3" name="Line 13"/>
            <p:cNvSpPr>
              <a:spLocks noChangeShapeType="1"/>
            </p:cNvSpPr>
            <p:nvPr/>
          </p:nvSpPr>
          <p:spPr bwMode="auto">
            <a:xfrm flipH="1">
              <a:off x="4464" y="254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4" name="Line 14"/>
            <p:cNvSpPr>
              <a:spLocks noChangeShapeType="1"/>
            </p:cNvSpPr>
            <p:nvPr/>
          </p:nvSpPr>
          <p:spPr bwMode="auto">
            <a:xfrm>
              <a:off x="4848" y="2544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3216" y="1152"/>
              <a:ext cx="384" cy="384"/>
              <a:chOff x="3216" y="1152"/>
              <a:chExt cx="384" cy="384"/>
            </a:xfrm>
          </p:grpSpPr>
          <p:sp>
            <p:nvSpPr>
              <p:cNvPr id="17454" name="Oval 16"/>
              <p:cNvSpPr>
                <a:spLocks noChangeArrowheads="1"/>
              </p:cNvSpPr>
              <p:nvPr/>
            </p:nvSpPr>
            <p:spPr bwMode="auto">
              <a:xfrm>
                <a:off x="3216" y="1152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7455" name="Text Box 17"/>
              <p:cNvSpPr txBox="1">
                <a:spLocks noChangeArrowheads="1"/>
              </p:cNvSpPr>
              <p:nvPr/>
            </p:nvSpPr>
            <p:spPr bwMode="auto">
              <a:xfrm>
                <a:off x="3264" y="1200"/>
                <a:ext cx="25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5" name="Group 18"/>
            <p:cNvGrpSpPr>
              <a:grpSpLocks/>
            </p:cNvGrpSpPr>
            <p:nvPr/>
          </p:nvGrpSpPr>
          <p:grpSpPr bwMode="auto">
            <a:xfrm>
              <a:off x="2400" y="1680"/>
              <a:ext cx="384" cy="384"/>
              <a:chOff x="2400" y="1680"/>
              <a:chExt cx="384" cy="384"/>
            </a:xfrm>
          </p:grpSpPr>
          <p:sp>
            <p:nvSpPr>
              <p:cNvPr id="17452" name="Oval 19"/>
              <p:cNvSpPr>
                <a:spLocks noChangeArrowheads="1"/>
              </p:cNvSpPr>
              <p:nvPr/>
            </p:nvSpPr>
            <p:spPr bwMode="auto">
              <a:xfrm>
                <a:off x="2400" y="1680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7453" name="Text Box 20"/>
              <p:cNvSpPr txBox="1">
                <a:spLocks noChangeArrowheads="1"/>
              </p:cNvSpPr>
              <p:nvPr/>
            </p:nvSpPr>
            <p:spPr bwMode="auto">
              <a:xfrm>
                <a:off x="2448" y="1728"/>
                <a:ext cx="2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6" name="Group 21"/>
            <p:cNvGrpSpPr>
              <a:grpSpLocks/>
            </p:cNvGrpSpPr>
            <p:nvPr/>
          </p:nvGrpSpPr>
          <p:grpSpPr bwMode="auto">
            <a:xfrm>
              <a:off x="4128" y="1680"/>
              <a:ext cx="384" cy="384"/>
              <a:chOff x="4128" y="1680"/>
              <a:chExt cx="384" cy="384"/>
            </a:xfrm>
          </p:grpSpPr>
          <p:sp>
            <p:nvSpPr>
              <p:cNvPr id="17450" name="Oval 22"/>
              <p:cNvSpPr>
                <a:spLocks noChangeArrowheads="1"/>
              </p:cNvSpPr>
              <p:nvPr/>
            </p:nvSpPr>
            <p:spPr bwMode="auto">
              <a:xfrm>
                <a:off x="4128" y="1680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7451" name="Text Box 23"/>
              <p:cNvSpPr txBox="1">
                <a:spLocks noChangeArrowheads="1"/>
              </p:cNvSpPr>
              <p:nvPr/>
            </p:nvSpPr>
            <p:spPr bwMode="auto">
              <a:xfrm>
                <a:off x="4176" y="1728"/>
                <a:ext cx="2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7" name="Group 24"/>
            <p:cNvGrpSpPr>
              <a:grpSpLocks/>
            </p:cNvGrpSpPr>
            <p:nvPr/>
          </p:nvGrpSpPr>
          <p:grpSpPr bwMode="auto">
            <a:xfrm>
              <a:off x="2832" y="2256"/>
              <a:ext cx="384" cy="384"/>
              <a:chOff x="2832" y="2256"/>
              <a:chExt cx="384" cy="384"/>
            </a:xfrm>
          </p:grpSpPr>
          <p:sp>
            <p:nvSpPr>
              <p:cNvPr id="17448" name="Oval 25"/>
              <p:cNvSpPr>
                <a:spLocks noChangeArrowheads="1"/>
              </p:cNvSpPr>
              <p:nvPr/>
            </p:nvSpPr>
            <p:spPr bwMode="auto">
              <a:xfrm>
                <a:off x="2832" y="2256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7449" name="Text Box 26"/>
              <p:cNvSpPr txBox="1">
                <a:spLocks noChangeArrowheads="1"/>
              </p:cNvSpPr>
              <p:nvPr/>
            </p:nvSpPr>
            <p:spPr bwMode="auto">
              <a:xfrm>
                <a:off x="2880" y="2304"/>
                <a:ext cx="25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8" name="Group 27"/>
            <p:cNvGrpSpPr>
              <a:grpSpLocks/>
            </p:cNvGrpSpPr>
            <p:nvPr/>
          </p:nvGrpSpPr>
          <p:grpSpPr bwMode="auto">
            <a:xfrm>
              <a:off x="3648" y="2256"/>
              <a:ext cx="384" cy="384"/>
              <a:chOff x="3648" y="2256"/>
              <a:chExt cx="384" cy="384"/>
            </a:xfrm>
          </p:grpSpPr>
          <p:sp>
            <p:nvSpPr>
              <p:cNvPr id="17446" name="Oval 28"/>
              <p:cNvSpPr>
                <a:spLocks noChangeArrowheads="1"/>
              </p:cNvSpPr>
              <p:nvPr/>
            </p:nvSpPr>
            <p:spPr bwMode="auto">
              <a:xfrm>
                <a:off x="3648" y="2256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7447" name="Text Box 29"/>
              <p:cNvSpPr txBox="1">
                <a:spLocks noChangeArrowheads="1"/>
              </p:cNvSpPr>
              <p:nvPr/>
            </p:nvSpPr>
            <p:spPr bwMode="auto">
              <a:xfrm>
                <a:off x="3696" y="2304"/>
                <a:ext cx="2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E</a:t>
                </a:r>
              </a:p>
            </p:txBody>
          </p:sp>
        </p:grpSp>
        <p:sp>
          <p:nvSpPr>
            <p:cNvPr id="17430" name="Line 30"/>
            <p:cNvSpPr>
              <a:spLocks noChangeShapeType="1"/>
            </p:cNvSpPr>
            <p:nvPr/>
          </p:nvSpPr>
          <p:spPr bwMode="auto">
            <a:xfrm>
              <a:off x="4464" y="2016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9" name="Group 31"/>
            <p:cNvGrpSpPr>
              <a:grpSpLocks/>
            </p:cNvGrpSpPr>
            <p:nvPr/>
          </p:nvGrpSpPr>
          <p:grpSpPr bwMode="auto">
            <a:xfrm>
              <a:off x="4560" y="2208"/>
              <a:ext cx="384" cy="384"/>
              <a:chOff x="4560" y="2208"/>
              <a:chExt cx="384" cy="384"/>
            </a:xfrm>
          </p:grpSpPr>
          <p:sp>
            <p:nvSpPr>
              <p:cNvPr id="17444" name="Oval 32"/>
              <p:cNvSpPr>
                <a:spLocks noChangeArrowheads="1"/>
              </p:cNvSpPr>
              <p:nvPr/>
            </p:nvSpPr>
            <p:spPr bwMode="auto">
              <a:xfrm>
                <a:off x="4560" y="2208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7445" name="Text Box 33"/>
              <p:cNvSpPr txBox="1">
                <a:spLocks noChangeArrowheads="1"/>
              </p:cNvSpPr>
              <p:nvPr/>
            </p:nvSpPr>
            <p:spPr bwMode="auto">
              <a:xfrm>
                <a:off x="4656" y="2256"/>
                <a:ext cx="22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10" name="Group 34"/>
            <p:cNvGrpSpPr>
              <a:grpSpLocks/>
            </p:cNvGrpSpPr>
            <p:nvPr/>
          </p:nvGrpSpPr>
          <p:grpSpPr bwMode="auto">
            <a:xfrm>
              <a:off x="3216" y="2928"/>
              <a:ext cx="384" cy="384"/>
              <a:chOff x="3216" y="2928"/>
              <a:chExt cx="384" cy="384"/>
            </a:xfrm>
          </p:grpSpPr>
          <p:sp>
            <p:nvSpPr>
              <p:cNvPr id="17442" name="Oval 35"/>
              <p:cNvSpPr>
                <a:spLocks noChangeArrowheads="1"/>
              </p:cNvSpPr>
              <p:nvPr/>
            </p:nvSpPr>
            <p:spPr bwMode="auto">
              <a:xfrm>
                <a:off x="3216" y="2928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7443" name="Text Box 36"/>
              <p:cNvSpPr txBox="1">
                <a:spLocks noChangeArrowheads="1"/>
              </p:cNvSpPr>
              <p:nvPr/>
            </p:nvSpPr>
            <p:spPr bwMode="auto">
              <a:xfrm>
                <a:off x="3312" y="2976"/>
                <a:ext cx="25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G</a:t>
                </a:r>
              </a:p>
            </p:txBody>
          </p:sp>
        </p:grpSp>
        <p:grpSp>
          <p:nvGrpSpPr>
            <p:cNvPr id="11" name="Group 37"/>
            <p:cNvGrpSpPr>
              <a:grpSpLocks/>
            </p:cNvGrpSpPr>
            <p:nvPr/>
          </p:nvGrpSpPr>
          <p:grpSpPr bwMode="auto">
            <a:xfrm>
              <a:off x="4176" y="2928"/>
              <a:ext cx="384" cy="384"/>
              <a:chOff x="4176" y="2928"/>
              <a:chExt cx="384" cy="384"/>
            </a:xfrm>
          </p:grpSpPr>
          <p:sp>
            <p:nvSpPr>
              <p:cNvPr id="17440" name="Oval 38"/>
              <p:cNvSpPr>
                <a:spLocks noChangeArrowheads="1"/>
              </p:cNvSpPr>
              <p:nvPr/>
            </p:nvSpPr>
            <p:spPr bwMode="auto">
              <a:xfrm>
                <a:off x="4176" y="2928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7441" name="Text Box 39"/>
              <p:cNvSpPr txBox="1">
                <a:spLocks noChangeArrowheads="1"/>
              </p:cNvSpPr>
              <p:nvPr/>
            </p:nvSpPr>
            <p:spPr bwMode="auto">
              <a:xfrm>
                <a:off x="4224" y="2976"/>
                <a:ext cx="25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12" name="Group 40"/>
            <p:cNvGrpSpPr>
              <a:grpSpLocks/>
            </p:cNvGrpSpPr>
            <p:nvPr/>
          </p:nvGrpSpPr>
          <p:grpSpPr bwMode="auto">
            <a:xfrm>
              <a:off x="4944" y="2928"/>
              <a:ext cx="384" cy="384"/>
              <a:chOff x="4944" y="2928"/>
              <a:chExt cx="384" cy="384"/>
            </a:xfrm>
          </p:grpSpPr>
          <p:sp>
            <p:nvSpPr>
              <p:cNvPr id="17438" name="Oval 41"/>
              <p:cNvSpPr>
                <a:spLocks noChangeArrowheads="1"/>
              </p:cNvSpPr>
              <p:nvPr/>
            </p:nvSpPr>
            <p:spPr bwMode="auto">
              <a:xfrm>
                <a:off x="4944" y="2928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7439" name="Text Box 42"/>
              <p:cNvSpPr txBox="1">
                <a:spLocks noChangeArrowheads="1"/>
              </p:cNvSpPr>
              <p:nvPr/>
            </p:nvSpPr>
            <p:spPr bwMode="auto">
              <a:xfrm>
                <a:off x="5040" y="2976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I</a:t>
                </a:r>
              </a:p>
            </p:txBody>
          </p:sp>
        </p:grpSp>
        <p:grpSp>
          <p:nvGrpSpPr>
            <p:cNvPr id="13" name="Group 43"/>
            <p:cNvGrpSpPr>
              <a:grpSpLocks/>
            </p:cNvGrpSpPr>
            <p:nvPr/>
          </p:nvGrpSpPr>
          <p:grpSpPr bwMode="auto">
            <a:xfrm>
              <a:off x="1680" y="1488"/>
              <a:ext cx="1680" cy="1344"/>
              <a:chOff x="1680" y="1488"/>
              <a:chExt cx="1680" cy="1344"/>
            </a:xfrm>
          </p:grpSpPr>
          <p:sp>
            <p:nvSpPr>
              <p:cNvPr id="17436" name="Oval 44"/>
              <p:cNvSpPr>
                <a:spLocks noChangeArrowheads="1"/>
              </p:cNvSpPr>
              <p:nvPr/>
            </p:nvSpPr>
            <p:spPr bwMode="auto">
              <a:xfrm>
                <a:off x="2256" y="1488"/>
                <a:ext cx="1104" cy="1344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17437" name="Line 45"/>
              <p:cNvSpPr>
                <a:spLocks noChangeShapeType="1"/>
              </p:cNvSpPr>
              <p:nvPr/>
            </p:nvSpPr>
            <p:spPr bwMode="auto">
              <a:xfrm>
                <a:off x="1680" y="1872"/>
                <a:ext cx="576" cy="4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4" name="Group 46"/>
          <p:cNvGrpSpPr>
            <a:grpSpLocks/>
          </p:cNvGrpSpPr>
          <p:nvPr/>
        </p:nvGrpSpPr>
        <p:grpSpPr bwMode="auto">
          <a:xfrm>
            <a:off x="2819400" y="2281238"/>
            <a:ext cx="5776913" cy="4267200"/>
            <a:chOff x="1776" y="1437"/>
            <a:chExt cx="3639" cy="2688"/>
          </a:xfrm>
        </p:grpSpPr>
        <p:sp>
          <p:nvSpPr>
            <p:cNvPr id="17415" name="Oval 47"/>
            <p:cNvSpPr>
              <a:spLocks noChangeArrowheads="1"/>
            </p:cNvSpPr>
            <p:nvPr/>
          </p:nvSpPr>
          <p:spPr bwMode="auto">
            <a:xfrm rot="8097743">
              <a:off x="3049" y="1758"/>
              <a:ext cx="2688" cy="2045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17416" name="Line 48"/>
            <p:cNvSpPr>
              <a:spLocks noChangeShapeType="1"/>
            </p:cNvSpPr>
            <p:nvPr/>
          </p:nvSpPr>
          <p:spPr bwMode="auto">
            <a:xfrm>
              <a:off x="1776" y="2064"/>
              <a:ext cx="182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6097" name="Rectangle 49"/>
          <p:cNvSpPr>
            <a:spLocks noChangeArrowheads="1"/>
          </p:cNvSpPr>
          <p:nvPr/>
        </p:nvSpPr>
        <p:spPr bwMode="auto">
          <a:xfrm>
            <a:off x="685800" y="5486400"/>
            <a:ext cx="4032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GB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It consists of a </a:t>
            </a:r>
            <a:r>
              <a:rPr lang="en-GB" b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root </a:t>
            </a:r>
            <a:r>
              <a:rPr lang="en-GB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and two </a:t>
            </a:r>
            <a:r>
              <a:rPr lang="en-GB" b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subtrees</a:t>
            </a: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Notation</a:t>
            </a:r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5105400" y="1828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57912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65532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18438" name="Oval 6"/>
          <p:cNvSpPr>
            <a:spLocks noChangeArrowheads="1"/>
          </p:cNvSpPr>
          <p:nvPr/>
        </p:nvSpPr>
        <p:spPr bwMode="auto">
          <a:xfrm>
            <a:off x="5105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18439" name="Oval 7"/>
          <p:cNvSpPr>
            <a:spLocks noChangeArrowheads="1"/>
          </p:cNvSpPr>
          <p:nvPr/>
        </p:nvSpPr>
        <p:spPr bwMode="auto">
          <a:xfrm>
            <a:off x="7848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18440" name="Oval 8"/>
          <p:cNvSpPr>
            <a:spLocks noChangeArrowheads="1"/>
          </p:cNvSpPr>
          <p:nvPr/>
        </p:nvSpPr>
        <p:spPr bwMode="auto">
          <a:xfrm>
            <a:off x="6629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18441" name="Oval 9"/>
          <p:cNvSpPr>
            <a:spLocks noChangeArrowheads="1"/>
          </p:cNvSpPr>
          <p:nvPr/>
        </p:nvSpPr>
        <p:spPr bwMode="auto">
          <a:xfrm>
            <a:off x="38100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18442" name="Oval 10"/>
          <p:cNvSpPr>
            <a:spLocks noChangeArrowheads="1"/>
          </p:cNvSpPr>
          <p:nvPr/>
        </p:nvSpPr>
        <p:spPr bwMode="auto">
          <a:xfrm>
            <a:off x="44958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18443" name="Oval 11"/>
          <p:cNvSpPr>
            <a:spLocks noChangeArrowheads="1"/>
          </p:cNvSpPr>
          <p:nvPr/>
        </p:nvSpPr>
        <p:spPr bwMode="auto">
          <a:xfrm>
            <a:off x="72390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387084" name="Line 12"/>
          <p:cNvSpPr>
            <a:spLocks noChangeShapeType="1"/>
          </p:cNvSpPr>
          <p:nvPr/>
        </p:nvSpPr>
        <p:spPr bwMode="auto">
          <a:xfrm flipH="1">
            <a:off x="4343400" y="2286000"/>
            <a:ext cx="838200" cy="457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7085" name="Line 13"/>
          <p:cNvSpPr>
            <a:spLocks noChangeShapeType="1"/>
          </p:cNvSpPr>
          <p:nvPr/>
        </p:nvSpPr>
        <p:spPr bwMode="auto">
          <a:xfrm>
            <a:off x="5715000" y="22860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7086" name="Line 14"/>
          <p:cNvSpPr>
            <a:spLocks noChangeShapeType="1"/>
          </p:cNvSpPr>
          <p:nvPr/>
        </p:nvSpPr>
        <p:spPr bwMode="auto">
          <a:xfrm>
            <a:off x="42672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7087" name="Line 15"/>
          <p:cNvSpPr>
            <a:spLocks noChangeShapeType="1"/>
          </p:cNvSpPr>
          <p:nvPr/>
        </p:nvSpPr>
        <p:spPr bwMode="auto">
          <a:xfrm flipH="1">
            <a:off x="62484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7088" name="Line 16"/>
          <p:cNvSpPr>
            <a:spLocks noChangeShapeType="1"/>
          </p:cNvSpPr>
          <p:nvPr/>
        </p:nvSpPr>
        <p:spPr bwMode="auto">
          <a:xfrm>
            <a:off x="7086600" y="3200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7089" name="Line 17"/>
          <p:cNvSpPr>
            <a:spLocks noChangeShapeType="1"/>
          </p:cNvSpPr>
          <p:nvPr/>
        </p:nvSpPr>
        <p:spPr bwMode="auto">
          <a:xfrm flipH="1">
            <a:off x="5562600" y="41910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7090" name="Line 18"/>
          <p:cNvSpPr>
            <a:spLocks noChangeShapeType="1"/>
          </p:cNvSpPr>
          <p:nvPr/>
        </p:nvSpPr>
        <p:spPr bwMode="auto">
          <a:xfrm flipH="1">
            <a:off x="7086600" y="40386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7091" name="Line 19"/>
          <p:cNvSpPr>
            <a:spLocks noChangeShapeType="1"/>
          </p:cNvSpPr>
          <p:nvPr/>
        </p:nvSpPr>
        <p:spPr bwMode="auto">
          <a:xfrm>
            <a:off x="7696200" y="40386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5181600" y="19050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18453" name="Text Box 21"/>
          <p:cNvSpPr txBox="1">
            <a:spLocks noChangeArrowheads="1"/>
          </p:cNvSpPr>
          <p:nvPr/>
        </p:nvSpPr>
        <p:spPr bwMode="auto">
          <a:xfrm>
            <a:off x="38862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66294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18455" name="Text Box 23"/>
          <p:cNvSpPr txBox="1">
            <a:spLocks noChangeArrowheads="1"/>
          </p:cNvSpPr>
          <p:nvPr/>
        </p:nvSpPr>
        <p:spPr bwMode="auto">
          <a:xfrm>
            <a:off x="4572000" y="36576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D</a:t>
            </a:r>
          </a:p>
        </p:txBody>
      </p:sp>
      <p:sp>
        <p:nvSpPr>
          <p:cNvPr id="18456" name="Text Box 24"/>
          <p:cNvSpPr txBox="1">
            <a:spLocks noChangeArrowheads="1"/>
          </p:cNvSpPr>
          <p:nvPr/>
        </p:nvSpPr>
        <p:spPr bwMode="auto">
          <a:xfrm>
            <a:off x="5867400" y="3657600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E</a:t>
            </a:r>
          </a:p>
        </p:txBody>
      </p:sp>
      <p:sp>
        <p:nvSpPr>
          <p:cNvPr id="18457" name="Text Box 25"/>
          <p:cNvSpPr txBox="1">
            <a:spLocks noChangeArrowheads="1"/>
          </p:cNvSpPr>
          <p:nvPr/>
        </p:nvSpPr>
        <p:spPr bwMode="auto">
          <a:xfrm>
            <a:off x="7391400" y="35814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F</a:t>
            </a:r>
          </a:p>
        </p:txBody>
      </p:sp>
      <p:sp>
        <p:nvSpPr>
          <p:cNvPr id="18458" name="Text Box 26"/>
          <p:cNvSpPr txBox="1">
            <a:spLocks noChangeArrowheads="1"/>
          </p:cNvSpPr>
          <p:nvPr/>
        </p:nvSpPr>
        <p:spPr bwMode="auto">
          <a:xfrm>
            <a:off x="52578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G</a:t>
            </a:r>
          </a:p>
        </p:txBody>
      </p:sp>
      <p:sp>
        <p:nvSpPr>
          <p:cNvPr id="18459" name="Text Box 27"/>
          <p:cNvSpPr txBox="1">
            <a:spLocks noChangeArrowheads="1"/>
          </p:cNvSpPr>
          <p:nvPr/>
        </p:nvSpPr>
        <p:spPr bwMode="auto">
          <a:xfrm>
            <a:off x="67056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H</a:t>
            </a:r>
          </a:p>
        </p:txBody>
      </p:sp>
      <p:sp>
        <p:nvSpPr>
          <p:cNvPr id="18460" name="Text Box 28"/>
          <p:cNvSpPr txBox="1">
            <a:spLocks noChangeArrowheads="1"/>
          </p:cNvSpPr>
          <p:nvPr/>
        </p:nvSpPr>
        <p:spPr bwMode="auto">
          <a:xfrm>
            <a:off x="8001000" y="4724400"/>
            <a:ext cx="285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I</a:t>
            </a:r>
          </a:p>
        </p:txBody>
      </p:sp>
      <p:sp>
        <p:nvSpPr>
          <p:cNvPr id="387101" name="Text Box 29"/>
          <p:cNvSpPr txBox="1">
            <a:spLocks noChangeArrowheads="1"/>
          </p:cNvSpPr>
          <p:nvPr/>
        </p:nvSpPr>
        <p:spPr bwMode="auto">
          <a:xfrm>
            <a:off x="457200" y="5029200"/>
            <a:ext cx="461645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rtl="0" eaLnBrk="0" hangingPunct="0">
              <a:defRPr/>
            </a:pPr>
            <a:r>
              <a:rPr lang="en-US" sz="2800" dirty="0">
                <a:latin typeface="Comic Sans MS" pitchFamily="66" charset="0"/>
                <a:cs typeface="Arial" pitchFamily="34" charset="0"/>
              </a:rPr>
              <a:t>edge –</a:t>
            </a:r>
          </a:p>
          <a:p>
            <a:pPr algn="l" rtl="0" eaLnBrk="0" hangingPunct="0">
              <a:defRPr/>
            </a:pPr>
            <a:r>
              <a:rPr lang="en-GB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there is an </a:t>
            </a:r>
            <a:r>
              <a:rPr lang="en-GB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edge </a:t>
            </a:r>
            <a:r>
              <a:rPr lang="en-GB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from the root to its children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" fill="hold"/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100" fill="hold"/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100" fill="hold"/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" fill="hold"/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00" fill="hold"/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7" dur="100" fill="hold"/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" dur="100" fill="hold"/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100" fill="hold"/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0" fill="hold"/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7" dur="100" fill="hold"/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8" dur="100" fill="hold"/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" fill="hold"/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100" fill="hold"/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7" dur="100" fill="hold"/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8" dur="100" fill="hold"/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100" fill="hold"/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100" fill="hold"/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7" dur="100" fill="hold"/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8" dur="100" fill="hold"/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100" fill="hold"/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100" fill="hold"/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7" dur="100" fill="hold"/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8" dur="100" fill="hold"/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100" fill="hold"/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100" fill="hold"/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7" dur="100" fill="hold"/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8" dur="100" fill="hold"/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100" fill="hold"/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100" fill="hold"/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7" dur="100" fill="hold"/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8" dur="100" fill="hold"/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100" fill="hold"/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84" grpId="0" animBg="1"/>
      <p:bldP spid="387085" grpId="0" animBg="1"/>
      <p:bldP spid="387086" grpId="0" animBg="1"/>
      <p:bldP spid="387087" grpId="0" animBg="1"/>
      <p:bldP spid="387088" grpId="0" animBg="1"/>
      <p:bldP spid="387089" grpId="0" animBg="1"/>
      <p:bldP spid="387090" grpId="0" animBg="1"/>
      <p:bldP spid="38709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Notation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810000" y="1828800"/>
            <a:ext cx="4648200" cy="3429000"/>
            <a:chOff x="2400" y="1152"/>
            <a:chExt cx="2928" cy="2160"/>
          </a:xfrm>
        </p:grpSpPr>
        <p:sp>
          <p:nvSpPr>
            <p:cNvPr id="19461" name="Line 4"/>
            <p:cNvSpPr>
              <a:spLocks noChangeShapeType="1"/>
            </p:cNvSpPr>
            <p:nvPr/>
          </p:nvSpPr>
          <p:spPr bwMode="auto">
            <a:xfrm flipH="1">
              <a:off x="2736" y="1440"/>
              <a:ext cx="52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2" name="Line 5"/>
            <p:cNvSpPr>
              <a:spLocks noChangeShapeType="1"/>
            </p:cNvSpPr>
            <p:nvPr/>
          </p:nvSpPr>
          <p:spPr bwMode="auto">
            <a:xfrm>
              <a:off x="3600" y="1440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3" name="Line 6"/>
            <p:cNvSpPr>
              <a:spLocks noChangeShapeType="1"/>
            </p:cNvSpPr>
            <p:nvPr/>
          </p:nvSpPr>
          <p:spPr bwMode="auto">
            <a:xfrm>
              <a:off x="2688" y="2016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4" name="Line 7"/>
            <p:cNvSpPr>
              <a:spLocks noChangeShapeType="1"/>
            </p:cNvSpPr>
            <p:nvPr/>
          </p:nvSpPr>
          <p:spPr bwMode="auto">
            <a:xfrm flipH="1">
              <a:off x="3936" y="2016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5" name="Line 8"/>
            <p:cNvSpPr>
              <a:spLocks noChangeShapeType="1"/>
            </p:cNvSpPr>
            <p:nvPr/>
          </p:nvSpPr>
          <p:spPr bwMode="auto">
            <a:xfrm flipH="1">
              <a:off x="3504" y="2640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6" name="Line 9"/>
            <p:cNvSpPr>
              <a:spLocks noChangeShapeType="1"/>
            </p:cNvSpPr>
            <p:nvPr/>
          </p:nvSpPr>
          <p:spPr bwMode="auto">
            <a:xfrm flipH="1">
              <a:off x="4464" y="254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7" name="Line 10"/>
            <p:cNvSpPr>
              <a:spLocks noChangeShapeType="1"/>
            </p:cNvSpPr>
            <p:nvPr/>
          </p:nvSpPr>
          <p:spPr bwMode="auto">
            <a:xfrm>
              <a:off x="4848" y="2544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11"/>
            <p:cNvGrpSpPr>
              <a:grpSpLocks/>
            </p:cNvGrpSpPr>
            <p:nvPr/>
          </p:nvGrpSpPr>
          <p:grpSpPr bwMode="auto">
            <a:xfrm>
              <a:off x="3216" y="1152"/>
              <a:ext cx="384" cy="384"/>
              <a:chOff x="3216" y="1152"/>
              <a:chExt cx="384" cy="384"/>
            </a:xfrm>
          </p:grpSpPr>
          <p:sp>
            <p:nvSpPr>
              <p:cNvPr id="19494" name="Oval 12"/>
              <p:cNvSpPr>
                <a:spLocks noChangeArrowheads="1"/>
              </p:cNvSpPr>
              <p:nvPr/>
            </p:nvSpPr>
            <p:spPr bwMode="auto">
              <a:xfrm>
                <a:off x="3216" y="1152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9495" name="Text Box 13"/>
              <p:cNvSpPr txBox="1">
                <a:spLocks noChangeArrowheads="1"/>
              </p:cNvSpPr>
              <p:nvPr/>
            </p:nvSpPr>
            <p:spPr bwMode="auto">
              <a:xfrm>
                <a:off x="3264" y="1200"/>
                <a:ext cx="25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2400" y="1680"/>
              <a:ext cx="384" cy="384"/>
              <a:chOff x="2400" y="1680"/>
              <a:chExt cx="384" cy="384"/>
            </a:xfrm>
          </p:grpSpPr>
          <p:sp>
            <p:nvSpPr>
              <p:cNvPr id="19492" name="Oval 15"/>
              <p:cNvSpPr>
                <a:spLocks noChangeArrowheads="1"/>
              </p:cNvSpPr>
              <p:nvPr/>
            </p:nvSpPr>
            <p:spPr bwMode="auto">
              <a:xfrm>
                <a:off x="2400" y="1680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9493" name="Text Box 16"/>
              <p:cNvSpPr txBox="1">
                <a:spLocks noChangeArrowheads="1"/>
              </p:cNvSpPr>
              <p:nvPr/>
            </p:nvSpPr>
            <p:spPr bwMode="auto">
              <a:xfrm>
                <a:off x="2448" y="1728"/>
                <a:ext cx="2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4128" y="1680"/>
              <a:ext cx="384" cy="384"/>
              <a:chOff x="4128" y="1680"/>
              <a:chExt cx="384" cy="384"/>
            </a:xfrm>
          </p:grpSpPr>
          <p:sp>
            <p:nvSpPr>
              <p:cNvPr id="19490" name="Oval 18"/>
              <p:cNvSpPr>
                <a:spLocks noChangeArrowheads="1"/>
              </p:cNvSpPr>
              <p:nvPr/>
            </p:nvSpPr>
            <p:spPr bwMode="auto">
              <a:xfrm>
                <a:off x="4128" y="1680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9491" name="Text Box 19"/>
              <p:cNvSpPr txBox="1">
                <a:spLocks noChangeArrowheads="1"/>
              </p:cNvSpPr>
              <p:nvPr/>
            </p:nvSpPr>
            <p:spPr bwMode="auto">
              <a:xfrm>
                <a:off x="4176" y="1728"/>
                <a:ext cx="2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2832" y="2256"/>
              <a:ext cx="384" cy="384"/>
              <a:chOff x="2832" y="2256"/>
              <a:chExt cx="384" cy="384"/>
            </a:xfrm>
          </p:grpSpPr>
          <p:sp>
            <p:nvSpPr>
              <p:cNvPr id="19488" name="Oval 21"/>
              <p:cNvSpPr>
                <a:spLocks noChangeArrowheads="1"/>
              </p:cNvSpPr>
              <p:nvPr/>
            </p:nvSpPr>
            <p:spPr bwMode="auto">
              <a:xfrm>
                <a:off x="2832" y="2256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9489" name="Text Box 22"/>
              <p:cNvSpPr txBox="1">
                <a:spLocks noChangeArrowheads="1"/>
              </p:cNvSpPr>
              <p:nvPr/>
            </p:nvSpPr>
            <p:spPr bwMode="auto">
              <a:xfrm>
                <a:off x="2880" y="2304"/>
                <a:ext cx="25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7" name="Group 23"/>
            <p:cNvGrpSpPr>
              <a:grpSpLocks/>
            </p:cNvGrpSpPr>
            <p:nvPr/>
          </p:nvGrpSpPr>
          <p:grpSpPr bwMode="auto">
            <a:xfrm>
              <a:off x="3648" y="2256"/>
              <a:ext cx="384" cy="384"/>
              <a:chOff x="3648" y="2256"/>
              <a:chExt cx="384" cy="384"/>
            </a:xfrm>
          </p:grpSpPr>
          <p:sp>
            <p:nvSpPr>
              <p:cNvPr id="19486" name="Oval 24"/>
              <p:cNvSpPr>
                <a:spLocks noChangeArrowheads="1"/>
              </p:cNvSpPr>
              <p:nvPr/>
            </p:nvSpPr>
            <p:spPr bwMode="auto">
              <a:xfrm>
                <a:off x="3648" y="2256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9487" name="Text Box 25"/>
              <p:cNvSpPr txBox="1">
                <a:spLocks noChangeArrowheads="1"/>
              </p:cNvSpPr>
              <p:nvPr/>
            </p:nvSpPr>
            <p:spPr bwMode="auto">
              <a:xfrm>
                <a:off x="3696" y="2304"/>
                <a:ext cx="2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E</a:t>
                </a:r>
              </a:p>
            </p:txBody>
          </p:sp>
        </p:grpSp>
        <p:sp>
          <p:nvSpPr>
            <p:cNvPr id="19473" name="Line 26"/>
            <p:cNvSpPr>
              <a:spLocks noChangeShapeType="1"/>
            </p:cNvSpPr>
            <p:nvPr/>
          </p:nvSpPr>
          <p:spPr bwMode="auto">
            <a:xfrm>
              <a:off x="4464" y="2016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" name="Group 27"/>
            <p:cNvGrpSpPr>
              <a:grpSpLocks/>
            </p:cNvGrpSpPr>
            <p:nvPr/>
          </p:nvGrpSpPr>
          <p:grpSpPr bwMode="auto">
            <a:xfrm>
              <a:off x="4560" y="2208"/>
              <a:ext cx="384" cy="384"/>
              <a:chOff x="4560" y="2208"/>
              <a:chExt cx="384" cy="384"/>
            </a:xfrm>
          </p:grpSpPr>
          <p:sp>
            <p:nvSpPr>
              <p:cNvPr id="19484" name="Oval 28"/>
              <p:cNvSpPr>
                <a:spLocks noChangeArrowheads="1"/>
              </p:cNvSpPr>
              <p:nvPr/>
            </p:nvSpPr>
            <p:spPr bwMode="auto">
              <a:xfrm>
                <a:off x="4560" y="2208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9485" name="Text Box 29"/>
              <p:cNvSpPr txBox="1">
                <a:spLocks noChangeArrowheads="1"/>
              </p:cNvSpPr>
              <p:nvPr/>
            </p:nvSpPr>
            <p:spPr bwMode="auto">
              <a:xfrm>
                <a:off x="4656" y="2256"/>
                <a:ext cx="22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9" name="Group 30"/>
            <p:cNvGrpSpPr>
              <a:grpSpLocks/>
            </p:cNvGrpSpPr>
            <p:nvPr/>
          </p:nvGrpSpPr>
          <p:grpSpPr bwMode="auto">
            <a:xfrm>
              <a:off x="3216" y="2928"/>
              <a:ext cx="384" cy="384"/>
              <a:chOff x="3216" y="2928"/>
              <a:chExt cx="384" cy="384"/>
            </a:xfrm>
          </p:grpSpPr>
          <p:sp>
            <p:nvSpPr>
              <p:cNvPr id="19482" name="Oval 31"/>
              <p:cNvSpPr>
                <a:spLocks noChangeArrowheads="1"/>
              </p:cNvSpPr>
              <p:nvPr/>
            </p:nvSpPr>
            <p:spPr bwMode="auto">
              <a:xfrm>
                <a:off x="3216" y="2928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9483" name="Text Box 32"/>
              <p:cNvSpPr txBox="1">
                <a:spLocks noChangeArrowheads="1"/>
              </p:cNvSpPr>
              <p:nvPr/>
            </p:nvSpPr>
            <p:spPr bwMode="auto">
              <a:xfrm>
                <a:off x="3312" y="2976"/>
                <a:ext cx="25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G</a:t>
                </a:r>
              </a:p>
            </p:txBody>
          </p:sp>
        </p:grpSp>
        <p:grpSp>
          <p:nvGrpSpPr>
            <p:cNvPr id="10" name="Group 33"/>
            <p:cNvGrpSpPr>
              <a:grpSpLocks/>
            </p:cNvGrpSpPr>
            <p:nvPr/>
          </p:nvGrpSpPr>
          <p:grpSpPr bwMode="auto">
            <a:xfrm>
              <a:off x="4176" y="2928"/>
              <a:ext cx="384" cy="384"/>
              <a:chOff x="4176" y="2928"/>
              <a:chExt cx="384" cy="384"/>
            </a:xfrm>
          </p:grpSpPr>
          <p:sp>
            <p:nvSpPr>
              <p:cNvPr id="19480" name="Oval 34"/>
              <p:cNvSpPr>
                <a:spLocks noChangeArrowheads="1"/>
              </p:cNvSpPr>
              <p:nvPr/>
            </p:nvSpPr>
            <p:spPr bwMode="auto">
              <a:xfrm>
                <a:off x="4176" y="2928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9481" name="Text Box 35"/>
              <p:cNvSpPr txBox="1">
                <a:spLocks noChangeArrowheads="1"/>
              </p:cNvSpPr>
              <p:nvPr/>
            </p:nvSpPr>
            <p:spPr bwMode="auto">
              <a:xfrm>
                <a:off x="4224" y="2976"/>
                <a:ext cx="25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11" name="Group 36"/>
            <p:cNvGrpSpPr>
              <a:grpSpLocks/>
            </p:cNvGrpSpPr>
            <p:nvPr/>
          </p:nvGrpSpPr>
          <p:grpSpPr bwMode="auto">
            <a:xfrm>
              <a:off x="4944" y="2928"/>
              <a:ext cx="384" cy="384"/>
              <a:chOff x="4944" y="2928"/>
              <a:chExt cx="384" cy="384"/>
            </a:xfrm>
          </p:grpSpPr>
          <p:sp>
            <p:nvSpPr>
              <p:cNvPr id="19478" name="Oval 37"/>
              <p:cNvSpPr>
                <a:spLocks noChangeArrowheads="1"/>
              </p:cNvSpPr>
              <p:nvPr/>
            </p:nvSpPr>
            <p:spPr bwMode="auto">
              <a:xfrm>
                <a:off x="4944" y="2928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ar-SA" sz="2400">
                  <a:latin typeface="Times New Roman" pitchFamily="18" charset="0"/>
                </a:endParaRPr>
              </a:p>
            </p:txBody>
          </p:sp>
          <p:sp>
            <p:nvSpPr>
              <p:cNvPr id="19479" name="Text Box 38"/>
              <p:cNvSpPr txBox="1">
                <a:spLocks noChangeArrowheads="1"/>
              </p:cNvSpPr>
              <p:nvPr/>
            </p:nvSpPr>
            <p:spPr bwMode="auto">
              <a:xfrm>
                <a:off x="5040" y="2976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>
                    <a:latin typeface="Times New Roman" pitchFamily="18" charset="0"/>
                  </a:rPr>
                  <a:t>I</a:t>
                </a:r>
              </a:p>
            </p:txBody>
          </p:sp>
        </p:grpSp>
      </p:grpSp>
      <p:sp>
        <p:nvSpPr>
          <p:cNvPr id="19460" name="Text Box 39"/>
          <p:cNvSpPr txBox="1">
            <a:spLocks noChangeArrowheads="1"/>
          </p:cNvSpPr>
          <p:nvPr/>
        </p:nvSpPr>
        <p:spPr bwMode="auto">
          <a:xfrm>
            <a:off x="838200" y="2514600"/>
            <a:ext cx="1530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>
                <a:latin typeface="Comic Sans MS" pitchFamily="66" charset="0"/>
              </a:rPr>
              <a:t>children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0" y="2667000"/>
            <a:ext cx="3352800" cy="609600"/>
            <a:chOff x="2400" y="1680"/>
            <a:chExt cx="2112" cy="384"/>
          </a:xfrm>
        </p:grpSpPr>
        <p:sp>
          <p:nvSpPr>
            <p:cNvPr id="20516" name="Oval 3"/>
            <p:cNvSpPr>
              <a:spLocks noChangeArrowheads="1"/>
            </p:cNvSpPr>
            <p:nvPr/>
          </p:nvSpPr>
          <p:spPr bwMode="auto">
            <a:xfrm>
              <a:off x="4128" y="1680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0517" name="Oval 4"/>
            <p:cNvSpPr>
              <a:spLocks noChangeArrowheads="1"/>
            </p:cNvSpPr>
            <p:nvPr/>
          </p:nvSpPr>
          <p:spPr bwMode="auto">
            <a:xfrm>
              <a:off x="2400" y="1680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5791200" y="3505200"/>
            <a:ext cx="2057400" cy="685800"/>
            <a:chOff x="3648" y="2208"/>
            <a:chExt cx="1296" cy="432"/>
          </a:xfrm>
        </p:grpSpPr>
        <p:sp>
          <p:nvSpPr>
            <p:cNvPr id="20514" name="Oval 6"/>
            <p:cNvSpPr>
              <a:spLocks noChangeArrowheads="1"/>
            </p:cNvSpPr>
            <p:nvPr/>
          </p:nvSpPr>
          <p:spPr bwMode="auto">
            <a:xfrm>
              <a:off x="3648" y="2256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0515" name="Oval 7"/>
            <p:cNvSpPr>
              <a:spLocks noChangeArrowheads="1"/>
            </p:cNvSpPr>
            <p:nvPr/>
          </p:nvSpPr>
          <p:spPr bwMode="auto">
            <a:xfrm>
              <a:off x="4560" y="2208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sp>
        <p:nvSpPr>
          <p:cNvPr id="2048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Notation</a:t>
            </a:r>
          </a:p>
        </p:txBody>
      </p:sp>
      <p:sp>
        <p:nvSpPr>
          <p:cNvPr id="20485" name="Oval 9"/>
          <p:cNvSpPr>
            <a:spLocks noChangeArrowheads="1"/>
          </p:cNvSpPr>
          <p:nvPr/>
        </p:nvSpPr>
        <p:spPr bwMode="auto">
          <a:xfrm>
            <a:off x="5105400" y="1828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0486" name="Oval 10"/>
          <p:cNvSpPr>
            <a:spLocks noChangeArrowheads="1"/>
          </p:cNvSpPr>
          <p:nvPr/>
        </p:nvSpPr>
        <p:spPr bwMode="auto">
          <a:xfrm>
            <a:off x="57912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0487" name="Oval 11"/>
          <p:cNvSpPr>
            <a:spLocks noChangeArrowheads="1"/>
          </p:cNvSpPr>
          <p:nvPr/>
        </p:nvSpPr>
        <p:spPr bwMode="auto">
          <a:xfrm>
            <a:off x="65532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0488" name="Oval 12"/>
          <p:cNvSpPr>
            <a:spLocks noChangeArrowheads="1"/>
          </p:cNvSpPr>
          <p:nvPr/>
        </p:nvSpPr>
        <p:spPr bwMode="auto">
          <a:xfrm>
            <a:off x="5105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0489" name="Oval 13"/>
          <p:cNvSpPr>
            <a:spLocks noChangeArrowheads="1"/>
          </p:cNvSpPr>
          <p:nvPr/>
        </p:nvSpPr>
        <p:spPr bwMode="auto">
          <a:xfrm>
            <a:off x="7848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0490" name="Oval 14"/>
          <p:cNvSpPr>
            <a:spLocks noChangeArrowheads="1"/>
          </p:cNvSpPr>
          <p:nvPr/>
        </p:nvSpPr>
        <p:spPr bwMode="auto">
          <a:xfrm>
            <a:off x="6629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0491" name="Oval 15"/>
          <p:cNvSpPr>
            <a:spLocks noChangeArrowheads="1"/>
          </p:cNvSpPr>
          <p:nvPr/>
        </p:nvSpPr>
        <p:spPr bwMode="auto">
          <a:xfrm>
            <a:off x="38100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0492" name="Oval 16"/>
          <p:cNvSpPr>
            <a:spLocks noChangeArrowheads="1"/>
          </p:cNvSpPr>
          <p:nvPr/>
        </p:nvSpPr>
        <p:spPr bwMode="auto">
          <a:xfrm>
            <a:off x="44958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0493" name="Oval 17"/>
          <p:cNvSpPr>
            <a:spLocks noChangeArrowheads="1"/>
          </p:cNvSpPr>
          <p:nvPr/>
        </p:nvSpPr>
        <p:spPr bwMode="auto">
          <a:xfrm>
            <a:off x="72390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0494" name="Line 18"/>
          <p:cNvSpPr>
            <a:spLocks noChangeShapeType="1"/>
          </p:cNvSpPr>
          <p:nvPr/>
        </p:nvSpPr>
        <p:spPr bwMode="auto">
          <a:xfrm flipH="1">
            <a:off x="4343400" y="22860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Line 19"/>
          <p:cNvSpPr>
            <a:spLocks noChangeShapeType="1"/>
          </p:cNvSpPr>
          <p:nvPr/>
        </p:nvSpPr>
        <p:spPr bwMode="auto">
          <a:xfrm>
            <a:off x="5715000" y="22860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Line 20"/>
          <p:cNvSpPr>
            <a:spLocks noChangeShapeType="1"/>
          </p:cNvSpPr>
          <p:nvPr/>
        </p:nvSpPr>
        <p:spPr bwMode="auto">
          <a:xfrm>
            <a:off x="42672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7" name="Line 21"/>
          <p:cNvSpPr>
            <a:spLocks noChangeShapeType="1"/>
          </p:cNvSpPr>
          <p:nvPr/>
        </p:nvSpPr>
        <p:spPr bwMode="auto">
          <a:xfrm flipH="1">
            <a:off x="62484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8" name="Line 22"/>
          <p:cNvSpPr>
            <a:spLocks noChangeShapeType="1"/>
          </p:cNvSpPr>
          <p:nvPr/>
        </p:nvSpPr>
        <p:spPr bwMode="auto">
          <a:xfrm>
            <a:off x="7086600" y="3200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9" name="Line 23"/>
          <p:cNvSpPr>
            <a:spLocks noChangeShapeType="1"/>
          </p:cNvSpPr>
          <p:nvPr/>
        </p:nvSpPr>
        <p:spPr bwMode="auto">
          <a:xfrm flipH="1">
            <a:off x="5562600" y="41910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00" name="Line 24"/>
          <p:cNvSpPr>
            <a:spLocks noChangeShapeType="1"/>
          </p:cNvSpPr>
          <p:nvPr/>
        </p:nvSpPr>
        <p:spPr bwMode="auto">
          <a:xfrm flipH="1">
            <a:off x="7086600" y="40386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01" name="Line 25"/>
          <p:cNvSpPr>
            <a:spLocks noChangeShapeType="1"/>
          </p:cNvSpPr>
          <p:nvPr/>
        </p:nvSpPr>
        <p:spPr bwMode="auto">
          <a:xfrm>
            <a:off x="7696200" y="40386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02" name="Text Box 26"/>
          <p:cNvSpPr txBox="1">
            <a:spLocks noChangeArrowheads="1"/>
          </p:cNvSpPr>
          <p:nvPr/>
        </p:nvSpPr>
        <p:spPr bwMode="auto">
          <a:xfrm>
            <a:off x="5181600" y="19050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20503" name="Text Box 27"/>
          <p:cNvSpPr txBox="1">
            <a:spLocks noChangeArrowheads="1"/>
          </p:cNvSpPr>
          <p:nvPr/>
        </p:nvSpPr>
        <p:spPr bwMode="auto">
          <a:xfrm>
            <a:off x="38862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20504" name="Text Box 28"/>
          <p:cNvSpPr txBox="1">
            <a:spLocks noChangeArrowheads="1"/>
          </p:cNvSpPr>
          <p:nvPr/>
        </p:nvSpPr>
        <p:spPr bwMode="auto">
          <a:xfrm>
            <a:off x="66294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20505" name="Text Box 29"/>
          <p:cNvSpPr txBox="1">
            <a:spLocks noChangeArrowheads="1"/>
          </p:cNvSpPr>
          <p:nvPr/>
        </p:nvSpPr>
        <p:spPr bwMode="auto">
          <a:xfrm>
            <a:off x="4572000" y="36576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D</a:t>
            </a:r>
          </a:p>
        </p:txBody>
      </p:sp>
      <p:sp>
        <p:nvSpPr>
          <p:cNvPr id="20506" name="Text Box 30"/>
          <p:cNvSpPr txBox="1">
            <a:spLocks noChangeArrowheads="1"/>
          </p:cNvSpPr>
          <p:nvPr/>
        </p:nvSpPr>
        <p:spPr bwMode="auto">
          <a:xfrm>
            <a:off x="5867400" y="3657600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E</a:t>
            </a:r>
          </a:p>
        </p:txBody>
      </p:sp>
      <p:sp>
        <p:nvSpPr>
          <p:cNvPr id="20507" name="Text Box 31"/>
          <p:cNvSpPr txBox="1">
            <a:spLocks noChangeArrowheads="1"/>
          </p:cNvSpPr>
          <p:nvPr/>
        </p:nvSpPr>
        <p:spPr bwMode="auto">
          <a:xfrm>
            <a:off x="7391400" y="35814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F</a:t>
            </a:r>
          </a:p>
        </p:txBody>
      </p:sp>
      <p:sp>
        <p:nvSpPr>
          <p:cNvPr id="20508" name="Text Box 32"/>
          <p:cNvSpPr txBox="1">
            <a:spLocks noChangeArrowheads="1"/>
          </p:cNvSpPr>
          <p:nvPr/>
        </p:nvSpPr>
        <p:spPr bwMode="auto">
          <a:xfrm>
            <a:off x="52578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G</a:t>
            </a:r>
          </a:p>
        </p:txBody>
      </p:sp>
      <p:sp>
        <p:nvSpPr>
          <p:cNvPr id="20509" name="Text Box 33"/>
          <p:cNvSpPr txBox="1">
            <a:spLocks noChangeArrowheads="1"/>
          </p:cNvSpPr>
          <p:nvPr/>
        </p:nvSpPr>
        <p:spPr bwMode="auto">
          <a:xfrm>
            <a:off x="67056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H</a:t>
            </a:r>
          </a:p>
        </p:txBody>
      </p:sp>
      <p:sp>
        <p:nvSpPr>
          <p:cNvPr id="20510" name="Text Box 34"/>
          <p:cNvSpPr txBox="1">
            <a:spLocks noChangeArrowheads="1"/>
          </p:cNvSpPr>
          <p:nvPr/>
        </p:nvSpPr>
        <p:spPr bwMode="auto">
          <a:xfrm>
            <a:off x="8001000" y="4724400"/>
            <a:ext cx="285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I</a:t>
            </a:r>
          </a:p>
        </p:txBody>
      </p:sp>
      <p:sp>
        <p:nvSpPr>
          <p:cNvPr id="389155" name="Text Box 35"/>
          <p:cNvSpPr txBox="1">
            <a:spLocks noChangeArrowheads="1"/>
          </p:cNvSpPr>
          <p:nvPr/>
        </p:nvSpPr>
        <p:spPr bwMode="auto">
          <a:xfrm>
            <a:off x="457200" y="3657600"/>
            <a:ext cx="307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Who are node C’s children?</a:t>
            </a:r>
          </a:p>
        </p:txBody>
      </p:sp>
      <p:sp>
        <p:nvSpPr>
          <p:cNvPr id="389156" name="Text Box 36"/>
          <p:cNvSpPr txBox="1">
            <a:spLocks noChangeArrowheads="1"/>
          </p:cNvSpPr>
          <p:nvPr/>
        </p:nvSpPr>
        <p:spPr bwMode="auto">
          <a:xfrm>
            <a:off x="2362200" y="5562600"/>
            <a:ext cx="3101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Who are node A’s children?</a:t>
            </a:r>
          </a:p>
        </p:txBody>
      </p:sp>
      <p:sp>
        <p:nvSpPr>
          <p:cNvPr id="20513" name="Text Box 37"/>
          <p:cNvSpPr txBox="1">
            <a:spLocks noChangeArrowheads="1"/>
          </p:cNvSpPr>
          <p:nvPr/>
        </p:nvSpPr>
        <p:spPr bwMode="auto">
          <a:xfrm>
            <a:off x="838200" y="2514600"/>
            <a:ext cx="1530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>
                <a:latin typeface="Comic Sans MS" pitchFamily="66" charset="0"/>
              </a:rPr>
              <a:t>children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5" grpId="0"/>
      <p:bldP spid="3891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0" y="2667000"/>
            <a:ext cx="3352800" cy="1524000"/>
            <a:chOff x="2400" y="1680"/>
            <a:chExt cx="2112" cy="960"/>
          </a:xfrm>
        </p:grpSpPr>
        <p:sp>
          <p:nvSpPr>
            <p:cNvPr id="21543" name="Oval 3"/>
            <p:cNvSpPr>
              <a:spLocks noChangeArrowheads="1"/>
            </p:cNvSpPr>
            <p:nvPr/>
          </p:nvSpPr>
          <p:spPr bwMode="auto">
            <a:xfrm>
              <a:off x="4128" y="1680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1544" name="Oval 4"/>
            <p:cNvSpPr>
              <a:spLocks noChangeArrowheads="1"/>
            </p:cNvSpPr>
            <p:nvPr/>
          </p:nvSpPr>
          <p:spPr bwMode="auto">
            <a:xfrm>
              <a:off x="2832" y="2256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1545" name="Oval 5"/>
            <p:cNvSpPr>
              <a:spLocks noChangeArrowheads="1"/>
            </p:cNvSpPr>
            <p:nvPr/>
          </p:nvSpPr>
          <p:spPr bwMode="auto">
            <a:xfrm>
              <a:off x="2400" y="1680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5105400" y="3505200"/>
            <a:ext cx="3352800" cy="1752600"/>
            <a:chOff x="3216" y="2208"/>
            <a:chExt cx="2112" cy="1104"/>
          </a:xfrm>
        </p:grpSpPr>
        <p:sp>
          <p:nvSpPr>
            <p:cNvPr id="21538" name="Oval 7"/>
            <p:cNvSpPr>
              <a:spLocks noChangeArrowheads="1"/>
            </p:cNvSpPr>
            <p:nvPr/>
          </p:nvSpPr>
          <p:spPr bwMode="auto">
            <a:xfrm>
              <a:off x="3648" y="2256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1539" name="Oval 8"/>
            <p:cNvSpPr>
              <a:spLocks noChangeArrowheads="1"/>
            </p:cNvSpPr>
            <p:nvPr/>
          </p:nvSpPr>
          <p:spPr bwMode="auto">
            <a:xfrm>
              <a:off x="4560" y="2208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1540" name="Oval 9"/>
            <p:cNvSpPr>
              <a:spLocks noChangeArrowheads="1"/>
            </p:cNvSpPr>
            <p:nvPr/>
          </p:nvSpPr>
          <p:spPr bwMode="auto">
            <a:xfrm>
              <a:off x="3216" y="2928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1541" name="Oval 10"/>
            <p:cNvSpPr>
              <a:spLocks noChangeArrowheads="1"/>
            </p:cNvSpPr>
            <p:nvPr/>
          </p:nvSpPr>
          <p:spPr bwMode="auto">
            <a:xfrm>
              <a:off x="4176" y="2928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1542" name="Oval 11"/>
            <p:cNvSpPr>
              <a:spLocks noChangeArrowheads="1"/>
            </p:cNvSpPr>
            <p:nvPr/>
          </p:nvSpPr>
          <p:spPr bwMode="auto">
            <a:xfrm>
              <a:off x="4944" y="2928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sp>
        <p:nvSpPr>
          <p:cNvPr id="21508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Notation</a:t>
            </a:r>
          </a:p>
        </p:txBody>
      </p:sp>
      <p:sp>
        <p:nvSpPr>
          <p:cNvPr id="21509" name="Oval 13"/>
          <p:cNvSpPr>
            <a:spLocks noChangeArrowheads="1"/>
          </p:cNvSpPr>
          <p:nvPr/>
        </p:nvSpPr>
        <p:spPr bwMode="auto">
          <a:xfrm>
            <a:off x="5105400" y="1828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1510" name="Oval 14"/>
          <p:cNvSpPr>
            <a:spLocks noChangeArrowheads="1"/>
          </p:cNvSpPr>
          <p:nvPr/>
        </p:nvSpPr>
        <p:spPr bwMode="auto">
          <a:xfrm>
            <a:off x="57912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1511" name="Oval 15"/>
          <p:cNvSpPr>
            <a:spLocks noChangeArrowheads="1"/>
          </p:cNvSpPr>
          <p:nvPr/>
        </p:nvSpPr>
        <p:spPr bwMode="auto">
          <a:xfrm>
            <a:off x="65532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1512" name="Oval 16"/>
          <p:cNvSpPr>
            <a:spLocks noChangeArrowheads="1"/>
          </p:cNvSpPr>
          <p:nvPr/>
        </p:nvSpPr>
        <p:spPr bwMode="auto">
          <a:xfrm>
            <a:off x="5105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1513" name="Oval 17"/>
          <p:cNvSpPr>
            <a:spLocks noChangeArrowheads="1"/>
          </p:cNvSpPr>
          <p:nvPr/>
        </p:nvSpPr>
        <p:spPr bwMode="auto">
          <a:xfrm>
            <a:off x="7848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1514" name="Oval 18"/>
          <p:cNvSpPr>
            <a:spLocks noChangeArrowheads="1"/>
          </p:cNvSpPr>
          <p:nvPr/>
        </p:nvSpPr>
        <p:spPr bwMode="auto">
          <a:xfrm>
            <a:off x="6629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1515" name="Oval 19"/>
          <p:cNvSpPr>
            <a:spLocks noChangeArrowheads="1"/>
          </p:cNvSpPr>
          <p:nvPr/>
        </p:nvSpPr>
        <p:spPr bwMode="auto">
          <a:xfrm>
            <a:off x="38100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1516" name="Oval 20"/>
          <p:cNvSpPr>
            <a:spLocks noChangeArrowheads="1"/>
          </p:cNvSpPr>
          <p:nvPr/>
        </p:nvSpPr>
        <p:spPr bwMode="auto">
          <a:xfrm>
            <a:off x="44958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1517" name="Oval 21"/>
          <p:cNvSpPr>
            <a:spLocks noChangeArrowheads="1"/>
          </p:cNvSpPr>
          <p:nvPr/>
        </p:nvSpPr>
        <p:spPr bwMode="auto">
          <a:xfrm>
            <a:off x="72390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1518" name="Line 22"/>
          <p:cNvSpPr>
            <a:spLocks noChangeShapeType="1"/>
          </p:cNvSpPr>
          <p:nvPr/>
        </p:nvSpPr>
        <p:spPr bwMode="auto">
          <a:xfrm flipH="1">
            <a:off x="4343400" y="22860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Line 23"/>
          <p:cNvSpPr>
            <a:spLocks noChangeShapeType="1"/>
          </p:cNvSpPr>
          <p:nvPr/>
        </p:nvSpPr>
        <p:spPr bwMode="auto">
          <a:xfrm>
            <a:off x="5715000" y="22860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24"/>
          <p:cNvSpPr>
            <a:spLocks noChangeShapeType="1"/>
          </p:cNvSpPr>
          <p:nvPr/>
        </p:nvSpPr>
        <p:spPr bwMode="auto">
          <a:xfrm>
            <a:off x="42672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Line 25"/>
          <p:cNvSpPr>
            <a:spLocks noChangeShapeType="1"/>
          </p:cNvSpPr>
          <p:nvPr/>
        </p:nvSpPr>
        <p:spPr bwMode="auto">
          <a:xfrm flipH="1">
            <a:off x="62484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2" name="Line 26"/>
          <p:cNvSpPr>
            <a:spLocks noChangeShapeType="1"/>
          </p:cNvSpPr>
          <p:nvPr/>
        </p:nvSpPr>
        <p:spPr bwMode="auto">
          <a:xfrm>
            <a:off x="7086600" y="3200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3" name="Line 27"/>
          <p:cNvSpPr>
            <a:spLocks noChangeShapeType="1"/>
          </p:cNvSpPr>
          <p:nvPr/>
        </p:nvSpPr>
        <p:spPr bwMode="auto">
          <a:xfrm flipH="1">
            <a:off x="5562600" y="41910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4" name="Line 28"/>
          <p:cNvSpPr>
            <a:spLocks noChangeShapeType="1"/>
          </p:cNvSpPr>
          <p:nvPr/>
        </p:nvSpPr>
        <p:spPr bwMode="auto">
          <a:xfrm flipH="1">
            <a:off x="7086600" y="40386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5" name="Line 29"/>
          <p:cNvSpPr>
            <a:spLocks noChangeShapeType="1"/>
          </p:cNvSpPr>
          <p:nvPr/>
        </p:nvSpPr>
        <p:spPr bwMode="auto">
          <a:xfrm>
            <a:off x="7696200" y="40386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6" name="Text Box 30"/>
          <p:cNvSpPr txBox="1">
            <a:spLocks noChangeArrowheads="1"/>
          </p:cNvSpPr>
          <p:nvPr/>
        </p:nvSpPr>
        <p:spPr bwMode="auto">
          <a:xfrm>
            <a:off x="5181600" y="19050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21527" name="Text Box 31"/>
          <p:cNvSpPr txBox="1">
            <a:spLocks noChangeArrowheads="1"/>
          </p:cNvSpPr>
          <p:nvPr/>
        </p:nvSpPr>
        <p:spPr bwMode="auto">
          <a:xfrm>
            <a:off x="38862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21528" name="Text Box 32"/>
          <p:cNvSpPr txBox="1">
            <a:spLocks noChangeArrowheads="1"/>
          </p:cNvSpPr>
          <p:nvPr/>
        </p:nvSpPr>
        <p:spPr bwMode="auto">
          <a:xfrm>
            <a:off x="66294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21529" name="Text Box 33"/>
          <p:cNvSpPr txBox="1">
            <a:spLocks noChangeArrowheads="1"/>
          </p:cNvSpPr>
          <p:nvPr/>
        </p:nvSpPr>
        <p:spPr bwMode="auto">
          <a:xfrm>
            <a:off x="4572000" y="36576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D</a:t>
            </a:r>
          </a:p>
        </p:txBody>
      </p:sp>
      <p:sp>
        <p:nvSpPr>
          <p:cNvPr id="21530" name="Text Box 34"/>
          <p:cNvSpPr txBox="1">
            <a:spLocks noChangeArrowheads="1"/>
          </p:cNvSpPr>
          <p:nvPr/>
        </p:nvSpPr>
        <p:spPr bwMode="auto">
          <a:xfrm>
            <a:off x="5867400" y="3657600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E</a:t>
            </a:r>
          </a:p>
        </p:txBody>
      </p:sp>
      <p:sp>
        <p:nvSpPr>
          <p:cNvPr id="21531" name="Text Box 35"/>
          <p:cNvSpPr txBox="1">
            <a:spLocks noChangeArrowheads="1"/>
          </p:cNvSpPr>
          <p:nvPr/>
        </p:nvSpPr>
        <p:spPr bwMode="auto">
          <a:xfrm>
            <a:off x="7391400" y="35814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F</a:t>
            </a:r>
          </a:p>
        </p:txBody>
      </p:sp>
      <p:sp>
        <p:nvSpPr>
          <p:cNvPr id="21532" name="Text Box 36"/>
          <p:cNvSpPr txBox="1">
            <a:spLocks noChangeArrowheads="1"/>
          </p:cNvSpPr>
          <p:nvPr/>
        </p:nvSpPr>
        <p:spPr bwMode="auto">
          <a:xfrm>
            <a:off x="52578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G</a:t>
            </a:r>
          </a:p>
        </p:txBody>
      </p:sp>
      <p:sp>
        <p:nvSpPr>
          <p:cNvPr id="21533" name="Text Box 37"/>
          <p:cNvSpPr txBox="1">
            <a:spLocks noChangeArrowheads="1"/>
          </p:cNvSpPr>
          <p:nvPr/>
        </p:nvSpPr>
        <p:spPr bwMode="auto">
          <a:xfrm>
            <a:off x="67056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H</a:t>
            </a:r>
          </a:p>
        </p:txBody>
      </p:sp>
      <p:sp>
        <p:nvSpPr>
          <p:cNvPr id="21534" name="Text Box 38"/>
          <p:cNvSpPr txBox="1">
            <a:spLocks noChangeArrowheads="1"/>
          </p:cNvSpPr>
          <p:nvPr/>
        </p:nvSpPr>
        <p:spPr bwMode="auto">
          <a:xfrm>
            <a:off x="8001000" y="4724400"/>
            <a:ext cx="285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I</a:t>
            </a:r>
          </a:p>
        </p:txBody>
      </p:sp>
      <p:sp>
        <p:nvSpPr>
          <p:cNvPr id="390183" name="Text Box 39"/>
          <p:cNvSpPr txBox="1">
            <a:spLocks noChangeArrowheads="1"/>
          </p:cNvSpPr>
          <p:nvPr/>
        </p:nvSpPr>
        <p:spPr bwMode="auto">
          <a:xfrm>
            <a:off x="457200" y="3657600"/>
            <a:ext cx="35337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Who are node C’s descendants?</a:t>
            </a:r>
          </a:p>
        </p:txBody>
      </p:sp>
      <p:sp>
        <p:nvSpPr>
          <p:cNvPr id="390184" name="Text Box 40"/>
          <p:cNvSpPr txBox="1">
            <a:spLocks noChangeArrowheads="1"/>
          </p:cNvSpPr>
          <p:nvPr/>
        </p:nvSpPr>
        <p:spPr bwMode="auto">
          <a:xfrm>
            <a:off x="2362200" y="5562600"/>
            <a:ext cx="3562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Who are node A’s descendants?</a:t>
            </a:r>
          </a:p>
        </p:txBody>
      </p:sp>
      <p:sp>
        <p:nvSpPr>
          <p:cNvPr id="21537" name="Text Box 41"/>
          <p:cNvSpPr txBox="1">
            <a:spLocks noChangeArrowheads="1"/>
          </p:cNvSpPr>
          <p:nvPr/>
        </p:nvSpPr>
        <p:spPr bwMode="auto">
          <a:xfrm>
            <a:off x="838200" y="2514600"/>
            <a:ext cx="2244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>
                <a:latin typeface="Comic Sans MS" pitchFamily="66" charset="0"/>
              </a:rPr>
              <a:t>descendants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83" grpId="0"/>
      <p:bldP spid="39018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Oval 2"/>
          <p:cNvSpPr>
            <a:spLocks noChangeArrowheads="1"/>
          </p:cNvSpPr>
          <p:nvPr/>
        </p:nvSpPr>
        <p:spPr bwMode="auto">
          <a:xfrm>
            <a:off x="6553200" y="2667000"/>
            <a:ext cx="609600" cy="609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1171" name="Oval 3"/>
          <p:cNvSpPr>
            <a:spLocks noChangeArrowheads="1"/>
          </p:cNvSpPr>
          <p:nvPr/>
        </p:nvSpPr>
        <p:spPr bwMode="auto">
          <a:xfrm>
            <a:off x="7239000" y="3505200"/>
            <a:ext cx="609600" cy="609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Notation</a:t>
            </a:r>
          </a:p>
        </p:txBody>
      </p:sp>
      <p:sp>
        <p:nvSpPr>
          <p:cNvPr id="22533" name="Oval 5"/>
          <p:cNvSpPr>
            <a:spLocks noChangeArrowheads="1"/>
          </p:cNvSpPr>
          <p:nvPr/>
        </p:nvSpPr>
        <p:spPr bwMode="auto">
          <a:xfrm>
            <a:off x="5105400" y="1828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57912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2535" name="Oval 7"/>
          <p:cNvSpPr>
            <a:spLocks noChangeArrowheads="1"/>
          </p:cNvSpPr>
          <p:nvPr/>
        </p:nvSpPr>
        <p:spPr bwMode="auto">
          <a:xfrm>
            <a:off x="65532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2536" name="Oval 8"/>
          <p:cNvSpPr>
            <a:spLocks noChangeArrowheads="1"/>
          </p:cNvSpPr>
          <p:nvPr/>
        </p:nvSpPr>
        <p:spPr bwMode="auto">
          <a:xfrm>
            <a:off x="5105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2537" name="Oval 9"/>
          <p:cNvSpPr>
            <a:spLocks noChangeArrowheads="1"/>
          </p:cNvSpPr>
          <p:nvPr/>
        </p:nvSpPr>
        <p:spPr bwMode="auto">
          <a:xfrm>
            <a:off x="7848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2538" name="Oval 10"/>
          <p:cNvSpPr>
            <a:spLocks noChangeArrowheads="1"/>
          </p:cNvSpPr>
          <p:nvPr/>
        </p:nvSpPr>
        <p:spPr bwMode="auto">
          <a:xfrm>
            <a:off x="6629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2539" name="Oval 11"/>
          <p:cNvSpPr>
            <a:spLocks noChangeArrowheads="1"/>
          </p:cNvSpPr>
          <p:nvPr/>
        </p:nvSpPr>
        <p:spPr bwMode="auto">
          <a:xfrm>
            <a:off x="38100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2540" name="Oval 12"/>
          <p:cNvSpPr>
            <a:spLocks noChangeArrowheads="1"/>
          </p:cNvSpPr>
          <p:nvPr/>
        </p:nvSpPr>
        <p:spPr bwMode="auto">
          <a:xfrm>
            <a:off x="44958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2541" name="Oval 13"/>
          <p:cNvSpPr>
            <a:spLocks noChangeArrowheads="1"/>
          </p:cNvSpPr>
          <p:nvPr/>
        </p:nvSpPr>
        <p:spPr bwMode="auto">
          <a:xfrm>
            <a:off x="72390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 flipH="1">
            <a:off x="4343400" y="22860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>
            <a:off x="5715000" y="22860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>
            <a:off x="42672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5" name="Line 17"/>
          <p:cNvSpPr>
            <a:spLocks noChangeShapeType="1"/>
          </p:cNvSpPr>
          <p:nvPr/>
        </p:nvSpPr>
        <p:spPr bwMode="auto">
          <a:xfrm flipH="1">
            <a:off x="62484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>
            <a:off x="7086600" y="3200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 flipH="1">
            <a:off x="5562600" y="41910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8" name="Line 20"/>
          <p:cNvSpPr>
            <a:spLocks noChangeShapeType="1"/>
          </p:cNvSpPr>
          <p:nvPr/>
        </p:nvSpPr>
        <p:spPr bwMode="auto">
          <a:xfrm flipH="1">
            <a:off x="7086600" y="40386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9" name="Line 21"/>
          <p:cNvSpPr>
            <a:spLocks noChangeShapeType="1"/>
          </p:cNvSpPr>
          <p:nvPr/>
        </p:nvSpPr>
        <p:spPr bwMode="auto">
          <a:xfrm>
            <a:off x="7696200" y="40386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5181600" y="19050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38862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66294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4572000" y="36576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D</a:t>
            </a:r>
          </a:p>
        </p:txBody>
      </p:sp>
      <p:sp>
        <p:nvSpPr>
          <p:cNvPr id="22554" name="Text Box 26"/>
          <p:cNvSpPr txBox="1">
            <a:spLocks noChangeArrowheads="1"/>
          </p:cNvSpPr>
          <p:nvPr/>
        </p:nvSpPr>
        <p:spPr bwMode="auto">
          <a:xfrm>
            <a:off x="5867400" y="3657600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E</a:t>
            </a:r>
          </a:p>
        </p:txBody>
      </p:sp>
      <p:sp>
        <p:nvSpPr>
          <p:cNvPr id="22555" name="Text Box 27"/>
          <p:cNvSpPr txBox="1">
            <a:spLocks noChangeArrowheads="1"/>
          </p:cNvSpPr>
          <p:nvPr/>
        </p:nvSpPr>
        <p:spPr bwMode="auto">
          <a:xfrm>
            <a:off x="7391400" y="35814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F</a:t>
            </a:r>
          </a:p>
        </p:txBody>
      </p:sp>
      <p:sp>
        <p:nvSpPr>
          <p:cNvPr id="22556" name="Text Box 28"/>
          <p:cNvSpPr txBox="1">
            <a:spLocks noChangeArrowheads="1"/>
          </p:cNvSpPr>
          <p:nvPr/>
        </p:nvSpPr>
        <p:spPr bwMode="auto">
          <a:xfrm>
            <a:off x="52578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G</a:t>
            </a:r>
          </a:p>
        </p:txBody>
      </p:sp>
      <p:sp>
        <p:nvSpPr>
          <p:cNvPr id="22557" name="Text Box 29"/>
          <p:cNvSpPr txBox="1">
            <a:spLocks noChangeArrowheads="1"/>
          </p:cNvSpPr>
          <p:nvPr/>
        </p:nvSpPr>
        <p:spPr bwMode="auto">
          <a:xfrm>
            <a:off x="67056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H</a:t>
            </a:r>
          </a:p>
        </p:txBody>
      </p:sp>
      <p:sp>
        <p:nvSpPr>
          <p:cNvPr id="22558" name="Text Box 30"/>
          <p:cNvSpPr txBox="1">
            <a:spLocks noChangeArrowheads="1"/>
          </p:cNvSpPr>
          <p:nvPr/>
        </p:nvSpPr>
        <p:spPr bwMode="auto">
          <a:xfrm>
            <a:off x="8001000" y="4724400"/>
            <a:ext cx="285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I</a:t>
            </a:r>
          </a:p>
        </p:txBody>
      </p:sp>
      <p:sp>
        <p:nvSpPr>
          <p:cNvPr id="391199" name="Text Box 31"/>
          <p:cNvSpPr txBox="1">
            <a:spLocks noChangeArrowheads="1"/>
          </p:cNvSpPr>
          <p:nvPr/>
        </p:nvSpPr>
        <p:spPr bwMode="auto">
          <a:xfrm>
            <a:off x="457200" y="3657600"/>
            <a:ext cx="27384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Who is node E’s parent?</a:t>
            </a:r>
          </a:p>
        </p:txBody>
      </p:sp>
      <p:sp>
        <p:nvSpPr>
          <p:cNvPr id="391200" name="Text Box 32"/>
          <p:cNvSpPr txBox="1">
            <a:spLocks noChangeArrowheads="1"/>
          </p:cNvSpPr>
          <p:nvPr/>
        </p:nvSpPr>
        <p:spPr bwMode="auto">
          <a:xfrm>
            <a:off x="2362200" y="5562600"/>
            <a:ext cx="27717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Who is node H’s parent?</a:t>
            </a:r>
          </a:p>
        </p:txBody>
      </p:sp>
      <p:sp>
        <p:nvSpPr>
          <p:cNvPr id="22561" name="Text Box 33"/>
          <p:cNvSpPr txBox="1">
            <a:spLocks noChangeArrowheads="1"/>
          </p:cNvSpPr>
          <p:nvPr/>
        </p:nvSpPr>
        <p:spPr bwMode="auto">
          <a:xfrm>
            <a:off x="838200" y="2514600"/>
            <a:ext cx="14509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>
                <a:latin typeface="Comic Sans MS" pitchFamily="66" charset="0"/>
              </a:rPr>
              <a:t>parents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1000"/>
                                        <p:tgtEl>
                                          <p:spTgt spid="39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391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5" dur="1000"/>
                                        <p:tgtEl>
                                          <p:spTgt spid="39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0" grpId="0" animBg="1"/>
      <p:bldP spid="391170" grpId="1" animBg="1"/>
      <p:bldP spid="391171" grpId="0" animBg="1"/>
      <p:bldP spid="391199" grpId="0"/>
      <p:bldP spid="39120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Oval 2"/>
          <p:cNvSpPr>
            <a:spLocks noChangeArrowheads="1"/>
          </p:cNvSpPr>
          <p:nvPr/>
        </p:nvSpPr>
        <p:spPr bwMode="auto">
          <a:xfrm>
            <a:off x="6629400" y="4648200"/>
            <a:ext cx="609600" cy="609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392195" name="Oval 3"/>
          <p:cNvSpPr>
            <a:spLocks noChangeArrowheads="1"/>
          </p:cNvSpPr>
          <p:nvPr/>
        </p:nvSpPr>
        <p:spPr bwMode="auto">
          <a:xfrm>
            <a:off x="4495800" y="3581400"/>
            <a:ext cx="609600" cy="609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105400" y="1828800"/>
            <a:ext cx="2743200" cy="2286000"/>
            <a:chOff x="3216" y="1152"/>
            <a:chExt cx="1728" cy="1440"/>
          </a:xfrm>
        </p:grpSpPr>
        <p:sp>
          <p:nvSpPr>
            <p:cNvPr id="23590" name="Oval 5"/>
            <p:cNvSpPr>
              <a:spLocks noChangeArrowheads="1"/>
            </p:cNvSpPr>
            <p:nvPr/>
          </p:nvSpPr>
          <p:spPr bwMode="auto">
            <a:xfrm>
              <a:off x="4128" y="1680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3591" name="Oval 6"/>
            <p:cNvSpPr>
              <a:spLocks noChangeArrowheads="1"/>
            </p:cNvSpPr>
            <p:nvPr/>
          </p:nvSpPr>
          <p:spPr bwMode="auto">
            <a:xfrm>
              <a:off x="4560" y="2208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3592" name="Oval 7"/>
            <p:cNvSpPr>
              <a:spLocks noChangeArrowheads="1"/>
            </p:cNvSpPr>
            <p:nvPr/>
          </p:nvSpPr>
          <p:spPr bwMode="auto">
            <a:xfrm>
              <a:off x="3216" y="1152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810000" y="1828800"/>
            <a:ext cx="1905000" cy="1447800"/>
            <a:chOff x="2400" y="1152"/>
            <a:chExt cx="1200" cy="912"/>
          </a:xfrm>
        </p:grpSpPr>
        <p:sp>
          <p:nvSpPr>
            <p:cNvPr id="23588" name="Oval 9"/>
            <p:cNvSpPr>
              <a:spLocks noChangeArrowheads="1"/>
            </p:cNvSpPr>
            <p:nvPr/>
          </p:nvSpPr>
          <p:spPr bwMode="auto">
            <a:xfrm>
              <a:off x="3216" y="1152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3589" name="Oval 10"/>
            <p:cNvSpPr>
              <a:spLocks noChangeArrowheads="1"/>
            </p:cNvSpPr>
            <p:nvPr/>
          </p:nvSpPr>
          <p:spPr bwMode="auto">
            <a:xfrm>
              <a:off x="2400" y="1680"/>
              <a:ext cx="384" cy="384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sp>
        <p:nvSpPr>
          <p:cNvPr id="23558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Notation</a:t>
            </a:r>
          </a:p>
        </p:txBody>
      </p:sp>
      <p:sp>
        <p:nvSpPr>
          <p:cNvPr id="23559" name="Oval 12"/>
          <p:cNvSpPr>
            <a:spLocks noChangeArrowheads="1"/>
          </p:cNvSpPr>
          <p:nvPr/>
        </p:nvSpPr>
        <p:spPr bwMode="auto">
          <a:xfrm>
            <a:off x="5105400" y="1828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3560" name="Oval 13"/>
          <p:cNvSpPr>
            <a:spLocks noChangeArrowheads="1"/>
          </p:cNvSpPr>
          <p:nvPr/>
        </p:nvSpPr>
        <p:spPr bwMode="auto">
          <a:xfrm>
            <a:off x="57912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3561" name="Oval 14"/>
          <p:cNvSpPr>
            <a:spLocks noChangeArrowheads="1"/>
          </p:cNvSpPr>
          <p:nvPr/>
        </p:nvSpPr>
        <p:spPr bwMode="auto">
          <a:xfrm>
            <a:off x="65532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3562" name="Oval 15"/>
          <p:cNvSpPr>
            <a:spLocks noChangeArrowheads="1"/>
          </p:cNvSpPr>
          <p:nvPr/>
        </p:nvSpPr>
        <p:spPr bwMode="auto">
          <a:xfrm>
            <a:off x="5105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3563" name="Oval 16"/>
          <p:cNvSpPr>
            <a:spLocks noChangeArrowheads="1"/>
          </p:cNvSpPr>
          <p:nvPr/>
        </p:nvSpPr>
        <p:spPr bwMode="auto">
          <a:xfrm>
            <a:off x="7848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3564" name="Oval 17"/>
          <p:cNvSpPr>
            <a:spLocks noChangeArrowheads="1"/>
          </p:cNvSpPr>
          <p:nvPr/>
        </p:nvSpPr>
        <p:spPr bwMode="auto">
          <a:xfrm>
            <a:off x="6629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3565" name="Oval 18"/>
          <p:cNvSpPr>
            <a:spLocks noChangeArrowheads="1"/>
          </p:cNvSpPr>
          <p:nvPr/>
        </p:nvSpPr>
        <p:spPr bwMode="auto">
          <a:xfrm>
            <a:off x="38100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3566" name="Oval 19"/>
          <p:cNvSpPr>
            <a:spLocks noChangeArrowheads="1"/>
          </p:cNvSpPr>
          <p:nvPr/>
        </p:nvSpPr>
        <p:spPr bwMode="auto">
          <a:xfrm>
            <a:off x="44958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3567" name="Oval 20"/>
          <p:cNvSpPr>
            <a:spLocks noChangeArrowheads="1"/>
          </p:cNvSpPr>
          <p:nvPr/>
        </p:nvSpPr>
        <p:spPr bwMode="auto">
          <a:xfrm>
            <a:off x="72390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3568" name="Line 21"/>
          <p:cNvSpPr>
            <a:spLocks noChangeShapeType="1"/>
          </p:cNvSpPr>
          <p:nvPr/>
        </p:nvSpPr>
        <p:spPr bwMode="auto">
          <a:xfrm flipH="1">
            <a:off x="4343400" y="22860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9" name="Line 22"/>
          <p:cNvSpPr>
            <a:spLocks noChangeShapeType="1"/>
          </p:cNvSpPr>
          <p:nvPr/>
        </p:nvSpPr>
        <p:spPr bwMode="auto">
          <a:xfrm>
            <a:off x="5715000" y="22860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Line 23"/>
          <p:cNvSpPr>
            <a:spLocks noChangeShapeType="1"/>
          </p:cNvSpPr>
          <p:nvPr/>
        </p:nvSpPr>
        <p:spPr bwMode="auto">
          <a:xfrm>
            <a:off x="42672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Line 24"/>
          <p:cNvSpPr>
            <a:spLocks noChangeShapeType="1"/>
          </p:cNvSpPr>
          <p:nvPr/>
        </p:nvSpPr>
        <p:spPr bwMode="auto">
          <a:xfrm flipH="1">
            <a:off x="62484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2" name="Line 25"/>
          <p:cNvSpPr>
            <a:spLocks noChangeShapeType="1"/>
          </p:cNvSpPr>
          <p:nvPr/>
        </p:nvSpPr>
        <p:spPr bwMode="auto">
          <a:xfrm>
            <a:off x="7086600" y="3200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Line 26"/>
          <p:cNvSpPr>
            <a:spLocks noChangeShapeType="1"/>
          </p:cNvSpPr>
          <p:nvPr/>
        </p:nvSpPr>
        <p:spPr bwMode="auto">
          <a:xfrm flipH="1">
            <a:off x="5562600" y="41910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4" name="Line 27"/>
          <p:cNvSpPr>
            <a:spLocks noChangeShapeType="1"/>
          </p:cNvSpPr>
          <p:nvPr/>
        </p:nvSpPr>
        <p:spPr bwMode="auto">
          <a:xfrm flipH="1">
            <a:off x="7086600" y="40386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5" name="Line 28"/>
          <p:cNvSpPr>
            <a:spLocks noChangeShapeType="1"/>
          </p:cNvSpPr>
          <p:nvPr/>
        </p:nvSpPr>
        <p:spPr bwMode="auto">
          <a:xfrm>
            <a:off x="7696200" y="40386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6" name="Text Box 29"/>
          <p:cNvSpPr txBox="1">
            <a:spLocks noChangeArrowheads="1"/>
          </p:cNvSpPr>
          <p:nvPr/>
        </p:nvSpPr>
        <p:spPr bwMode="auto">
          <a:xfrm>
            <a:off x="5181600" y="19050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23577" name="Text Box 30"/>
          <p:cNvSpPr txBox="1">
            <a:spLocks noChangeArrowheads="1"/>
          </p:cNvSpPr>
          <p:nvPr/>
        </p:nvSpPr>
        <p:spPr bwMode="auto">
          <a:xfrm>
            <a:off x="38862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23578" name="Text Box 31"/>
          <p:cNvSpPr txBox="1">
            <a:spLocks noChangeArrowheads="1"/>
          </p:cNvSpPr>
          <p:nvPr/>
        </p:nvSpPr>
        <p:spPr bwMode="auto">
          <a:xfrm>
            <a:off x="66294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23579" name="Text Box 32"/>
          <p:cNvSpPr txBox="1">
            <a:spLocks noChangeArrowheads="1"/>
          </p:cNvSpPr>
          <p:nvPr/>
        </p:nvSpPr>
        <p:spPr bwMode="auto">
          <a:xfrm>
            <a:off x="4572000" y="36576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D</a:t>
            </a:r>
          </a:p>
        </p:txBody>
      </p:sp>
      <p:sp>
        <p:nvSpPr>
          <p:cNvPr id="23580" name="Text Box 33"/>
          <p:cNvSpPr txBox="1">
            <a:spLocks noChangeArrowheads="1"/>
          </p:cNvSpPr>
          <p:nvPr/>
        </p:nvSpPr>
        <p:spPr bwMode="auto">
          <a:xfrm>
            <a:off x="5867400" y="3657600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E</a:t>
            </a:r>
          </a:p>
        </p:txBody>
      </p:sp>
      <p:sp>
        <p:nvSpPr>
          <p:cNvPr id="23581" name="Text Box 34"/>
          <p:cNvSpPr txBox="1">
            <a:spLocks noChangeArrowheads="1"/>
          </p:cNvSpPr>
          <p:nvPr/>
        </p:nvSpPr>
        <p:spPr bwMode="auto">
          <a:xfrm>
            <a:off x="7391400" y="35814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F</a:t>
            </a:r>
          </a:p>
        </p:txBody>
      </p:sp>
      <p:sp>
        <p:nvSpPr>
          <p:cNvPr id="23582" name="Text Box 35"/>
          <p:cNvSpPr txBox="1">
            <a:spLocks noChangeArrowheads="1"/>
          </p:cNvSpPr>
          <p:nvPr/>
        </p:nvSpPr>
        <p:spPr bwMode="auto">
          <a:xfrm>
            <a:off x="52578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G</a:t>
            </a:r>
          </a:p>
        </p:txBody>
      </p:sp>
      <p:sp>
        <p:nvSpPr>
          <p:cNvPr id="23583" name="Text Box 36"/>
          <p:cNvSpPr txBox="1">
            <a:spLocks noChangeArrowheads="1"/>
          </p:cNvSpPr>
          <p:nvPr/>
        </p:nvSpPr>
        <p:spPr bwMode="auto">
          <a:xfrm>
            <a:off x="67056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H</a:t>
            </a:r>
          </a:p>
        </p:txBody>
      </p:sp>
      <p:sp>
        <p:nvSpPr>
          <p:cNvPr id="23584" name="Text Box 37"/>
          <p:cNvSpPr txBox="1">
            <a:spLocks noChangeArrowheads="1"/>
          </p:cNvSpPr>
          <p:nvPr/>
        </p:nvSpPr>
        <p:spPr bwMode="auto">
          <a:xfrm>
            <a:off x="8001000" y="4724400"/>
            <a:ext cx="285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I</a:t>
            </a:r>
          </a:p>
        </p:txBody>
      </p:sp>
      <p:sp>
        <p:nvSpPr>
          <p:cNvPr id="392230" name="Text Box 38"/>
          <p:cNvSpPr txBox="1">
            <a:spLocks noChangeArrowheads="1"/>
          </p:cNvSpPr>
          <p:nvPr/>
        </p:nvSpPr>
        <p:spPr bwMode="auto">
          <a:xfrm>
            <a:off x="457200" y="3657600"/>
            <a:ext cx="3276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Who are node D’s ancestors?</a:t>
            </a:r>
          </a:p>
        </p:txBody>
      </p:sp>
      <p:sp>
        <p:nvSpPr>
          <p:cNvPr id="392231" name="Text Box 39"/>
          <p:cNvSpPr txBox="1">
            <a:spLocks noChangeArrowheads="1"/>
          </p:cNvSpPr>
          <p:nvPr/>
        </p:nvSpPr>
        <p:spPr bwMode="auto">
          <a:xfrm>
            <a:off x="2362200" y="5562600"/>
            <a:ext cx="32877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Who are node H’s ancestors?</a:t>
            </a:r>
          </a:p>
        </p:txBody>
      </p:sp>
      <p:sp>
        <p:nvSpPr>
          <p:cNvPr id="23587" name="Text Box 40"/>
          <p:cNvSpPr txBox="1">
            <a:spLocks noChangeArrowheads="1"/>
          </p:cNvSpPr>
          <p:nvPr/>
        </p:nvSpPr>
        <p:spPr bwMode="auto">
          <a:xfrm>
            <a:off x="838200" y="2514600"/>
            <a:ext cx="180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>
                <a:latin typeface="Comic Sans MS" pitchFamily="66" charset="0"/>
              </a:rPr>
              <a:t>ancestors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9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9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4" grpId="0" animBg="1"/>
      <p:bldP spid="392195" grpId="0" animBg="1"/>
      <p:bldP spid="392230" grpId="0"/>
      <p:bldP spid="3922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Notation</a:t>
            </a:r>
          </a:p>
        </p:txBody>
      </p:sp>
      <p:sp>
        <p:nvSpPr>
          <p:cNvPr id="24579" name="Oval 3"/>
          <p:cNvSpPr>
            <a:spLocks noChangeArrowheads="1"/>
          </p:cNvSpPr>
          <p:nvPr/>
        </p:nvSpPr>
        <p:spPr bwMode="auto">
          <a:xfrm>
            <a:off x="5105400" y="1828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4580" name="Oval 4"/>
          <p:cNvSpPr>
            <a:spLocks noChangeArrowheads="1"/>
          </p:cNvSpPr>
          <p:nvPr/>
        </p:nvSpPr>
        <p:spPr bwMode="auto">
          <a:xfrm>
            <a:off x="57912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4581" name="Oval 5"/>
          <p:cNvSpPr>
            <a:spLocks noChangeArrowheads="1"/>
          </p:cNvSpPr>
          <p:nvPr/>
        </p:nvSpPr>
        <p:spPr bwMode="auto">
          <a:xfrm>
            <a:off x="65532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4582" name="Oval 6"/>
          <p:cNvSpPr>
            <a:spLocks noChangeArrowheads="1"/>
          </p:cNvSpPr>
          <p:nvPr/>
        </p:nvSpPr>
        <p:spPr bwMode="auto">
          <a:xfrm>
            <a:off x="5105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4583" name="Oval 7"/>
          <p:cNvSpPr>
            <a:spLocks noChangeArrowheads="1"/>
          </p:cNvSpPr>
          <p:nvPr/>
        </p:nvSpPr>
        <p:spPr bwMode="auto">
          <a:xfrm>
            <a:off x="7848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4584" name="Oval 8"/>
          <p:cNvSpPr>
            <a:spLocks noChangeArrowheads="1"/>
          </p:cNvSpPr>
          <p:nvPr/>
        </p:nvSpPr>
        <p:spPr bwMode="auto">
          <a:xfrm>
            <a:off x="6629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4585" name="Oval 9"/>
          <p:cNvSpPr>
            <a:spLocks noChangeArrowheads="1"/>
          </p:cNvSpPr>
          <p:nvPr/>
        </p:nvSpPr>
        <p:spPr bwMode="auto">
          <a:xfrm>
            <a:off x="38100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4586" name="Oval 10"/>
          <p:cNvSpPr>
            <a:spLocks noChangeArrowheads="1"/>
          </p:cNvSpPr>
          <p:nvPr/>
        </p:nvSpPr>
        <p:spPr bwMode="auto">
          <a:xfrm>
            <a:off x="44958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4587" name="Oval 11"/>
          <p:cNvSpPr>
            <a:spLocks noChangeArrowheads="1"/>
          </p:cNvSpPr>
          <p:nvPr/>
        </p:nvSpPr>
        <p:spPr bwMode="auto">
          <a:xfrm>
            <a:off x="72390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 flipH="1">
            <a:off x="4343400" y="22860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>
            <a:off x="5715000" y="22860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>
            <a:off x="42672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 flipH="1">
            <a:off x="62484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>
            <a:off x="7086600" y="3200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Line 17"/>
          <p:cNvSpPr>
            <a:spLocks noChangeShapeType="1"/>
          </p:cNvSpPr>
          <p:nvPr/>
        </p:nvSpPr>
        <p:spPr bwMode="auto">
          <a:xfrm flipH="1">
            <a:off x="5562600" y="41910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 flipH="1">
            <a:off x="7086600" y="40386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5" name="Line 19"/>
          <p:cNvSpPr>
            <a:spLocks noChangeShapeType="1"/>
          </p:cNvSpPr>
          <p:nvPr/>
        </p:nvSpPr>
        <p:spPr bwMode="auto">
          <a:xfrm>
            <a:off x="7696200" y="40386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6" name="Text Box 20"/>
          <p:cNvSpPr txBox="1">
            <a:spLocks noChangeArrowheads="1"/>
          </p:cNvSpPr>
          <p:nvPr/>
        </p:nvSpPr>
        <p:spPr bwMode="auto">
          <a:xfrm>
            <a:off x="5181600" y="19050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24597" name="Text Box 21"/>
          <p:cNvSpPr txBox="1">
            <a:spLocks noChangeArrowheads="1"/>
          </p:cNvSpPr>
          <p:nvPr/>
        </p:nvSpPr>
        <p:spPr bwMode="auto">
          <a:xfrm>
            <a:off x="38862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66294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4572000" y="36576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D</a:t>
            </a:r>
          </a:p>
        </p:txBody>
      </p:sp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5867400" y="3657600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E</a:t>
            </a:r>
          </a:p>
        </p:txBody>
      </p:sp>
      <p:sp>
        <p:nvSpPr>
          <p:cNvPr id="24601" name="Text Box 25"/>
          <p:cNvSpPr txBox="1">
            <a:spLocks noChangeArrowheads="1"/>
          </p:cNvSpPr>
          <p:nvPr/>
        </p:nvSpPr>
        <p:spPr bwMode="auto">
          <a:xfrm>
            <a:off x="7391400" y="35814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F</a:t>
            </a:r>
          </a:p>
        </p:txBody>
      </p:sp>
      <p:sp>
        <p:nvSpPr>
          <p:cNvPr id="24602" name="Text Box 26"/>
          <p:cNvSpPr txBox="1">
            <a:spLocks noChangeArrowheads="1"/>
          </p:cNvSpPr>
          <p:nvPr/>
        </p:nvSpPr>
        <p:spPr bwMode="auto">
          <a:xfrm>
            <a:off x="52578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G</a:t>
            </a:r>
          </a:p>
        </p:txBody>
      </p:sp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67056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H</a:t>
            </a:r>
          </a:p>
        </p:txBody>
      </p:sp>
      <p:sp>
        <p:nvSpPr>
          <p:cNvPr id="24604" name="Text Box 28"/>
          <p:cNvSpPr txBox="1">
            <a:spLocks noChangeArrowheads="1"/>
          </p:cNvSpPr>
          <p:nvPr/>
        </p:nvSpPr>
        <p:spPr bwMode="auto">
          <a:xfrm>
            <a:off x="8001000" y="4724400"/>
            <a:ext cx="285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I</a:t>
            </a:r>
          </a:p>
        </p:txBody>
      </p:sp>
      <p:sp>
        <p:nvSpPr>
          <p:cNvPr id="393245" name="Text Box 29"/>
          <p:cNvSpPr txBox="1">
            <a:spLocks noChangeArrowheads="1"/>
          </p:cNvSpPr>
          <p:nvPr/>
        </p:nvSpPr>
        <p:spPr bwMode="auto">
          <a:xfrm>
            <a:off x="457200" y="3200400"/>
            <a:ext cx="3200400" cy="161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rtl="0" eaLnBrk="0" hangingPunct="0">
              <a:defRPr/>
            </a:pPr>
            <a:r>
              <a:rPr lang="en-US" sz="2800" dirty="0">
                <a:latin typeface="Comic Sans MS" pitchFamily="66" charset="0"/>
                <a:cs typeface="Arial" pitchFamily="34" charset="0"/>
              </a:rPr>
              <a:t>path –</a:t>
            </a:r>
          </a:p>
          <a:p>
            <a:pPr algn="l" rtl="0" eaLnBrk="0" hangingPunct="0">
              <a:defRPr/>
            </a:pPr>
            <a:r>
              <a:rPr lang="en-GB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If n1, n2,…</a:t>
            </a:r>
            <a:r>
              <a:rPr lang="en-GB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nk</a:t>
            </a:r>
            <a:r>
              <a:rPr lang="en-GB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 is a sequence of nodes such that </a:t>
            </a:r>
            <a:r>
              <a:rPr lang="en-GB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ni</a:t>
            </a:r>
            <a:r>
              <a:rPr lang="en-GB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 is the parent of ni+1, then that sequence is a </a:t>
            </a:r>
            <a:r>
              <a:rPr lang="en-GB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path.</a:t>
            </a:r>
            <a:endParaRPr lang="en-US" b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4606" name="Oval 30"/>
          <p:cNvSpPr>
            <a:spLocks noChangeArrowheads="1"/>
          </p:cNvSpPr>
          <p:nvPr/>
        </p:nvSpPr>
        <p:spPr bwMode="auto">
          <a:xfrm>
            <a:off x="7315200" y="5791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4607" name="Line 31"/>
          <p:cNvSpPr>
            <a:spLocks noChangeShapeType="1"/>
          </p:cNvSpPr>
          <p:nvPr/>
        </p:nvSpPr>
        <p:spPr bwMode="auto">
          <a:xfrm>
            <a:off x="7162800" y="51816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8" name="Text Box 32"/>
          <p:cNvSpPr txBox="1">
            <a:spLocks noChangeArrowheads="1"/>
          </p:cNvSpPr>
          <p:nvPr/>
        </p:nvSpPr>
        <p:spPr bwMode="auto">
          <a:xfrm>
            <a:off x="7375525" y="5832475"/>
            <a:ext cx="303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J</a:t>
            </a:r>
          </a:p>
        </p:txBody>
      </p:sp>
      <p:sp>
        <p:nvSpPr>
          <p:cNvPr id="393249" name="Text Box 33"/>
          <p:cNvSpPr txBox="1">
            <a:spLocks noChangeArrowheads="1"/>
          </p:cNvSpPr>
          <p:nvPr/>
        </p:nvSpPr>
        <p:spPr bwMode="auto">
          <a:xfrm>
            <a:off x="2819400" y="1828800"/>
            <a:ext cx="1289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from J to A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5715000" y="2286000"/>
            <a:ext cx="1828800" cy="3505200"/>
            <a:chOff x="3696" y="1536"/>
            <a:chExt cx="1152" cy="2208"/>
          </a:xfrm>
        </p:grpSpPr>
        <p:sp>
          <p:nvSpPr>
            <p:cNvPr id="24612" name="Line 35"/>
            <p:cNvSpPr>
              <a:spLocks noChangeShapeType="1"/>
            </p:cNvSpPr>
            <p:nvPr/>
          </p:nvSpPr>
          <p:spPr bwMode="auto">
            <a:xfrm>
              <a:off x="3696" y="1536"/>
              <a:ext cx="576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3" name="Line 36"/>
            <p:cNvSpPr>
              <a:spLocks noChangeShapeType="1"/>
            </p:cNvSpPr>
            <p:nvPr/>
          </p:nvSpPr>
          <p:spPr bwMode="auto">
            <a:xfrm>
              <a:off x="4560" y="21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4" name="Line 37"/>
            <p:cNvSpPr>
              <a:spLocks noChangeShapeType="1"/>
            </p:cNvSpPr>
            <p:nvPr/>
          </p:nvSpPr>
          <p:spPr bwMode="auto">
            <a:xfrm flipH="1">
              <a:off x="4560" y="2640"/>
              <a:ext cx="192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5" name="Line 38"/>
            <p:cNvSpPr>
              <a:spLocks noChangeShapeType="1"/>
            </p:cNvSpPr>
            <p:nvPr/>
          </p:nvSpPr>
          <p:spPr bwMode="auto">
            <a:xfrm>
              <a:off x="4608" y="3360"/>
              <a:ext cx="240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3255" name="Rectangle 39"/>
          <p:cNvSpPr>
            <a:spLocks noChangeArrowheads="1"/>
          </p:cNvSpPr>
          <p:nvPr/>
        </p:nvSpPr>
        <p:spPr bwMode="auto">
          <a:xfrm>
            <a:off x="609600" y="6019800"/>
            <a:ext cx="32480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ts val="7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en-GB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The </a:t>
            </a:r>
            <a:r>
              <a:rPr lang="en-GB" b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length</a:t>
            </a:r>
            <a:r>
              <a:rPr lang="en-GB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 of the path is k-1.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49" grpId="0"/>
      <p:bldP spid="39325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Notation</a:t>
            </a:r>
          </a:p>
        </p:txBody>
      </p:sp>
      <p:sp>
        <p:nvSpPr>
          <p:cNvPr id="25603" name="Oval 3"/>
          <p:cNvSpPr>
            <a:spLocks noChangeArrowheads="1"/>
          </p:cNvSpPr>
          <p:nvPr/>
        </p:nvSpPr>
        <p:spPr bwMode="auto">
          <a:xfrm>
            <a:off x="5105400" y="1828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57912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65532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5606" name="Oval 6"/>
          <p:cNvSpPr>
            <a:spLocks noChangeArrowheads="1"/>
          </p:cNvSpPr>
          <p:nvPr/>
        </p:nvSpPr>
        <p:spPr bwMode="auto">
          <a:xfrm>
            <a:off x="5105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5607" name="Oval 7"/>
          <p:cNvSpPr>
            <a:spLocks noChangeArrowheads="1"/>
          </p:cNvSpPr>
          <p:nvPr/>
        </p:nvSpPr>
        <p:spPr bwMode="auto">
          <a:xfrm>
            <a:off x="7848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5608" name="Oval 8"/>
          <p:cNvSpPr>
            <a:spLocks noChangeArrowheads="1"/>
          </p:cNvSpPr>
          <p:nvPr/>
        </p:nvSpPr>
        <p:spPr bwMode="auto">
          <a:xfrm>
            <a:off x="6629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5609" name="Oval 9"/>
          <p:cNvSpPr>
            <a:spLocks noChangeArrowheads="1"/>
          </p:cNvSpPr>
          <p:nvPr/>
        </p:nvSpPr>
        <p:spPr bwMode="auto">
          <a:xfrm>
            <a:off x="38100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5610" name="Oval 10"/>
          <p:cNvSpPr>
            <a:spLocks noChangeArrowheads="1"/>
          </p:cNvSpPr>
          <p:nvPr/>
        </p:nvSpPr>
        <p:spPr bwMode="auto">
          <a:xfrm>
            <a:off x="44958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5611" name="Oval 11"/>
          <p:cNvSpPr>
            <a:spLocks noChangeArrowheads="1"/>
          </p:cNvSpPr>
          <p:nvPr/>
        </p:nvSpPr>
        <p:spPr bwMode="auto">
          <a:xfrm>
            <a:off x="72390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 flipH="1">
            <a:off x="4343400" y="22860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>
            <a:off x="5715000" y="22860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>
            <a:off x="42672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5" name="Line 15"/>
          <p:cNvSpPr>
            <a:spLocks noChangeShapeType="1"/>
          </p:cNvSpPr>
          <p:nvPr/>
        </p:nvSpPr>
        <p:spPr bwMode="auto">
          <a:xfrm flipH="1">
            <a:off x="62484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6" name="Line 16"/>
          <p:cNvSpPr>
            <a:spLocks noChangeShapeType="1"/>
          </p:cNvSpPr>
          <p:nvPr/>
        </p:nvSpPr>
        <p:spPr bwMode="auto">
          <a:xfrm>
            <a:off x="7086600" y="3200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 flipH="1">
            <a:off x="5562600" y="41910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8" name="Line 18"/>
          <p:cNvSpPr>
            <a:spLocks noChangeShapeType="1"/>
          </p:cNvSpPr>
          <p:nvPr/>
        </p:nvSpPr>
        <p:spPr bwMode="auto">
          <a:xfrm flipH="1">
            <a:off x="7086600" y="40386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9" name="Line 19"/>
          <p:cNvSpPr>
            <a:spLocks noChangeShapeType="1"/>
          </p:cNvSpPr>
          <p:nvPr/>
        </p:nvSpPr>
        <p:spPr bwMode="auto">
          <a:xfrm>
            <a:off x="7696200" y="40386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20" name="Text Box 20"/>
          <p:cNvSpPr txBox="1">
            <a:spLocks noChangeArrowheads="1"/>
          </p:cNvSpPr>
          <p:nvPr/>
        </p:nvSpPr>
        <p:spPr bwMode="auto">
          <a:xfrm>
            <a:off x="5181600" y="19050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25621" name="Text Box 21"/>
          <p:cNvSpPr txBox="1">
            <a:spLocks noChangeArrowheads="1"/>
          </p:cNvSpPr>
          <p:nvPr/>
        </p:nvSpPr>
        <p:spPr bwMode="auto">
          <a:xfrm>
            <a:off x="38862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25622" name="Text Box 22"/>
          <p:cNvSpPr txBox="1">
            <a:spLocks noChangeArrowheads="1"/>
          </p:cNvSpPr>
          <p:nvPr/>
        </p:nvSpPr>
        <p:spPr bwMode="auto">
          <a:xfrm>
            <a:off x="66294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25623" name="Text Box 23"/>
          <p:cNvSpPr txBox="1">
            <a:spLocks noChangeArrowheads="1"/>
          </p:cNvSpPr>
          <p:nvPr/>
        </p:nvSpPr>
        <p:spPr bwMode="auto">
          <a:xfrm>
            <a:off x="4572000" y="36576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D</a:t>
            </a:r>
          </a:p>
        </p:txBody>
      </p:sp>
      <p:sp>
        <p:nvSpPr>
          <p:cNvPr id="25624" name="Text Box 24"/>
          <p:cNvSpPr txBox="1">
            <a:spLocks noChangeArrowheads="1"/>
          </p:cNvSpPr>
          <p:nvPr/>
        </p:nvSpPr>
        <p:spPr bwMode="auto">
          <a:xfrm>
            <a:off x="5867400" y="3657600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E</a:t>
            </a:r>
          </a:p>
        </p:txBody>
      </p:sp>
      <p:sp>
        <p:nvSpPr>
          <p:cNvPr id="25625" name="Text Box 25"/>
          <p:cNvSpPr txBox="1">
            <a:spLocks noChangeArrowheads="1"/>
          </p:cNvSpPr>
          <p:nvPr/>
        </p:nvSpPr>
        <p:spPr bwMode="auto">
          <a:xfrm>
            <a:off x="7391400" y="35814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F</a:t>
            </a:r>
          </a:p>
        </p:txBody>
      </p:sp>
      <p:sp>
        <p:nvSpPr>
          <p:cNvPr id="25626" name="Text Box 26"/>
          <p:cNvSpPr txBox="1">
            <a:spLocks noChangeArrowheads="1"/>
          </p:cNvSpPr>
          <p:nvPr/>
        </p:nvSpPr>
        <p:spPr bwMode="auto">
          <a:xfrm>
            <a:off x="52578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G</a:t>
            </a:r>
          </a:p>
        </p:txBody>
      </p:sp>
      <p:sp>
        <p:nvSpPr>
          <p:cNvPr id="25627" name="Text Box 27"/>
          <p:cNvSpPr txBox="1">
            <a:spLocks noChangeArrowheads="1"/>
          </p:cNvSpPr>
          <p:nvPr/>
        </p:nvSpPr>
        <p:spPr bwMode="auto">
          <a:xfrm>
            <a:off x="67056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H</a:t>
            </a:r>
          </a:p>
        </p:txBody>
      </p:sp>
      <p:sp>
        <p:nvSpPr>
          <p:cNvPr id="25628" name="Text Box 28"/>
          <p:cNvSpPr txBox="1">
            <a:spLocks noChangeArrowheads="1"/>
          </p:cNvSpPr>
          <p:nvPr/>
        </p:nvSpPr>
        <p:spPr bwMode="auto">
          <a:xfrm>
            <a:off x="8001000" y="4724400"/>
            <a:ext cx="285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I</a:t>
            </a:r>
          </a:p>
        </p:txBody>
      </p:sp>
      <p:sp>
        <p:nvSpPr>
          <p:cNvPr id="25629" name="Text Box 29"/>
          <p:cNvSpPr txBox="1">
            <a:spLocks noChangeArrowheads="1"/>
          </p:cNvSpPr>
          <p:nvPr/>
        </p:nvSpPr>
        <p:spPr bwMode="auto">
          <a:xfrm>
            <a:off x="609600" y="4495800"/>
            <a:ext cx="3276600" cy="1433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 eaLnBrk="0" hangingPunct="0"/>
            <a:r>
              <a:rPr lang="en-US" sz="2800">
                <a:latin typeface="Comic Sans MS" pitchFamily="66" charset="0"/>
              </a:rPr>
              <a:t>depth –</a:t>
            </a:r>
          </a:p>
          <a:p>
            <a:pPr algn="l" rtl="0" eaLnBrk="0" hangingPunct="0"/>
            <a:r>
              <a:rPr lang="en-US" sz="2000">
                <a:latin typeface="Comic Sans MS" pitchFamily="66" charset="0"/>
              </a:rPr>
              <a:t>the length  of the path from the root of the tree to the node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355725" y="3697288"/>
            <a:ext cx="2759075" cy="457200"/>
            <a:chOff x="854" y="2329"/>
            <a:chExt cx="1738" cy="288"/>
          </a:xfrm>
        </p:grpSpPr>
        <p:sp>
          <p:nvSpPr>
            <p:cNvPr id="25633" name="Line 31"/>
            <p:cNvSpPr>
              <a:spLocks noChangeShapeType="1"/>
            </p:cNvSpPr>
            <p:nvPr/>
          </p:nvSpPr>
          <p:spPr bwMode="auto">
            <a:xfrm>
              <a:off x="1200" y="2496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34" name="Text Box 32"/>
            <p:cNvSpPr txBox="1">
              <a:spLocks noChangeArrowheads="1"/>
            </p:cNvSpPr>
            <p:nvPr/>
          </p:nvSpPr>
          <p:spPr bwMode="auto">
            <a:xfrm>
              <a:off x="854" y="2329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/>
                <a:t>2</a:t>
              </a:r>
            </a:p>
          </p:txBody>
        </p:sp>
      </p:grpSp>
      <p:sp>
        <p:nvSpPr>
          <p:cNvPr id="394273" name="Line 33"/>
          <p:cNvSpPr>
            <a:spLocks noChangeShapeType="1"/>
          </p:cNvSpPr>
          <p:nvPr/>
        </p:nvSpPr>
        <p:spPr bwMode="auto">
          <a:xfrm flipH="1">
            <a:off x="4343400" y="2286000"/>
            <a:ext cx="838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4274" name="Line 34"/>
          <p:cNvSpPr>
            <a:spLocks noChangeShapeType="1"/>
          </p:cNvSpPr>
          <p:nvPr/>
        </p:nvSpPr>
        <p:spPr bwMode="auto">
          <a:xfrm>
            <a:off x="4267200" y="3200400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94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9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73" grpId="0" animBg="1"/>
      <p:bldP spid="39427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Notation</a:t>
            </a:r>
          </a:p>
        </p:txBody>
      </p:sp>
      <p:sp>
        <p:nvSpPr>
          <p:cNvPr id="26627" name="Oval 3"/>
          <p:cNvSpPr>
            <a:spLocks noChangeArrowheads="1"/>
          </p:cNvSpPr>
          <p:nvPr/>
        </p:nvSpPr>
        <p:spPr bwMode="auto">
          <a:xfrm>
            <a:off x="5105400" y="1828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6628" name="Oval 4"/>
          <p:cNvSpPr>
            <a:spLocks noChangeArrowheads="1"/>
          </p:cNvSpPr>
          <p:nvPr/>
        </p:nvSpPr>
        <p:spPr bwMode="auto">
          <a:xfrm>
            <a:off x="57912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6629" name="Oval 5"/>
          <p:cNvSpPr>
            <a:spLocks noChangeArrowheads="1"/>
          </p:cNvSpPr>
          <p:nvPr/>
        </p:nvSpPr>
        <p:spPr bwMode="auto">
          <a:xfrm>
            <a:off x="65532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6630" name="Oval 6"/>
          <p:cNvSpPr>
            <a:spLocks noChangeArrowheads="1"/>
          </p:cNvSpPr>
          <p:nvPr/>
        </p:nvSpPr>
        <p:spPr bwMode="auto">
          <a:xfrm>
            <a:off x="5105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6631" name="Oval 7"/>
          <p:cNvSpPr>
            <a:spLocks noChangeArrowheads="1"/>
          </p:cNvSpPr>
          <p:nvPr/>
        </p:nvSpPr>
        <p:spPr bwMode="auto">
          <a:xfrm>
            <a:off x="7848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6632" name="Oval 8"/>
          <p:cNvSpPr>
            <a:spLocks noChangeArrowheads="1"/>
          </p:cNvSpPr>
          <p:nvPr/>
        </p:nvSpPr>
        <p:spPr bwMode="auto">
          <a:xfrm>
            <a:off x="6629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6633" name="Oval 9"/>
          <p:cNvSpPr>
            <a:spLocks noChangeArrowheads="1"/>
          </p:cNvSpPr>
          <p:nvPr/>
        </p:nvSpPr>
        <p:spPr bwMode="auto">
          <a:xfrm>
            <a:off x="38100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6634" name="Oval 10"/>
          <p:cNvSpPr>
            <a:spLocks noChangeArrowheads="1"/>
          </p:cNvSpPr>
          <p:nvPr/>
        </p:nvSpPr>
        <p:spPr bwMode="auto">
          <a:xfrm>
            <a:off x="44958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6635" name="Oval 11"/>
          <p:cNvSpPr>
            <a:spLocks noChangeArrowheads="1"/>
          </p:cNvSpPr>
          <p:nvPr/>
        </p:nvSpPr>
        <p:spPr bwMode="auto">
          <a:xfrm>
            <a:off x="72390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 flipH="1">
            <a:off x="4343400" y="22860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>
            <a:off x="5715000" y="22860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>
            <a:off x="42672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9" name="Line 15"/>
          <p:cNvSpPr>
            <a:spLocks noChangeShapeType="1"/>
          </p:cNvSpPr>
          <p:nvPr/>
        </p:nvSpPr>
        <p:spPr bwMode="auto">
          <a:xfrm flipH="1">
            <a:off x="62484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>
            <a:off x="7086600" y="3200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1" name="Line 17"/>
          <p:cNvSpPr>
            <a:spLocks noChangeShapeType="1"/>
          </p:cNvSpPr>
          <p:nvPr/>
        </p:nvSpPr>
        <p:spPr bwMode="auto">
          <a:xfrm flipH="1">
            <a:off x="5562600" y="41910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 flipH="1">
            <a:off x="7086600" y="40386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3" name="Line 19"/>
          <p:cNvSpPr>
            <a:spLocks noChangeShapeType="1"/>
          </p:cNvSpPr>
          <p:nvPr/>
        </p:nvSpPr>
        <p:spPr bwMode="auto">
          <a:xfrm>
            <a:off x="7696200" y="40386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4" name="Text Box 20"/>
          <p:cNvSpPr txBox="1">
            <a:spLocks noChangeArrowheads="1"/>
          </p:cNvSpPr>
          <p:nvPr/>
        </p:nvSpPr>
        <p:spPr bwMode="auto">
          <a:xfrm>
            <a:off x="5181600" y="19050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26645" name="Text Box 21"/>
          <p:cNvSpPr txBox="1">
            <a:spLocks noChangeArrowheads="1"/>
          </p:cNvSpPr>
          <p:nvPr/>
        </p:nvSpPr>
        <p:spPr bwMode="auto">
          <a:xfrm>
            <a:off x="38862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26646" name="Text Box 22"/>
          <p:cNvSpPr txBox="1">
            <a:spLocks noChangeArrowheads="1"/>
          </p:cNvSpPr>
          <p:nvPr/>
        </p:nvSpPr>
        <p:spPr bwMode="auto">
          <a:xfrm>
            <a:off x="66294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26647" name="Text Box 23"/>
          <p:cNvSpPr txBox="1">
            <a:spLocks noChangeArrowheads="1"/>
          </p:cNvSpPr>
          <p:nvPr/>
        </p:nvSpPr>
        <p:spPr bwMode="auto">
          <a:xfrm>
            <a:off x="4572000" y="36576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D</a:t>
            </a:r>
          </a:p>
        </p:txBody>
      </p:sp>
      <p:sp>
        <p:nvSpPr>
          <p:cNvPr id="26648" name="Text Box 24"/>
          <p:cNvSpPr txBox="1">
            <a:spLocks noChangeArrowheads="1"/>
          </p:cNvSpPr>
          <p:nvPr/>
        </p:nvSpPr>
        <p:spPr bwMode="auto">
          <a:xfrm>
            <a:off x="5867400" y="3657600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E</a:t>
            </a:r>
          </a:p>
        </p:txBody>
      </p:sp>
      <p:sp>
        <p:nvSpPr>
          <p:cNvPr id="26649" name="Text Box 25"/>
          <p:cNvSpPr txBox="1">
            <a:spLocks noChangeArrowheads="1"/>
          </p:cNvSpPr>
          <p:nvPr/>
        </p:nvSpPr>
        <p:spPr bwMode="auto">
          <a:xfrm>
            <a:off x="7391400" y="35814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F</a:t>
            </a:r>
          </a:p>
        </p:txBody>
      </p:sp>
      <p:sp>
        <p:nvSpPr>
          <p:cNvPr id="26650" name="Text Box 26"/>
          <p:cNvSpPr txBox="1">
            <a:spLocks noChangeArrowheads="1"/>
          </p:cNvSpPr>
          <p:nvPr/>
        </p:nvSpPr>
        <p:spPr bwMode="auto">
          <a:xfrm>
            <a:off x="52578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G</a:t>
            </a:r>
          </a:p>
        </p:txBody>
      </p:sp>
      <p:sp>
        <p:nvSpPr>
          <p:cNvPr id="26651" name="Text Box 27"/>
          <p:cNvSpPr txBox="1">
            <a:spLocks noChangeArrowheads="1"/>
          </p:cNvSpPr>
          <p:nvPr/>
        </p:nvSpPr>
        <p:spPr bwMode="auto">
          <a:xfrm>
            <a:off x="67056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H</a:t>
            </a:r>
          </a:p>
        </p:txBody>
      </p:sp>
      <p:sp>
        <p:nvSpPr>
          <p:cNvPr id="26652" name="Text Box 28"/>
          <p:cNvSpPr txBox="1">
            <a:spLocks noChangeArrowheads="1"/>
          </p:cNvSpPr>
          <p:nvPr/>
        </p:nvSpPr>
        <p:spPr bwMode="auto">
          <a:xfrm>
            <a:off x="8001000" y="4724400"/>
            <a:ext cx="285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I</a:t>
            </a:r>
          </a:p>
        </p:txBody>
      </p:sp>
      <p:sp>
        <p:nvSpPr>
          <p:cNvPr id="26653" name="Text Box 29"/>
          <p:cNvSpPr txBox="1">
            <a:spLocks noChangeArrowheads="1"/>
          </p:cNvSpPr>
          <p:nvPr/>
        </p:nvSpPr>
        <p:spPr bwMode="auto">
          <a:xfrm>
            <a:off x="609600" y="5105400"/>
            <a:ext cx="3276600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 eaLnBrk="0" hangingPunct="0"/>
            <a:r>
              <a:rPr lang="en-US" sz="2800">
                <a:latin typeface="Comic Sans MS" pitchFamily="66" charset="0"/>
              </a:rPr>
              <a:t>level –</a:t>
            </a:r>
          </a:p>
          <a:p>
            <a:pPr algn="l" rtl="0" eaLnBrk="0" hangingPunct="0"/>
            <a:r>
              <a:rPr lang="en-US" sz="2000">
                <a:latin typeface="Comic Sans MS" pitchFamily="66" charset="0"/>
              </a:rPr>
              <a:t>all nodes of depth d are at level d in the tree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2239963" y="1817688"/>
            <a:ext cx="6599237" cy="3359150"/>
            <a:chOff x="1411" y="1145"/>
            <a:chExt cx="4157" cy="2116"/>
          </a:xfrm>
        </p:grpSpPr>
        <p:grpSp>
          <p:nvGrpSpPr>
            <p:cNvPr id="3" name="Group 31"/>
            <p:cNvGrpSpPr>
              <a:grpSpLocks/>
            </p:cNvGrpSpPr>
            <p:nvPr/>
          </p:nvGrpSpPr>
          <p:grpSpPr bwMode="auto">
            <a:xfrm>
              <a:off x="1872" y="1344"/>
              <a:ext cx="3696" cy="1776"/>
              <a:chOff x="1872" y="1344"/>
              <a:chExt cx="3696" cy="1776"/>
            </a:xfrm>
          </p:grpSpPr>
          <p:sp>
            <p:nvSpPr>
              <p:cNvPr id="26660" name="Line 32"/>
              <p:cNvSpPr>
                <a:spLocks noChangeShapeType="1"/>
              </p:cNvSpPr>
              <p:nvPr/>
            </p:nvSpPr>
            <p:spPr bwMode="auto">
              <a:xfrm>
                <a:off x="1872" y="1344"/>
                <a:ext cx="369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61" name="Line 33"/>
              <p:cNvSpPr>
                <a:spLocks noChangeShapeType="1"/>
              </p:cNvSpPr>
              <p:nvPr/>
            </p:nvSpPr>
            <p:spPr bwMode="auto">
              <a:xfrm>
                <a:off x="1872" y="1872"/>
                <a:ext cx="369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62" name="Line 34"/>
              <p:cNvSpPr>
                <a:spLocks noChangeShapeType="1"/>
              </p:cNvSpPr>
              <p:nvPr/>
            </p:nvSpPr>
            <p:spPr bwMode="auto">
              <a:xfrm>
                <a:off x="1872" y="2448"/>
                <a:ext cx="369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63" name="Line 35"/>
              <p:cNvSpPr>
                <a:spLocks noChangeShapeType="1"/>
              </p:cNvSpPr>
              <p:nvPr/>
            </p:nvSpPr>
            <p:spPr bwMode="auto">
              <a:xfrm>
                <a:off x="1872" y="3120"/>
                <a:ext cx="369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656" name="Text Box 36"/>
            <p:cNvSpPr txBox="1">
              <a:spLocks noChangeArrowheads="1"/>
            </p:cNvSpPr>
            <p:nvPr/>
          </p:nvSpPr>
          <p:spPr bwMode="auto">
            <a:xfrm>
              <a:off x="1411" y="1145"/>
              <a:ext cx="247" cy="33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800"/>
                <a:t>0</a:t>
              </a:r>
            </a:p>
          </p:txBody>
        </p:sp>
        <p:sp>
          <p:nvSpPr>
            <p:cNvPr id="26657" name="Text Box 37"/>
            <p:cNvSpPr txBox="1">
              <a:spLocks noChangeArrowheads="1"/>
            </p:cNvSpPr>
            <p:nvPr/>
          </p:nvSpPr>
          <p:spPr bwMode="auto">
            <a:xfrm>
              <a:off x="1411" y="1632"/>
              <a:ext cx="247" cy="33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800"/>
                <a:t>1</a:t>
              </a:r>
            </a:p>
          </p:txBody>
        </p:sp>
        <p:sp>
          <p:nvSpPr>
            <p:cNvPr id="26658" name="Text Box 38"/>
            <p:cNvSpPr txBox="1">
              <a:spLocks noChangeArrowheads="1"/>
            </p:cNvSpPr>
            <p:nvPr/>
          </p:nvSpPr>
          <p:spPr bwMode="auto">
            <a:xfrm>
              <a:off x="1411" y="2256"/>
              <a:ext cx="247" cy="33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800"/>
                <a:t>2</a:t>
              </a:r>
            </a:p>
          </p:txBody>
        </p:sp>
        <p:sp>
          <p:nvSpPr>
            <p:cNvPr id="26659" name="Text Box 39"/>
            <p:cNvSpPr txBox="1">
              <a:spLocks noChangeArrowheads="1"/>
            </p:cNvSpPr>
            <p:nvPr/>
          </p:nvSpPr>
          <p:spPr bwMode="auto">
            <a:xfrm>
              <a:off x="1411" y="2928"/>
              <a:ext cx="247" cy="33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800"/>
                <a:t>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419600" y="3352800"/>
            <a:ext cx="4211638" cy="2057400"/>
            <a:chOff x="2784" y="2112"/>
            <a:chExt cx="2653" cy="1296"/>
          </a:xfrm>
        </p:grpSpPr>
        <p:pic>
          <p:nvPicPr>
            <p:cNvPr id="27683" name="Picture 3" descr="j02340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68" y="2784"/>
              <a:ext cx="541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84" name="Picture 4" descr="j02340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128" y="2784"/>
              <a:ext cx="541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85" name="Picture 5" descr="j02340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896" y="2784"/>
              <a:ext cx="541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86" name="Picture 6" descr="j02340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784" y="2112"/>
              <a:ext cx="541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765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Notation</a:t>
            </a:r>
          </a:p>
        </p:txBody>
      </p:sp>
      <p:sp>
        <p:nvSpPr>
          <p:cNvPr id="27652" name="Oval 8"/>
          <p:cNvSpPr>
            <a:spLocks noChangeArrowheads="1"/>
          </p:cNvSpPr>
          <p:nvPr/>
        </p:nvSpPr>
        <p:spPr bwMode="auto">
          <a:xfrm>
            <a:off x="5105400" y="1828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7653" name="Oval 9"/>
          <p:cNvSpPr>
            <a:spLocks noChangeArrowheads="1"/>
          </p:cNvSpPr>
          <p:nvPr/>
        </p:nvSpPr>
        <p:spPr bwMode="auto">
          <a:xfrm>
            <a:off x="57912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7654" name="Oval 10"/>
          <p:cNvSpPr>
            <a:spLocks noChangeArrowheads="1"/>
          </p:cNvSpPr>
          <p:nvPr/>
        </p:nvSpPr>
        <p:spPr bwMode="auto">
          <a:xfrm>
            <a:off x="65532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7655" name="Oval 11"/>
          <p:cNvSpPr>
            <a:spLocks noChangeArrowheads="1"/>
          </p:cNvSpPr>
          <p:nvPr/>
        </p:nvSpPr>
        <p:spPr bwMode="auto">
          <a:xfrm>
            <a:off x="5105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7656" name="Oval 12"/>
          <p:cNvSpPr>
            <a:spLocks noChangeArrowheads="1"/>
          </p:cNvSpPr>
          <p:nvPr/>
        </p:nvSpPr>
        <p:spPr bwMode="auto">
          <a:xfrm>
            <a:off x="7848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7657" name="Oval 13"/>
          <p:cNvSpPr>
            <a:spLocks noChangeArrowheads="1"/>
          </p:cNvSpPr>
          <p:nvPr/>
        </p:nvSpPr>
        <p:spPr bwMode="auto">
          <a:xfrm>
            <a:off x="6629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7658" name="Oval 14"/>
          <p:cNvSpPr>
            <a:spLocks noChangeArrowheads="1"/>
          </p:cNvSpPr>
          <p:nvPr/>
        </p:nvSpPr>
        <p:spPr bwMode="auto">
          <a:xfrm>
            <a:off x="38100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7659" name="Oval 15"/>
          <p:cNvSpPr>
            <a:spLocks noChangeArrowheads="1"/>
          </p:cNvSpPr>
          <p:nvPr/>
        </p:nvSpPr>
        <p:spPr bwMode="auto">
          <a:xfrm>
            <a:off x="44958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7660" name="Oval 16"/>
          <p:cNvSpPr>
            <a:spLocks noChangeArrowheads="1"/>
          </p:cNvSpPr>
          <p:nvPr/>
        </p:nvSpPr>
        <p:spPr bwMode="auto">
          <a:xfrm>
            <a:off x="72390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7661" name="Line 17"/>
          <p:cNvSpPr>
            <a:spLocks noChangeShapeType="1"/>
          </p:cNvSpPr>
          <p:nvPr/>
        </p:nvSpPr>
        <p:spPr bwMode="auto">
          <a:xfrm flipH="1">
            <a:off x="4343400" y="22860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Line 18"/>
          <p:cNvSpPr>
            <a:spLocks noChangeShapeType="1"/>
          </p:cNvSpPr>
          <p:nvPr/>
        </p:nvSpPr>
        <p:spPr bwMode="auto">
          <a:xfrm>
            <a:off x="5715000" y="22860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3" name="Line 19"/>
          <p:cNvSpPr>
            <a:spLocks noChangeShapeType="1"/>
          </p:cNvSpPr>
          <p:nvPr/>
        </p:nvSpPr>
        <p:spPr bwMode="auto">
          <a:xfrm>
            <a:off x="42672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4" name="Line 20"/>
          <p:cNvSpPr>
            <a:spLocks noChangeShapeType="1"/>
          </p:cNvSpPr>
          <p:nvPr/>
        </p:nvSpPr>
        <p:spPr bwMode="auto">
          <a:xfrm flipH="1">
            <a:off x="62484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5" name="Line 21"/>
          <p:cNvSpPr>
            <a:spLocks noChangeShapeType="1"/>
          </p:cNvSpPr>
          <p:nvPr/>
        </p:nvSpPr>
        <p:spPr bwMode="auto">
          <a:xfrm>
            <a:off x="7086600" y="3200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6" name="Line 22"/>
          <p:cNvSpPr>
            <a:spLocks noChangeShapeType="1"/>
          </p:cNvSpPr>
          <p:nvPr/>
        </p:nvSpPr>
        <p:spPr bwMode="auto">
          <a:xfrm flipH="1">
            <a:off x="5562600" y="41910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7" name="Line 23"/>
          <p:cNvSpPr>
            <a:spLocks noChangeShapeType="1"/>
          </p:cNvSpPr>
          <p:nvPr/>
        </p:nvSpPr>
        <p:spPr bwMode="auto">
          <a:xfrm flipH="1">
            <a:off x="7086600" y="40386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8" name="Line 24"/>
          <p:cNvSpPr>
            <a:spLocks noChangeShapeType="1"/>
          </p:cNvSpPr>
          <p:nvPr/>
        </p:nvSpPr>
        <p:spPr bwMode="auto">
          <a:xfrm>
            <a:off x="7696200" y="40386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9" name="Text Box 25"/>
          <p:cNvSpPr txBox="1">
            <a:spLocks noChangeArrowheads="1"/>
          </p:cNvSpPr>
          <p:nvPr/>
        </p:nvSpPr>
        <p:spPr bwMode="auto">
          <a:xfrm>
            <a:off x="5181600" y="19050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27670" name="Text Box 26"/>
          <p:cNvSpPr txBox="1">
            <a:spLocks noChangeArrowheads="1"/>
          </p:cNvSpPr>
          <p:nvPr/>
        </p:nvSpPr>
        <p:spPr bwMode="auto">
          <a:xfrm>
            <a:off x="38862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27671" name="Text Box 27"/>
          <p:cNvSpPr txBox="1">
            <a:spLocks noChangeArrowheads="1"/>
          </p:cNvSpPr>
          <p:nvPr/>
        </p:nvSpPr>
        <p:spPr bwMode="auto">
          <a:xfrm>
            <a:off x="66294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27672" name="Text Box 28"/>
          <p:cNvSpPr txBox="1">
            <a:spLocks noChangeArrowheads="1"/>
          </p:cNvSpPr>
          <p:nvPr/>
        </p:nvSpPr>
        <p:spPr bwMode="auto">
          <a:xfrm>
            <a:off x="4572000" y="36576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D</a:t>
            </a:r>
          </a:p>
        </p:txBody>
      </p:sp>
      <p:sp>
        <p:nvSpPr>
          <p:cNvPr id="27673" name="Text Box 29"/>
          <p:cNvSpPr txBox="1">
            <a:spLocks noChangeArrowheads="1"/>
          </p:cNvSpPr>
          <p:nvPr/>
        </p:nvSpPr>
        <p:spPr bwMode="auto">
          <a:xfrm>
            <a:off x="5867400" y="3657600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E</a:t>
            </a:r>
          </a:p>
        </p:txBody>
      </p:sp>
      <p:sp>
        <p:nvSpPr>
          <p:cNvPr id="27674" name="Text Box 30"/>
          <p:cNvSpPr txBox="1">
            <a:spLocks noChangeArrowheads="1"/>
          </p:cNvSpPr>
          <p:nvPr/>
        </p:nvSpPr>
        <p:spPr bwMode="auto">
          <a:xfrm>
            <a:off x="7391400" y="35814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F</a:t>
            </a:r>
          </a:p>
        </p:txBody>
      </p:sp>
      <p:sp>
        <p:nvSpPr>
          <p:cNvPr id="27675" name="Text Box 31"/>
          <p:cNvSpPr txBox="1">
            <a:spLocks noChangeArrowheads="1"/>
          </p:cNvSpPr>
          <p:nvPr/>
        </p:nvSpPr>
        <p:spPr bwMode="auto">
          <a:xfrm>
            <a:off x="52578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G</a:t>
            </a:r>
          </a:p>
        </p:txBody>
      </p:sp>
      <p:sp>
        <p:nvSpPr>
          <p:cNvPr id="27676" name="Text Box 32"/>
          <p:cNvSpPr txBox="1">
            <a:spLocks noChangeArrowheads="1"/>
          </p:cNvSpPr>
          <p:nvPr/>
        </p:nvSpPr>
        <p:spPr bwMode="auto">
          <a:xfrm>
            <a:off x="67056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H</a:t>
            </a:r>
          </a:p>
        </p:txBody>
      </p:sp>
      <p:sp>
        <p:nvSpPr>
          <p:cNvPr id="27677" name="Text Box 33"/>
          <p:cNvSpPr txBox="1">
            <a:spLocks noChangeArrowheads="1"/>
          </p:cNvSpPr>
          <p:nvPr/>
        </p:nvSpPr>
        <p:spPr bwMode="auto">
          <a:xfrm>
            <a:off x="8001000" y="4724400"/>
            <a:ext cx="285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I</a:t>
            </a:r>
          </a:p>
        </p:txBody>
      </p:sp>
      <p:sp>
        <p:nvSpPr>
          <p:cNvPr id="27678" name="Text Box 34"/>
          <p:cNvSpPr txBox="1">
            <a:spLocks noChangeArrowheads="1"/>
          </p:cNvSpPr>
          <p:nvPr/>
        </p:nvSpPr>
        <p:spPr bwMode="auto">
          <a:xfrm>
            <a:off x="762000" y="4495800"/>
            <a:ext cx="2779713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rtl="0" eaLnBrk="0" hangingPunct="0"/>
            <a:r>
              <a:rPr lang="en-US" sz="2800">
                <a:latin typeface="Comic Sans MS" pitchFamily="66" charset="0"/>
              </a:rPr>
              <a:t>leaf node –</a:t>
            </a:r>
          </a:p>
          <a:p>
            <a:pPr algn="l" rtl="0" eaLnBrk="0" hangingPunct="0"/>
            <a:r>
              <a:rPr lang="en-US" sz="2000">
                <a:latin typeface="Comic Sans MS" pitchFamily="66" charset="0"/>
              </a:rPr>
              <a:t>any node that has two</a:t>
            </a:r>
          </a:p>
          <a:p>
            <a:pPr algn="l" rtl="0" eaLnBrk="0" hangingPunct="0"/>
            <a:r>
              <a:rPr lang="en-US" sz="2000">
                <a:latin typeface="Comic Sans MS" pitchFamily="66" charset="0"/>
              </a:rPr>
              <a:t>empty children</a:t>
            </a:r>
          </a:p>
        </p:txBody>
      </p:sp>
      <p:sp>
        <p:nvSpPr>
          <p:cNvPr id="397347" name="AutoShape 35"/>
          <p:cNvSpPr>
            <a:spLocks noChangeArrowheads="1"/>
          </p:cNvSpPr>
          <p:nvPr/>
        </p:nvSpPr>
        <p:spPr bwMode="auto">
          <a:xfrm rot="16200000" flipV="1">
            <a:off x="4572000" y="4191000"/>
            <a:ext cx="228600" cy="533400"/>
          </a:xfrm>
          <a:prstGeom prst="moo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7348" name="AutoShape 36"/>
          <p:cNvSpPr>
            <a:spLocks noChangeArrowheads="1"/>
          </p:cNvSpPr>
          <p:nvPr/>
        </p:nvSpPr>
        <p:spPr bwMode="auto">
          <a:xfrm rot="16200000" flipV="1">
            <a:off x="5334000" y="5257800"/>
            <a:ext cx="228600" cy="533400"/>
          </a:xfrm>
          <a:prstGeom prst="moo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7349" name="AutoShape 37"/>
          <p:cNvSpPr>
            <a:spLocks noChangeArrowheads="1"/>
          </p:cNvSpPr>
          <p:nvPr/>
        </p:nvSpPr>
        <p:spPr bwMode="auto">
          <a:xfrm rot="16200000" flipV="1">
            <a:off x="6781800" y="5257800"/>
            <a:ext cx="228600" cy="533400"/>
          </a:xfrm>
          <a:prstGeom prst="moo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7350" name="AutoShape 38"/>
          <p:cNvSpPr>
            <a:spLocks noChangeArrowheads="1"/>
          </p:cNvSpPr>
          <p:nvPr/>
        </p:nvSpPr>
        <p:spPr bwMode="auto">
          <a:xfrm rot="16200000" flipV="1">
            <a:off x="8077200" y="5257800"/>
            <a:ext cx="228600" cy="533400"/>
          </a:xfrm>
          <a:prstGeom prst="moo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9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9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9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47" grpId="0" animBg="1"/>
      <p:bldP spid="397348" grpId="0" animBg="1"/>
      <p:bldP spid="397349" grpId="0" animBg="1"/>
      <p:bldP spid="39735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Notation</a:t>
            </a:r>
          </a:p>
        </p:txBody>
      </p:sp>
      <p:sp>
        <p:nvSpPr>
          <p:cNvPr id="28675" name="Oval 3"/>
          <p:cNvSpPr>
            <a:spLocks noChangeArrowheads="1"/>
          </p:cNvSpPr>
          <p:nvPr/>
        </p:nvSpPr>
        <p:spPr bwMode="auto">
          <a:xfrm>
            <a:off x="5105400" y="1828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57912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65532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8678" name="Oval 6"/>
          <p:cNvSpPr>
            <a:spLocks noChangeArrowheads="1"/>
          </p:cNvSpPr>
          <p:nvPr/>
        </p:nvSpPr>
        <p:spPr bwMode="auto">
          <a:xfrm>
            <a:off x="5105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8679" name="Oval 7"/>
          <p:cNvSpPr>
            <a:spLocks noChangeArrowheads="1"/>
          </p:cNvSpPr>
          <p:nvPr/>
        </p:nvSpPr>
        <p:spPr bwMode="auto">
          <a:xfrm>
            <a:off x="7848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8680" name="Oval 8"/>
          <p:cNvSpPr>
            <a:spLocks noChangeArrowheads="1"/>
          </p:cNvSpPr>
          <p:nvPr/>
        </p:nvSpPr>
        <p:spPr bwMode="auto">
          <a:xfrm>
            <a:off x="66294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8681" name="Oval 9"/>
          <p:cNvSpPr>
            <a:spLocks noChangeArrowheads="1"/>
          </p:cNvSpPr>
          <p:nvPr/>
        </p:nvSpPr>
        <p:spPr bwMode="auto">
          <a:xfrm>
            <a:off x="38100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8682" name="Oval 10"/>
          <p:cNvSpPr>
            <a:spLocks noChangeArrowheads="1"/>
          </p:cNvSpPr>
          <p:nvPr/>
        </p:nvSpPr>
        <p:spPr bwMode="auto">
          <a:xfrm>
            <a:off x="4495800" y="3581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28683" name="Oval 11"/>
          <p:cNvSpPr>
            <a:spLocks noChangeArrowheads="1"/>
          </p:cNvSpPr>
          <p:nvPr/>
        </p:nvSpPr>
        <p:spPr bwMode="auto">
          <a:xfrm>
            <a:off x="72390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ar-SA" sz="2400">
              <a:latin typeface="Times New Roman" pitchFamily="18" charset="0"/>
            </a:endParaRPr>
          </a:p>
        </p:txBody>
      </p:sp>
      <p:sp>
        <p:nvSpPr>
          <p:cNvPr id="398348" name="Line 12"/>
          <p:cNvSpPr>
            <a:spLocks noChangeShapeType="1"/>
          </p:cNvSpPr>
          <p:nvPr/>
        </p:nvSpPr>
        <p:spPr bwMode="auto">
          <a:xfrm flipH="1">
            <a:off x="4343400" y="22860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8349" name="Line 13"/>
          <p:cNvSpPr>
            <a:spLocks noChangeShapeType="1"/>
          </p:cNvSpPr>
          <p:nvPr/>
        </p:nvSpPr>
        <p:spPr bwMode="auto">
          <a:xfrm>
            <a:off x="5715000" y="22860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8350" name="Line 14"/>
          <p:cNvSpPr>
            <a:spLocks noChangeShapeType="1"/>
          </p:cNvSpPr>
          <p:nvPr/>
        </p:nvSpPr>
        <p:spPr bwMode="auto">
          <a:xfrm>
            <a:off x="42672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8351" name="Line 15"/>
          <p:cNvSpPr>
            <a:spLocks noChangeShapeType="1"/>
          </p:cNvSpPr>
          <p:nvPr/>
        </p:nvSpPr>
        <p:spPr bwMode="auto">
          <a:xfrm flipH="1">
            <a:off x="62484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8352" name="Line 16"/>
          <p:cNvSpPr>
            <a:spLocks noChangeShapeType="1"/>
          </p:cNvSpPr>
          <p:nvPr/>
        </p:nvSpPr>
        <p:spPr bwMode="auto">
          <a:xfrm>
            <a:off x="7086600" y="3200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8353" name="Line 17"/>
          <p:cNvSpPr>
            <a:spLocks noChangeShapeType="1"/>
          </p:cNvSpPr>
          <p:nvPr/>
        </p:nvSpPr>
        <p:spPr bwMode="auto">
          <a:xfrm flipH="1">
            <a:off x="5562600" y="41910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8354" name="Line 18"/>
          <p:cNvSpPr>
            <a:spLocks noChangeShapeType="1"/>
          </p:cNvSpPr>
          <p:nvPr/>
        </p:nvSpPr>
        <p:spPr bwMode="auto">
          <a:xfrm flipH="1">
            <a:off x="7086600" y="40386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8355" name="Line 19"/>
          <p:cNvSpPr>
            <a:spLocks noChangeShapeType="1"/>
          </p:cNvSpPr>
          <p:nvPr/>
        </p:nvSpPr>
        <p:spPr bwMode="auto">
          <a:xfrm>
            <a:off x="7696200" y="40386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2" name="Text Box 20"/>
          <p:cNvSpPr txBox="1">
            <a:spLocks noChangeArrowheads="1"/>
          </p:cNvSpPr>
          <p:nvPr/>
        </p:nvSpPr>
        <p:spPr bwMode="auto">
          <a:xfrm>
            <a:off x="5181600" y="19050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28693" name="Text Box 21"/>
          <p:cNvSpPr txBox="1">
            <a:spLocks noChangeArrowheads="1"/>
          </p:cNvSpPr>
          <p:nvPr/>
        </p:nvSpPr>
        <p:spPr bwMode="auto">
          <a:xfrm>
            <a:off x="38862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28694" name="Text Box 22"/>
          <p:cNvSpPr txBox="1">
            <a:spLocks noChangeArrowheads="1"/>
          </p:cNvSpPr>
          <p:nvPr/>
        </p:nvSpPr>
        <p:spPr bwMode="auto">
          <a:xfrm>
            <a:off x="6629400" y="2743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28695" name="Text Box 23"/>
          <p:cNvSpPr txBox="1">
            <a:spLocks noChangeArrowheads="1"/>
          </p:cNvSpPr>
          <p:nvPr/>
        </p:nvSpPr>
        <p:spPr bwMode="auto">
          <a:xfrm>
            <a:off x="4572000" y="36576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D</a:t>
            </a:r>
          </a:p>
        </p:txBody>
      </p:sp>
      <p:sp>
        <p:nvSpPr>
          <p:cNvPr id="28696" name="Text Box 24"/>
          <p:cNvSpPr txBox="1">
            <a:spLocks noChangeArrowheads="1"/>
          </p:cNvSpPr>
          <p:nvPr/>
        </p:nvSpPr>
        <p:spPr bwMode="auto">
          <a:xfrm>
            <a:off x="5867400" y="3657600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E</a:t>
            </a:r>
          </a:p>
        </p:txBody>
      </p:sp>
      <p:sp>
        <p:nvSpPr>
          <p:cNvPr id="28697" name="Text Box 25"/>
          <p:cNvSpPr txBox="1">
            <a:spLocks noChangeArrowheads="1"/>
          </p:cNvSpPr>
          <p:nvPr/>
        </p:nvSpPr>
        <p:spPr bwMode="auto">
          <a:xfrm>
            <a:off x="7391400" y="35814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F</a:t>
            </a:r>
          </a:p>
        </p:txBody>
      </p:sp>
      <p:sp>
        <p:nvSpPr>
          <p:cNvPr id="28698" name="Text Box 26"/>
          <p:cNvSpPr txBox="1">
            <a:spLocks noChangeArrowheads="1"/>
          </p:cNvSpPr>
          <p:nvPr/>
        </p:nvSpPr>
        <p:spPr bwMode="auto">
          <a:xfrm>
            <a:off x="52578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G</a:t>
            </a:r>
          </a:p>
        </p:txBody>
      </p:sp>
      <p:sp>
        <p:nvSpPr>
          <p:cNvPr id="28699" name="Text Box 27"/>
          <p:cNvSpPr txBox="1">
            <a:spLocks noChangeArrowheads="1"/>
          </p:cNvSpPr>
          <p:nvPr/>
        </p:nvSpPr>
        <p:spPr bwMode="auto">
          <a:xfrm>
            <a:off x="6705600" y="4724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H</a:t>
            </a:r>
          </a:p>
        </p:txBody>
      </p:sp>
      <p:sp>
        <p:nvSpPr>
          <p:cNvPr id="28700" name="Text Box 28"/>
          <p:cNvSpPr txBox="1">
            <a:spLocks noChangeArrowheads="1"/>
          </p:cNvSpPr>
          <p:nvPr/>
        </p:nvSpPr>
        <p:spPr bwMode="auto">
          <a:xfrm>
            <a:off x="8001000" y="4724400"/>
            <a:ext cx="285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I</a:t>
            </a:r>
          </a:p>
        </p:txBody>
      </p:sp>
      <p:sp>
        <p:nvSpPr>
          <p:cNvPr id="28701" name="Text Box 29"/>
          <p:cNvSpPr txBox="1">
            <a:spLocks noChangeArrowheads="1"/>
          </p:cNvSpPr>
          <p:nvPr/>
        </p:nvSpPr>
        <p:spPr bwMode="auto">
          <a:xfrm>
            <a:off x="304800" y="4495800"/>
            <a:ext cx="883920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 eaLnBrk="0" hangingPunct="0"/>
            <a:r>
              <a:rPr lang="en-US" sz="2800">
                <a:latin typeface="Comic Sans MS" pitchFamily="66" charset="0"/>
              </a:rPr>
              <a:t>internal node –</a:t>
            </a:r>
          </a:p>
          <a:p>
            <a:pPr algn="l" rtl="0" eaLnBrk="0" hangingPunct="0"/>
            <a:r>
              <a:rPr lang="en-US" sz="2000">
                <a:latin typeface="Comic Sans MS" pitchFamily="66" charset="0"/>
              </a:rPr>
              <a:t>any node that has at  least one </a:t>
            </a:r>
          </a:p>
          <a:p>
            <a:pPr algn="l" rtl="0" eaLnBrk="0" hangingPunct="0"/>
            <a:r>
              <a:rPr lang="en-US" sz="2000">
                <a:latin typeface="Comic Sans MS" pitchFamily="66" charset="0"/>
              </a:rPr>
              <a:t>non-emptyChild</a:t>
            </a:r>
          </a:p>
          <a:p>
            <a:pPr algn="l" rtl="0" eaLnBrk="0" hangingPunct="0"/>
            <a:r>
              <a:rPr lang="en-US" sz="2000">
                <a:latin typeface="Comic Sans MS" pitchFamily="66" charset="0"/>
              </a:rPr>
              <a:t>          Or</a:t>
            </a:r>
          </a:p>
          <a:p>
            <a:pPr algn="l" rtl="0" eaLnBrk="0" hangingPunct="0"/>
            <a:r>
              <a:rPr lang="en-US" sz="2000">
                <a:latin typeface="Comic Sans MS" pitchFamily="66" charset="0"/>
              </a:rPr>
              <a:t>An </a:t>
            </a:r>
            <a:r>
              <a:rPr lang="en-US" sz="2000" i="1">
                <a:latin typeface="Comic Sans MS" pitchFamily="66" charset="0"/>
              </a:rPr>
              <a:t>internal node</a:t>
            </a:r>
            <a:r>
              <a:rPr lang="en-US" sz="2000">
                <a:latin typeface="Comic Sans MS" pitchFamily="66" charset="0"/>
              </a:rPr>
              <a:t> of a </a:t>
            </a:r>
            <a:r>
              <a:rPr lang="en-US" sz="2000" i="1">
                <a:latin typeface="Comic Sans MS" pitchFamily="66" charset="0"/>
              </a:rPr>
              <a:t>tree</a:t>
            </a:r>
            <a:r>
              <a:rPr lang="en-US" sz="2000">
                <a:latin typeface="Comic Sans MS" pitchFamily="66" charset="0"/>
              </a:rPr>
              <a:t> is any </a:t>
            </a:r>
            <a:r>
              <a:rPr lang="en-US" sz="2000" i="1">
                <a:latin typeface="Comic Sans MS" pitchFamily="66" charset="0"/>
              </a:rPr>
              <a:t>node</a:t>
            </a:r>
            <a:r>
              <a:rPr lang="en-US" sz="2000">
                <a:latin typeface="Comic Sans MS" pitchFamily="66" charset="0"/>
              </a:rPr>
              <a:t> which has degree greater than one.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3733800" y="1600200"/>
            <a:ext cx="4287838" cy="2667000"/>
            <a:chOff x="2352" y="1008"/>
            <a:chExt cx="2701" cy="1680"/>
          </a:xfrm>
        </p:grpSpPr>
        <p:pic>
          <p:nvPicPr>
            <p:cNvPr id="28703" name="Picture 31" descr="j02340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68" y="1008"/>
              <a:ext cx="541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704" name="Picture 32" descr="j02340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52" y="1536"/>
              <a:ext cx="541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705" name="Picture 33" descr="j02340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080" y="1536"/>
              <a:ext cx="541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706" name="Picture 34" descr="j02340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600" y="2064"/>
              <a:ext cx="541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707" name="Picture 35" descr="j02340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512" y="2064"/>
              <a:ext cx="541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100" fill="hold"/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" dur="100" fill="hold"/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100" fill="hold"/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" fill="hold"/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0" fill="hold"/>
                                        <p:tgtEl>
                                          <p:spTgt spid="398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2" dur="100" fill="hold"/>
                                        <p:tgtEl>
                                          <p:spTgt spid="398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100" fill="hold"/>
                                        <p:tgtEl>
                                          <p:spTgt spid="398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0" fill="hold"/>
                                        <p:tgtEl>
                                          <p:spTgt spid="398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83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83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83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83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100" fill="hold"/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2" dur="100" fill="hold"/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3" dur="100" fill="hold"/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100" fill="hold"/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100" fill="hold"/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2" dur="100" fill="hold"/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3" dur="100" fill="hold"/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100" fill="hold"/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100" fill="hold"/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2" dur="100" fill="hold"/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3" dur="100" fill="hold"/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100" fill="hold"/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100" fill="hold"/>
                                        <p:tgtEl>
                                          <p:spTgt spid="3983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2" dur="100" fill="hold"/>
                                        <p:tgtEl>
                                          <p:spTgt spid="398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3" dur="100" fill="hold"/>
                                        <p:tgtEl>
                                          <p:spTgt spid="398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100" fill="hold"/>
                                        <p:tgtEl>
                                          <p:spTgt spid="398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6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83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83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83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83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100" fill="hold"/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2" dur="100" fill="hold"/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3" dur="100" fill="hold"/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100" fill="hold"/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100" fill="hold"/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82" dur="100" fill="hold"/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3" dur="100" fill="hold"/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100" fill="hold"/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48" grpId="0" animBg="1"/>
      <p:bldP spid="398349" grpId="0" animBg="1"/>
      <p:bldP spid="398350" grpId="0" animBg="1"/>
      <p:bldP spid="398351" grpId="0" animBg="1"/>
      <p:bldP spid="398352" grpId="0" animBg="1"/>
      <p:bldP spid="398353" grpId="0" animBg="1"/>
      <p:bldP spid="398354" grpId="0" animBg="1"/>
      <p:bldP spid="39835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Binary Trees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609600" y="1143000"/>
            <a:ext cx="2535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Some Binary Trees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85800" y="1981200"/>
            <a:ext cx="1468438" cy="1020763"/>
            <a:chOff x="563" y="1085"/>
            <a:chExt cx="925" cy="643"/>
          </a:xfrm>
        </p:grpSpPr>
        <p:sp>
          <p:nvSpPr>
            <p:cNvPr id="29743" name="Oval 5"/>
            <p:cNvSpPr>
              <a:spLocks noChangeArrowheads="1"/>
            </p:cNvSpPr>
            <p:nvPr/>
          </p:nvSpPr>
          <p:spPr bwMode="auto">
            <a:xfrm>
              <a:off x="1296" y="1488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44" name="Text Box 6"/>
            <p:cNvSpPr txBox="1">
              <a:spLocks noChangeArrowheads="1"/>
            </p:cNvSpPr>
            <p:nvPr/>
          </p:nvSpPr>
          <p:spPr bwMode="auto">
            <a:xfrm>
              <a:off x="563" y="1085"/>
              <a:ext cx="8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One node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819400" y="1981200"/>
            <a:ext cx="5597525" cy="1477963"/>
            <a:chOff x="1802" y="1133"/>
            <a:chExt cx="3526" cy="931"/>
          </a:xfrm>
        </p:grpSpPr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1802" y="1133"/>
              <a:ext cx="1270" cy="931"/>
              <a:chOff x="1802" y="1133"/>
              <a:chExt cx="1270" cy="931"/>
            </a:xfrm>
          </p:grpSpPr>
          <p:sp>
            <p:nvSpPr>
              <p:cNvPr id="29739" name="Oval 9"/>
              <p:cNvSpPr>
                <a:spLocks noChangeArrowheads="1"/>
              </p:cNvSpPr>
              <p:nvPr/>
            </p:nvSpPr>
            <p:spPr bwMode="auto">
              <a:xfrm>
                <a:off x="2880" y="1392"/>
                <a:ext cx="192" cy="24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29740" name="Oval 10"/>
              <p:cNvSpPr>
                <a:spLocks noChangeArrowheads="1"/>
              </p:cNvSpPr>
              <p:nvPr/>
            </p:nvSpPr>
            <p:spPr bwMode="auto">
              <a:xfrm>
                <a:off x="2736" y="1824"/>
                <a:ext cx="192" cy="24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29741" name="Line 11"/>
              <p:cNvSpPr>
                <a:spLocks noChangeShapeType="1"/>
              </p:cNvSpPr>
              <p:nvPr/>
            </p:nvSpPr>
            <p:spPr bwMode="auto">
              <a:xfrm flipH="1">
                <a:off x="2880" y="1632"/>
                <a:ext cx="48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42" name="Text Box 12"/>
              <p:cNvSpPr txBox="1">
                <a:spLocks noChangeArrowheads="1"/>
              </p:cNvSpPr>
              <p:nvPr/>
            </p:nvSpPr>
            <p:spPr bwMode="auto">
              <a:xfrm>
                <a:off x="1802" y="1133"/>
                <a:ext cx="96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2400">
                    <a:latin typeface="Times New Roman" pitchFamily="18" charset="0"/>
                  </a:rPr>
                  <a:t>Two nodes</a:t>
                </a:r>
              </a:p>
            </p:txBody>
          </p:sp>
        </p:grpSp>
        <p:sp>
          <p:nvSpPr>
            <p:cNvPr id="29731" name="Oval 13"/>
            <p:cNvSpPr>
              <a:spLocks noChangeArrowheads="1"/>
            </p:cNvSpPr>
            <p:nvPr/>
          </p:nvSpPr>
          <p:spPr bwMode="auto">
            <a:xfrm>
              <a:off x="3504" y="1344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32" name="Oval 14"/>
            <p:cNvSpPr>
              <a:spLocks noChangeArrowheads="1"/>
            </p:cNvSpPr>
            <p:nvPr/>
          </p:nvSpPr>
          <p:spPr bwMode="auto">
            <a:xfrm>
              <a:off x="3696" y="1728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33" name="Oval 15"/>
            <p:cNvSpPr>
              <a:spLocks noChangeArrowheads="1"/>
            </p:cNvSpPr>
            <p:nvPr/>
          </p:nvSpPr>
          <p:spPr bwMode="auto">
            <a:xfrm>
              <a:off x="4800" y="1296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34" name="Oval 16"/>
            <p:cNvSpPr>
              <a:spLocks noChangeArrowheads="1"/>
            </p:cNvSpPr>
            <p:nvPr/>
          </p:nvSpPr>
          <p:spPr bwMode="auto">
            <a:xfrm>
              <a:off x="4512" y="1776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35" name="Oval 17"/>
            <p:cNvSpPr>
              <a:spLocks noChangeArrowheads="1"/>
            </p:cNvSpPr>
            <p:nvPr/>
          </p:nvSpPr>
          <p:spPr bwMode="auto">
            <a:xfrm>
              <a:off x="5136" y="1728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36" name="Line 18"/>
            <p:cNvSpPr>
              <a:spLocks noChangeShapeType="1"/>
            </p:cNvSpPr>
            <p:nvPr/>
          </p:nvSpPr>
          <p:spPr bwMode="auto">
            <a:xfrm>
              <a:off x="3648" y="1584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7" name="Line 19"/>
            <p:cNvSpPr>
              <a:spLocks noChangeShapeType="1"/>
            </p:cNvSpPr>
            <p:nvPr/>
          </p:nvSpPr>
          <p:spPr bwMode="auto">
            <a:xfrm flipH="1">
              <a:off x="4656" y="1488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8" name="Line 20"/>
            <p:cNvSpPr>
              <a:spLocks noChangeShapeType="1"/>
            </p:cNvSpPr>
            <p:nvPr/>
          </p:nvSpPr>
          <p:spPr bwMode="auto">
            <a:xfrm>
              <a:off x="4992" y="1488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1171575" y="3703638"/>
            <a:ext cx="7210425" cy="2316162"/>
            <a:chOff x="738" y="2333"/>
            <a:chExt cx="4542" cy="1459"/>
          </a:xfrm>
        </p:grpSpPr>
        <p:sp>
          <p:nvSpPr>
            <p:cNvPr id="29703" name="Text Box 22"/>
            <p:cNvSpPr txBox="1">
              <a:spLocks noChangeArrowheads="1"/>
            </p:cNvSpPr>
            <p:nvPr/>
          </p:nvSpPr>
          <p:spPr bwMode="auto">
            <a:xfrm>
              <a:off x="738" y="2333"/>
              <a:ext cx="105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Three nodes</a:t>
              </a:r>
            </a:p>
          </p:txBody>
        </p:sp>
        <p:sp>
          <p:nvSpPr>
            <p:cNvPr id="29704" name="Oval 23"/>
            <p:cNvSpPr>
              <a:spLocks noChangeArrowheads="1"/>
            </p:cNvSpPr>
            <p:nvPr/>
          </p:nvSpPr>
          <p:spPr bwMode="auto">
            <a:xfrm>
              <a:off x="1584" y="2688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05" name="Oval 24"/>
            <p:cNvSpPr>
              <a:spLocks noChangeArrowheads="1"/>
            </p:cNvSpPr>
            <p:nvPr/>
          </p:nvSpPr>
          <p:spPr bwMode="auto">
            <a:xfrm>
              <a:off x="1440" y="3120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06" name="Line 25"/>
            <p:cNvSpPr>
              <a:spLocks noChangeShapeType="1"/>
            </p:cNvSpPr>
            <p:nvPr/>
          </p:nvSpPr>
          <p:spPr bwMode="auto">
            <a:xfrm flipH="1">
              <a:off x="1584" y="2928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7" name="Oval 26"/>
            <p:cNvSpPr>
              <a:spLocks noChangeArrowheads="1"/>
            </p:cNvSpPr>
            <p:nvPr/>
          </p:nvSpPr>
          <p:spPr bwMode="auto">
            <a:xfrm>
              <a:off x="1296" y="3552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08" name="Line 27"/>
            <p:cNvSpPr>
              <a:spLocks noChangeShapeType="1"/>
            </p:cNvSpPr>
            <p:nvPr/>
          </p:nvSpPr>
          <p:spPr bwMode="auto">
            <a:xfrm flipH="1">
              <a:off x="1440" y="3360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9" name="Oval 28"/>
            <p:cNvSpPr>
              <a:spLocks noChangeArrowheads="1"/>
            </p:cNvSpPr>
            <p:nvPr/>
          </p:nvSpPr>
          <p:spPr bwMode="auto">
            <a:xfrm>
              <a:off x="2112" y="2688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10" name="Oval 29"/>
            <p:cNvSpPr>
              <a:spLocks noChangeArrowheads="1"/>
            </p:cNvSpPr>
            <p:nvPr/>
          </p:nvSpPr>
          <p:spPr bwMode="auto">
            <a:xfrm>
              <a:off x="1968" y="3120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11" name="Line 30"/>
            <p:cNvSpPr>
              <a:spLocks noChangeShapeType="1"/>
            </p:cNvSpPr>
            <p:nvPr/>
          </p:nvSpPr>
          <p:spPr bwMode="auto">
            <a:xfrm flipH="1">
              <a:off x="2112" y="2928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2" name="Oval 31"/>
            <p:cNvSpPr>
              <a:spLocks noChangeArrowheads="1"/>
            </p:cNvSpPr>
            <p:nvPr/>
          </p:nvSpPr>
          <p:spPr bwMode="auto">
            <a:xfrm>
              <a:off x="2160" y="3552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13" name="Line 32"/>
            <p:cNvSpPr>
              <a:spLocks noChangeShapeType="1"/>
            </p:cNvSpPr>
            <p:nvPr/>
          </p:nvSpPr>
          <p:spPr bwMode="auto">
            <a:xfrm>
              <a:off x="2112" y="3360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4" name="Oval 33"/>
            <p:cNvSpPr>
              <a:spLocks noChangeArrowheads="1"/>
            </p:cNvSpPr>
            <p:nvPr/>
          </p:nvSpPr>
          <p:spPr bwMode="auto">
            <a:xfrm>
              <a:off x="2928" y="2736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15" name="Oval 34"/>
            <p:cNvSpPr>
              <a:spLocks noChangeArrowheads="1"/>
            </p:cNvSpPr>
            <p:nvPr/>
          </p:nvSpPr>
          <p:spPr bwMode="auto">
            <a:xfrm>
              <a:off x="2784" y="3168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16" name="Line 35"/>
            <p:cNvSpPr>
              <a:spLocks noChangeShapeType="1"/>
            </p:cNvSpPr>
            <p:nvPr/>
          </p:nvSpPr>
          <p:spPr bwMode="auto">
            <a:xfrm flipH="1">
              <a:off x="2928" y="297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7" name="Oval 36"/>
            <p:cNvSpPr>
              <a:spLocks noChangeArrowheads="1"/>
            </p:cNvSpPr>
            <p:nvPr/>
          </p:nvSpPr>
          <p:spPr bwMode="auto">
            <a:xfrm>
              <a:off x="3120" y="3216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18" name="Line 37"/>
            <p:cNvSpPr>
              <a:spLocks noChangeShapeType="1"/>
            </p:cNvSpPr>
            <p:nvPr/>
          </p:nvSpPr>
          <p:spPr bwMode="auto">
            <a:xfrm>
              <a:off x="3072" y="297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9" name="Oval 38"/>
            <p:cNvSpPr>
              <a:spLocks noChangeArrowheads="1"/>
            </p:cNvSpPr>
            <p:nvPr/>
          </p:nvSpPr>
          <p:spPr bwMode="auto">
            <a:xfrm>
              <a:off x="3648" y="2688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20" name="Oval 39"/>
            <p:cNvSpPr>
              <a:spLocks noChangeArrowheads="1"/>
            </p:cNvSpPr>
            <p:nvPr/>
          </p:nvSpPr>
          <p:spPr bwMode="auto">
            <a:xfrm>
              <a:off x="3840" y="3072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21" name="Line 40"/>
            <p:cNvSpPr>
              <a:spLocks noChangeShapeType="1"/>
            </p:cNvSpPr>
            <p:nvPr/>
          </p:nvSpPr>
          <p:spPr bwMode="auto">
            <a:xfrm>
              <a:off x="3792" y="2928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2" name="Oval 41"/>
            <p:cNvSpPr>
              <a:spLocks noChangeArrowheads="1"/>
            </p:cNvSpPr>
            <p:nvPr/>
          </p:nvSpPr>
          <p:spPr bwMode="auto">
            <a:xfrm>
              <a:off x="3696" y="3504"/>
              <a:ext cx="192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9723" name="Line 42"/>
            <p:cNvSpPr>
              <a:spLocks noChangeShapeType="1"/>
            </p:cNvSpPr>
            <p:nvPr/>
          </p:nvSpPr>
          <p:spPr bwMode="auto">
            <a:xfrm flipH="1">
              <a:off x="3840" y="3312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" name="Group 43"/>
            <p:cNvGrpSpPr>
              <a:grpSpLocks/>
            </p:cNvGrpSpPr>
            <p:nvPr/>
          </p:nvGrpSpPr>
          <p:grpSpPr bwMode="auto">
            <a:xfrm>
              <a:off x="4704" y="2640"/>
              <a:ext cx="576" cy="1008"/>
              <a:chOff x="4704" y="2352"/>
              <a:chExt cx="576" cy="1008"/>
            </a:xfrm>
          </p:grpSpPr>
          <p:sp>
            <p:nvSpPr>
              <p:cNvPr id="29725" name="Oval 44"/>
              <p:cNvSpPr>
                <a:spLocks noChangeArrowheads="1"/>
              </p:cNvSpPr>
              <p:nvPr/>
            </p:nvSpPr>
            <p:spPr bwMode="auto">
              <a:xfrm>
                <a:off x="4704" y="2352"/>
                <a:ext cx="192" cy="24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29726" name="Oval 45"/>
              <p:cNvSpPr>
                <a:spLocks noChangeArrowheads="1"/>
              </p:cNvSpPr>
              <p:nvPr/>
            </p:nvSpPr>
            <p:spPr bwMode="auto">
              <a:xfrm>
                <a:off x="4896" y="2736"/>
                <a:ext cx="192" cy="24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29727" name="Line 46"/>
              <p:cNvSpPr>
                <a:spLocks noChangeShapeType="1"/>
              </p:cNvSpPr>
              <p:nvPr/>
            </p:nvSpPr>
            <p:spPr bwMode="auto">
              <a:xfrm>
                <a:off x="4848" y="2592"/>
                <a:ext cx="9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8" name="Oval 47"/>
              <p:cNvSpPr>
                <a:spLocks noChangeArrowheads="1"/>
              </p:cNvSpPr>
              <p:nvPr/>
            </p:nvSpPr>
            <p:spPr bwMode="auto">
              <a:xfrm>
                <a:off x="5088" y="3120"/>
                <a:ext cx="192" cy="24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29729" name="Line 48"/>
              <p:cNvSpPr>
                <a:spLocks noChangeShapeType="1"/>
              </p:cNvSpPr>
              <p:nvPr/>
            </p:nvSpPr>
            <p:spPr bwMode="auto">
              <a:xfrm>
                <a:off x="5040" y="2976"/>
                <a:ext cx="9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Strictly Binary Tree</a:t>
            </a:r>
            <a:endParaRPr lang="ur-PK" smtClean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algn="l" rtl="0" eaLnBrk="1" hangingPunct="1"/>
            <a:r>
              <a:rPr lang="en-US" sz="2400" smtClean="0"/>
              <a:t>When every non-leaf node in binary tree is filled with left and right sub-trees, the tree is called strictly binary tree. </a:t>
            </a:r>
            <a:endParaRPr lang="ur-PK" sz="2400" smtClean="0"/>
          </a:p>
        </p:txBody>
      </p:sp>
      <p:sp>
        <p:nvSpPr>
          <p:cNvPr id="30724" name="Oval 17"/>
          <p:cNvSpPr>
            <a:spLocks noChangeArrowheads="1"/>
          </p:cNvSpPr>
          <p:nvPr/>
        </p:nvSpPr>
        <p:spPr bwMode="auto">
          <a:xfrm>
            <a:off x="3106738" y="2811463"/>
            <a:ext cx="508000" cy="4667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30725" name="Oval 18"/>
          <p:cNvSpPr>
            <a:spLocks noChangeArrowheads="1"/>
          </p:cNvSpPr>
          <p:nvPr/>
        </p:nvSpPr>
        <p:spPr bwMode="auto">
          <a:xfrm>
            <a:off x="4233863" y="1828800"/>
            <a:ext cx="506412" cy="4651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A</a:t>
            </a:r>
          </a:p>
        </p:txBody>
      </p:sp>
      <p:sp>
        <p:nvSpPr>
          <p:cNvPr id="30726" name="Oval 19"/>
          <p:cNvSpPr>
            <a:spLocks noChangeArrowheads="1"/>
          </p:cNvSpPr>
          <p:nvPr/>
        </p:nvSpPr>
        <p:spPr bwMode="auto">
          <a:xfrm>
            <a:off x="5359400" y="2811463"/>
            <a:ext cx="508000" cy="4667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C</a:t>
            </a:r>
          </a:p>
        </p:txBody>
      </p:sp>
      <p:sp>
        <p:nvSpPr>
          <p:cNvPr id="30727" name="Oval 20"/>
          <p:cNvSpPr>
            <a:spLocks noChangeArrowheads="1"/>
          </p:cNvSpPr>
          <p:nvPr/>
        </p:nvSpPr>
        <p:spPr bwMode="auto">
          <a:xfrm>
            <a:off x="2600325" y="4106863"/>
            <a:ext cx="506413" cy="4651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D</a:t>
            </a:r>
          </a:p>
        </p:txBody>
      </p:sp>
      <p:sp>
        <p:nvSpPr>
          <p:cNvPr id="30728" name="Oval 21"/>
          <p:cNvSpPr>
            <a:spLocks noChangeArrowheads="1"/>
          </p:cNvSpPr>
          <p:nvPr/>
        </p:nvSpPr>
        <p:spPr bwMode="auto">
          <a:xfrm>
            <a:off x="3727450" y="4106863"/>
            <a:ext cx="506413" cy="4651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E</a:t>
            </a:r>
          </a:p>
        </p:txBody>
      </p:sp>
      <p:sp>
        <p:nvSpPr>
          <p:cNvPr id="30729" name="Line 24"/>
          <p:cNvSpPr>
            <a:spLocks noChangeShapeType="1"/>
          </p:cNvSpPr>
          <p:nvPr/>
        </p:nvSpPr>
        <p:spPr bwMode="auto">
          <a:xfrm flipH="1">
            <a:off x="3557588" y="2243138"/>
            <a:ext cx="788987" cy="620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30" name="Line 25"/>
          <p:cNvSpPr>
            <a:spLocks noChangeShapeType="1"/>
          </p:cNvSpPr>
          <p:nvPr/>
        </p:nvSpPr>
        <p:spPr bwMode="auto">
          <a:xfrm flipH="1">
            <a:off x="2881313" y="3278188"/>
            <a:ext cx="395287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31" name="Line 26"/>
          <p:cNvSpPr>
            <a:spLocks noChangeShapeType="1"/>
          </p:cNvSpPr>
          <p:nvPr/>
        </p:nvSpPr>
        <p:spPr bwMode="auto">
          <a:xfrm>
            <a:off x="3444875" y="3278188"/>
            <a:ext cx="506413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32" name="Line 29"/>
          <p:cNvSpPr>
            <a:spLocks noChangeShapeType="1"/>
          </p:cNvSpPr>
          <p:nvPr/>
        </p:nvSpPr>
        <p:spPr bwMode="auto">
          <a:xfrm>
            <a:off x="4684713" y="2190750"/>
            <a:ext cx="900112" cy="620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33" name="Oval 20"/>
          <p:cNvSpPr>
            <a:spLocks noChangeArrowheads="1"/>
          </p:cNvSpPr>
          <p:nvPr/>
        </p:nvSpPr>
        <p:spPr bwMode="auto">
          <a:xfrm>
            <a:off x="3243263" y="5402263"/>
            <a:ext cx="506412" cy="4651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F</a:t>
            </a:r>
          </a:p>
        </p:txBody>
      </p:sp>
      <p:sp>
        <p:nvSpPr>
          <p:cNvPr id="30734" name="Oval 21"/>
          <p:cNvSpPr>
            <a:spLocks noChangeArrowheads="1"/>
          </p:cNvSpPr>
          <p:nvPr/>
        </p:nvSpPr>
        <p:spPr bwMode="auto">
          <a:xfrm>
            <a:off x="4370388" y="5402263"/>
            <a:ext cx="506412" cy="4651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G</a:t>
            </a:r>
          </a:p>
        </p:txBody>
      </p:sp>
      <p:sp>
        <p:nvSpPr>
          <p:cNvPr id="30735" name="Line 25"/>
          <p:cNvSpPr>
            <a:spLocks noChangeShapeType="1"/>
          </p:cNvSpPr>
          <p:nvPr/>
        </p:nvSpPr>
        <p:spPr bwMode="auto">
          <a:xfrm flipH="1">
            <a:off x="3524250" y="4573588"/>
            <a:ext cx="395288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36" name="Line 26"/>
          <p:cNvSpPr>
            <a:spLocks noChangeShapeType="1"/>
          </p:cNvSpPr>
          <p:nvPr/>
        </p:nvSpPr>
        <p:spPr bwMode="auto">
          <a:xfrm>
            <a:off x="4087813" y="4573588"/>
            <a:ext cx="506412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Complete Binary Tree</a:t>
            </a:r>
            <a:endParaRPr lang="ur-PK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algn="l" rtl="0" eaLnBrk="1" hangingPunct="1">
              <a:buFontTx/>
              <a:buNone/>
            </a:pPr>
            <a:r>
              <a:rPr lang="en-US" sz="2400" smtClean="0"/>
              <a:t>A </a:t>
            </a:r>
            <a:r>
              <a:rPr lang="en-US" sz="2400" b="1" i="1" smtClean="0"/>
              <a:t>Complete binary </a:t>
            </a:r>
            <a:r>
              <a:rPr lang="en-US" sz="2400" smtClean="0"/>
              <a:t> tree is:</a:t>
            </a:r>
          </a:p>
          <a:p>
            <a:pPr algn="l" rtl="0" eaLnBrk="1" hangingPunct="1">
              <a:buFont typeface="Wingdings" pitchFamily="2" charset="2"/>
              <a:buChar char="§"/>
            </a:pPr>
            <a:r>
              <a:rPr lang="en-US" sz="2400" smtClean="0"/>
              <a:t>A tree in which each level of the tree is completely filled.</a:t>
            </a:r>
          </a:p>
          <a:p>
            <a:pPr algn="l" rtl="0" eaLnBrk="1" hangingPunct="1">
              <a:buFont typeface="Wingdings" pitchFamily="2" charset="2"/>
              <a:buChar char="§"/>
            </a:pPr>
            <a:r>
              <a:rPr lang="en-US" sz="2400" smtClean="0"/>
              <a:t>Except, possibly the bottom level.</a:t>
            </a:r>
          </a:p>
          <a:p>
            <a:pPr algn="l" rtl="0" eaLnBrk="1" hangingPunct="1">
              <a:buFontTx/>
              <a:buNone/>
            </a:pPr>
            <a:endParaRPr lang="ur-PK" smtClean="0"/>
          </a:p>
        </p:txBody>
      </p:sp>
      <p:sp>
        <p:nvSpPr>
          <p:cNvPr id="31748" name="Oval 17"/>
          <p:cNvSpPr>
            <a:spLocks noChangeArrowheads="1"/>
          </p:cNvSpPr>
          <p:nvPr/>
        </p:nvSpPr>
        <p:spPr bwMode="auto">
          <a:xfrm>
            <a:off x="3106738" y="3344863"/>
            <a:ext cx="508000" cy="4667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31749" name="Oval 18"/>
          <p:cNvSpPr>
            <a:spLocks noChangeArrowheads="1"/>
          </p:cNvSpPr>
          <p:nvPr/>
        </p:nvSpPr>
        <p:spPr bwMode="auto">
          <a:xfrm>
            <a:off x="4233863" y="2362200"/>
            <a:ext cx="506412" cy="4651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A</a:t>
            </a:r>
          </a:p>
        </p:txBody>
      </p:sp>
      <p:sp>
        <p:nvSpPr>
          <p:cNvPr id="31750" name="Oval 19"/>
          <p:cNvSpPr>
            <a:spLocks noChangeArrowheads="1"/>
          </p:cNvSpPr>
          <p:nvPr/>
        </p:nvSpPr>
        <p:spPr bwMode="auto">
          <a:xfrm>
            <a:off x="5359400" y="3344863"/>
            <a:ext cx="508000" cy="4667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C</a:t>
            </a:r>
          </a:p>
        </p:txBody>
      </p:sp>
      <p:sp>
        <p:nvSpPr>
          <p:cNvPr id="31751" name="Oval 20"/>
          <p:cNvSpPr>
            <a:spLocks noChangeArrowheads="1"/>
          </p:cNvSpPr>
          <p:nvPr/>
        </p:nvSpPr>
        <p:spPr bwMode="auto">
          <a:xfrm>
            <a:off x="2600325" y="4640263"/>
            <a:ext cx="506413" cy="4651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D</a:t>
            </a:r>
          </a:p>
        </p:txBody>
      </p:sp>
      <p:sp>
        <p:nvSpPr>
          <p:cNvPr id="31752" name="Oval 21"/>
          <p:cNvSpPr>
            <a:spLocks noChangeArrowheads="1"/>
          </p:cNvSpPr>
          <p:nvPr/>
        </p:nvSpPr>
        <p:spPr bwMode="auto">
          <a:xfrm>
            <a:off x="3727450" y="4640263"/>
            <a:ext cx="506413" cy="4651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E</a:t>
            </a:r>
          </a:p>
        </p:txBody>
      </p:sp>
      <p:sp>
        <p:nvSpPr>
          <p:cNvPr id="31753" name="Line 24"/>
          <p:cNvSpPr>
            <a:spLocks noChangeShapeType="1"/>
          </p:cNvSpPr>
          <p:nvPr/>
        </p:nvSpPr>
        <p:spPr bwMode="auto">
          <a:xfrm flipH="1">
            <a:off x="3557588" y="2776538"/>
            <a:ext cx="788987" cy="620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754" name="Line 25"/>
          <p:cNvSpPr>
            <a:spLocks noChangeShapeType="1"/>
          </p:cNvSpPr>
          <p:nvPr/>
        </p:nvSpPr>
        <p:spPr bwMode="auto">
          <a:xfrm flipH="1">
            <a:off x="2881313" y="3811588"/>
            <a:ext cx="395287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755" name="Line 26"/>
          <p:cNvSpPr>
            <a:spLocks noChangeShapeType="1"/>
          </p:cNvSpPr>
          <p:nvPr/>
        </p:nvSpPr>
        <p:spPr bwMode="auto">
          <a:xfrm>
            <a:off x="3444875" y="3811588"/>
            <a:ext cx="506413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756" name="Line 29"/>
          <p:cNvSpPr>
            <a:spLocks noChangeShapeType="1"/>
          </p:cNvSpPr>
          <p:nvPr/>
        </p:nvSpPr>
        <p:spPr bwMode="auto">
          <a:xfrm>
            <a:off x="4684713" y="2724150"/>
            <a:ext cx="900112" cy="620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757" name="Oval 20"/>
          <p:cNvSpPr>
            <a:spLocks noChangeArrowheads="1"/>
          </p:cNvSpPr>
          <p:nvPr/>
        </p:nvSpPr>
        <p:spPr bwMode="auto">
          <a:xfrm>
            <a:off x="2133600" y="5935663"/>
            <a:ext cx="506413" cy="4651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H</a:t>
            </a:r>
          </a:p>
        </p:txBody>
      </p:sp>
      <p:sp>
        <p:nvSpPr>
          <p:cNvPr id="31758" name="Oval 21"/>
          <p:cNvSpPr>
            <a:spLocks noChangeArrowheads="1"/>
          </p:cNvSpPr>
          <p:nvPr/>
        </p:nvSpPr>
        <p:spPr bwMode="auto">
          <a:xfrm>
            <a:off x="3227388" y="5935663"/>
            <a:ext cx="506412" cy="4651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</a:t>
            </a:r>
          </a:p>
        </p:txBody>
      </p:sp>
      <p:sp>
        <p:nvSpPr>
          <p:cNvPr id="31759" name="Line 25"/>
          <p:cNvSpPr>
            <a:spLocks noChangeShapeType="1"/>
          </p:cNvSpPr>
          <p:nvPr/>
        </p:nvSpPr>
        <p:spPr bwMode="auto">
          <a:xfrm flipH="1">
            <a:off x="2414588" y="5106988"/>
            <a:ext cx="395287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760" name="Line 26"/>
          <p:cNvSpPr>
            <a:spLocks noChangeShapeType="1"/>
          </p:cNvSpPr>
          <p:nvPr/>
        </p:nvSpPr>
        <p:spPr bwMode="auto">
          <a:xfrm>
            <a:off x="2944813" y="5106988"/>
            <a:ext cx="506412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761" name="Oval 20"/>
          <p:cNvSpPr>
            <a:spLocks noChangeArrowheads="1"/>
          </p:cNvSpPr>
          <p:nvPr/>
        </p:nvSpPr>
        <p:spPr bwMode="auto">
          <a:xfrm>
            <a:off x="4876800" y="4638675"/>
            <a:ext cx="506413" cy="4651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F</a:t>
            </a:r>
          </a:p>
        </p:txBody>
      </p:sp>
      <p:sp>
        <p:nvSpPr>
          <p:cNvPr id="31762" name="Oval 21"/>
          <p:cNvSpPr>
            <a:spLocks noChangeArrowheads="1"/>
          </p:cNvSpPr>
          <p:nvPr/>
        </p:nvSpPr>
        <p:spPr bwMode="auto">
          <a:xfrm>
            <a:off x="6003925" y="4638675"/>
            <a:ext cx="506413" cy="4651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G</a:t>
            </a:r>
          </a:p>
        </p:txBody>
      </p:sp>
      <p:sp>
        <p:nvSpPr>
          <p:cNvPr id="31763" name="Line 25"/>
          <p:cNvSpPr>
            <a:spLocks noChangeShapeType="1"/>
          </p:cNvSpPr>
          <p:nvPr/>
        </p:nvSpPr>
        <p:spPr bwMode="auto">
          <a:xfrm flipH="1">
            <a:off x="5157788" y="3810000"/>
            <a:ext cx="395287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764" name="Line 26"/>
          <p:cNvSpPr>
            <a:spLocks noChangeShapeType="1"/>
          </p:cNvSpPr>
          <p:nvPr/>
        </p:nvSpPr>
        <p:spPr bwMode="auto">
          <a:xfrm>
            <a:off x="5721350" y="3810000"/>
            <a:ext cx="506413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765" name="Oval 20"/>
          <p:cNvSpPr>
            <a:spLocks noChangeArrowheads="1"/>
          </p:cNvSpPr>
          <p:nvPr/>
        </p:nvSpPr>
        <p:spPr bwMode="auto">
          <a:xfrm>
            <a:off x="4352925" y="5934075"/>
            <a:ext cx="506413" cy="4651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J</a:t>
            </a:r>
          </a:p>
        </p:txBody>
      </p:sp>
      <p:sp>
        <p:nvSpPr>
          <p:cNvPr id="31766" name="Line 25"/>
          <p:cNvSpPr>
            <a:spLocks noChangeShapeType="1"/>
          </p:cNvSpPr>
          <p:nvPr/>
        </p:nvSpPr>
        <p:spPr bwMode="auto">
          <a:xfrm flipH="1">
            <a:off x="4633913" y="5105400"/>
            <a:ext cx="395287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Dynamic Implementation of Binary Tree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244475" y="1870075"/>
            <a:ext cx="3792538" cy="46672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        </a:t>
            </a:r>
            <a:r>
              <a:rPr lang="en-US" sz="2400" b="1">
                <a:latin typeface="Times New Roman" pitchFamily="18" charset="0"/>
              </a:rPr>
              <a:t>Linked Implementation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359275" y="2362200"/>
            <a:ext cx="839788" cy="533400"/>
            <a:chOff x="2496" y="672"/>
            <a:chExt cx="864" cy="336"/>
          </a:xfrm>
        </p:grpSpPr>
        <p:sp>
          <p:nvSpPr>
            <p:cNvPr id="32903" name="Rectangle 5"/>
            <p:cNvSpPr>
              <a:spLocks noChangeArrowheads="1"/>
            </p:cNvSpPr>
            <p:nvPr/>
          </p:nvSpPr>
          <p:spPr bwMode="auto">
            <a:xfrm>
              <a:off x="2496" y="672"/>
              <a:ext cx="864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904" name="Rectangle 6"/>
            <p:cNvSpPr>
              <a:spLocks noChangeArrowheads="1"/>
            </p:cNvSpPr>
            <p:nvPr/>
          </p:nvSpPr>
          <p:spPr bwMode="auto">
            <a:xfrm>
              <a:off x="2496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905" name="Rectangle 7"/>
            <p:cNvSpPr>
              <a:spLocks noChangeArrowheads="1"/>
            </p:cNvSpPr>
            <p:nvPr/>
          </p:nvSpPr>
          <p:spPr bwMode="auto">
            <a:xfrm>
              <a:off x="2928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835275" y="3124200"/>
            <a:ext cx="762000" cy="533400"/>
            <a:chOff x="2496" y="672"/>
            <a:chExt cx="864" cy="336"/>
          </a:xfrm>
        </p:grpSpPr>
        <p:sp>
          <p:nvSpPr>
            <p:cNvPr id="32900" name="Rectangle 9"/>
            <p:cNvSpPr>
              <a:spLocks noChangeArrowheads="1"/>
            </p:cNvSpPr>
            <p:nvPr/>
          </p:nvSpPr>
          <p:spPr bwMode="auto">
            <a:xfrm>
              <a:off x="2496" y="672"/>
              <a:ext cx="864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901" name="Rectangle 10"/>
            <p:cNvSpPr>
              <a:spLocks noChangeArrowheads="1"/>
            </p:cNvSpPr>
            <p:nvPr/>
          </p:nvSpPr>
          <p:spPr bwMode="auto">
            <a:xfrm>
              <a:off x="2496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902" name="Rectangle 11"/>
            <p:cNvSpPr>
              <a:spLocks noChangeArrowheads="1"/>
            </p:cNvSpPr>
            <p:nvPr/>
          </p:nvSpPr>
          <p:spPr bwMode="auto">
            <a:xfrm>
              <a:off x="2928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5961063" y="3200400"/>
            <a:ext cx="762000" cy="533400"/>
            <a:chOff x="2496" y="672"/>
            <a:chExt cx="864" cy="336"/>
          </a:xfrm>
        </p:grpSpPr>
        <p:sp>
          <p:nvSpPr>
            <p:cNvPr id="32897" name="Rectangle 13"/>
            <p:cNvSpPr>
              <a:spLocks noChangeArrowheads="1"/>
            </p:cNvSpPr>
            <p:nvPr/>
          </p:nvSpPr>
          <p:spPr bwMode="auto">
            <a:xfrm>
              <a:off x="2496" y="672"/>
              <a:ext cx="864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98" name="Rectangle 14"/>
            <p:cNvSpPr>
              <a:spLocks noChangeArrowheads="1"/>
            </p:cNvSpPr>
            <p:nvPr/>
          </p:nvSpPr>
          <p:spPr bwMode="auto">
            <a:xfrm>
              <a:off x="2496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99" name="Rectangle 15"/>
            <p:cNvSpPr>
              <a:spLocks noChangeArrowheads="1"/>
            </p:cNvSpPr>
            <p:nvPr/>
          </p:nvSpPr>
          <p:spPr bwMode="auto">
            <a:xfrm>
              <a:off x="2928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5351463" y="4191000"/>
            <a:ext cx="685800" cy="533400"/>
            <a:chOff x="2496" y="672"/>
            <a:chExt cx="864" cy="336"/>
          </a:xfrm>
        </p:grpSpPr>
        <p:sp>
          <p:nvSpPr>
            <p:cNvPr id="32894" name="Rectangle 17"/>
            <p:cNvSpPr>
              <a:spLocks noChangeArrowheads="1"/>
            </p:cNvSpPr>
            <p:nvPr/>
          </p:nvSpPr>
          <p:spPr bwMode="auto">
            <a:xfrm>
              <a:off x="2496" y="672"/>
              <a:ext cx="864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95" name="Rectangle 18"/>
            <p:cNvSpPr>
              <a:spLocks noChangeArrowheads="1"/>
            </p:cNvSpPr>
            <p:nvPr/>
          </p:nvSpPr>
          <p:spPr bwMode="auto">
            <a:xfrm>
              <a:off x="2496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96" name="Rectangle 19"/>
            <p:cNvSpPr>
              <a:spLocks noChangeArrowheads="1"/>
            </p:cNvSpPr>
            <p:nvPr/>
          </p:nvSpPr>
          <p:spPr bwMode="auto">
            <a:xfrm>
              <a:off x="2928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7637463" y="4191000"/>
            <a:ext cx="762000" cy="533400"/>
            <a:chOff x="2496" y="672"/>
            <a:chExt cx="864" cy="336"/>
          </a:xfrm>
        </p:grpSpPr>
        <p:sp>
          <p:nvSpPr>
            <p:cNvPr id="32891" name="Rectangle 21"/>
            <p:cNvSpPr>
              <a:spLocks noChangeArrowheads="1"/>
            </p:cNvSpPr>
            <p:nvPr/>
          </p:nvSpPr>
          <p:spPr bwMode="auto">
            <a:xfrm>
              <a:off x="2496" y="672"/>
              <a:ext cx="864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92" name="Rectangle 22"/>
            <p:cNvSpPr>
              <a:spLocks noChangeArrowheads="1"/>
            </p:cNvSpPr>
            <p:nvPr/>
          </p:nvSpPr>
          <p:spPr bwMode="auto">
            <a:xfrm>
              <a:off x="2496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93" name="Rectangle 23"/>
            <p:cNvSpPr>
              <a:spLocks noChangeArrowheads="1"/>
            </p:cNvSpPr>
            <p:nvPr/>
          </p:nvSpPr>
          <p:spPr bwMode="auto">
            <a:xfrm>
              <a:off x="2928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3521075" y="4191000"/>
            <a:ext cx="762000" cy="533400"/>
            <a:chOff x="2496" y="672"/>
            <a:chExt cx="864" cy="336"/>
          </a:xfrm>
        </p:grpSpPr>
        <p:sp>
          <p:nvSpPr>
            <p:cNvPr id="32888" name="Rectangle 25"/>
            <p:cNvSpPr>
              <a:spLocks noChangeArrowheads="1"/>
            </p:cNvSpPr>
            <p:nvPr/>
          </p:nvSpPr>
          <p:spPr bwMode="auto">
            <a:xfrm>
              <a:off x="2496" y="672"/>
              <a:ext cx="864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89" name="Rectangle 26"/>
            <p:cNvSpPr>
              <a:spLocks noChangeArrowheads="1"/>
            </p:cNvSpPr>
            <p:nvPr/>
          </p:nvSpPr>
          <p:spPr bwMode="auto">
            <a:xfrm>
              <a:off x="2496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90" name="Rectangle 27"/>
            <p:cNvSpPr>
              <a:spLocks noChangeArrowheads="1"/>
            </p:cNvSpPr>
            <p:nvPr/>
          </p:nvSpPr>
          <p:spPr bwMode="auto">
            <a:xfrm>
              <a:off x="2928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1387475" y="4191000"/>
            <a:ext cx="914400" cy="533400"/>
            <a:chOff x="2496" y="672"/>
            <a:chExt cx="864" cy="336"/>
          </a:xfrm>
        </p:grpSpPr>
        <p:sp>
          <p:nvSpPr>
            <p:cNvPr id="32885" name="Rectangle 29"/>
            <p:cNvSpPr>
              <a:spLocks noChangeArrowheads="1"/>
            </p:cNvSpPr>
            <p:nvPr/>
          </p:nvSpPr>
          <p:spPr bwMode="auto">
            <a:xfrm>
              <a:off x="2496" y="672"/>
              <a:ext cx="864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86" name="Rectangle 30"/>
            <p:cNvSpPr>
              <a:spLocks noChangeArrowheads="1"/>
            </p:cNvSpPr>
            <p:nvPr/>
          </p:nvSpPr>
          <p:spPr bwMode="auto">
            <a:xfrm>
              <a:off x="2496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87" name="Rectangle 31"/>
            <p:cNvSpPr>
              <a:spLocks noChangeArrowheads="1"/>
            </p:cNvSpPr>
            <p:nvPr/>
          </p:nvSpPr>
          <p:spPr bwMode="auto">
            <a:xfrm>
              <a:off x="2928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sp>
        <p:nvSpPr>
          <p:cNvPr id="32779" name="Line 32"/>
          <p:cNvSpPr>
            <a:spLocks noChangeShapeType="1"/>
          </p:cNvSpPr>
          <p:nvPr/>
        </p:nvSpPr>
        <p:spPr bwMode="auto">
          <a:xfrm flipH="1">
            <a:off x="3368675" y="2743200"/>
            <a:ext cx="990600" cy="3810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0" name="Line 33"/>
          <p:cNvSpPr>
            <a:spLocks noChangeShapeType="1"/>
          </p:cNvSpPr>
          <p:nvPr/>
        </p:nvSpPr>
        <p:spPr bwMode="auto">
          <a:xfrm>
            <a:off x="5199063" y="2743200"/>
            <a:ext cx="914400" cy="4572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1" name="Line 34"/>
          <p:cNvSpPr>
            <a:spLocks noChangeShapeType="1"/>
          </p:cNvSpPr>
          <p:nvPr/>
        </p:nvSpPr>
        <p:spPr bwMode="auto">
          <a:xfrm flipH="1">
            <a:off x="1920875" y="3505200"/>
            <a:ext cx="1066800" cy="6858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Line 35"/>
          <p:cNvSpPr>
            <a:spLocks noChangeShapeType="1"/>
          </p:cNvSpPr>
          <p:nvPr/>
        </p:nvSpPr>
        <p:spPr bwMode="auto">
          <a:xfrm>
            <a:off x="3444875" y="3505200"/>
            <a:ext cx="533400" cy="6858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Line 36"/>
          <p:cNvSpPr>
            <a:spLocks noChangeShapeType="1"/>
          </p:cNvSpPr>
          <p:nvPr/>
        </p:nvSpPr>
        <p:spPr bwMode="auto">
          <a:xfrm flipH="1">
            <a:off x="5732463" y="3581400"/>
            <a:ext cx="533400" cy="6096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4" name="Line 37"/>
          <p:cNvSpPr>
            <a:spLocks noChangeShapeType="1"/>
          </p:cNvSpPr>
          <p:nvPr/>
        </p:nvSpPr>
        <p:spPr bwMode="auto">
          <a:xfrm>
            <a:off x="6646863" y="3657600"/>
            <a:ext cx="1219200" cy="5334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38"/>
          <p:cNvGrpSpPr>
            <a:grpSpLocks/>
          </p:cNvGrpSpPr>
          <p:nvPr/>
        </p:nvGrpSpPr>
        <p:grpSpPr bwMode="auto">
          <a:xfrm>
            <a:off x="1768475" y="5257800"/>
            <a:ext cx="762000" cy="533400"/>
            <a:chOff x="2496" y="672"/>
            <a:chExt cx="864" cy="336"/>
          </a:xfrm>
        </p:grpSpPr>
        <p:sp>
          <p:nvSpPr>
            <p:cNvPr id="32882" name="Rectangle 39"/>
            <p:cNvSpPr>
              <a:spLocks noChangeArrowheads="1"/>
            </p:cNvSpPr>
            <p:nvPr/>
          </p:nvSpPr>
          <p:spPr bwMode="auto">
            <a:xfrm>
              <a:off x="2496" y="672"/>
              <a:ext cx="864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83" name="Rectangle 40"/>
            <p:cNvSpPr>
              <a:spLocks noChangeArrowheads="1"/>
            </p:cNvSpPr>
            <p:nvPr/>
          </p:nvSpPr>
          <p:spPr bwMode="auto">
            <a:xfrm>
              <a:off x="2496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84" name="Rectangle 41"/>
            <p:cNvSpPr>
              <a:spLocks noChangeArrowheads="1"/>
            </p:cNvSpPr>
            <p:nvPr/>
          </p:nvSpPr>
          <p:spPr bwMode="auto">
            <a:xfrm>
              <a:off x="2928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sp>
        <p:nvSpPr>
          <p:cNvPr id="32786" name="Line 42"/>
          <p:cNvSpPr>
            <a:spLocks noChangeShapeType="1"/>
          </p:cNvSpPr>
          <p:nvPr/>
        </p:nvSpPr>
        <p:spPr bwMode="auto">
          <a:xfrm>
            <a:off x="2073275" y="4648200"/>
            <a:ext cx="152400" cy="6096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" name="Group 43"/>
          <p:cNvGrpSpPr>
            <a:grpSpLocks/>
          </p:cNvGrpSpPr>
          <p:nvPr/>
        </p:nvGrpSpPr>
        <p:grpSpPr bwMode="auto">
          <a:xfrm>
            <a:off x="1692275" y="5715000"/>
            <a:ext cx="457200" cy="685800"/>
            <a:chOff x="480" y="2064"/>
            <a:chExt cx="288" cy="432"/>
          </a:xfrm>
        </p:grpSpPr>
        <p:sp>
          <p:nvSpPr>
            <p:cNvPr id="32878" name="Line 44"/>
            <p:cNvSpPr>
              <a:spLocks noChangeShapeType="1"/>
            </p:cNvSpPr>
            <p:nvPr/>
          </p:nvSpPr>
          <p:spPr bwMode="auto">
            <a:xfrm>
              <a:off x="624" y="2064"/>
              <a:ext cx="0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9" name="Line 45"/>
            <p:cNvSpPr>
              <a:spLocks noChangeShapeType="1"/>
            </p:cNvSpPr>
            <p:nvPr/>
          </p:nvSpPr>
          <p:spPr bwMode="auto">
            <a:xfrm>
              <a:off x="480" y="2400"/>
              <a:ext cx="2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80" name="Line 46"/>
            <p:cNvSpPr>
              <a:spLocks noChangeShapeType="1"/>
            </p:cNvSpPr>
            <p:nvPr/>
          </p:nvSpPr>
          <p:spPr bwMode="auto">
            <a:xfrm>
              <a:off x="528" y="2448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81" name="Line 47"/>
            <p:cNvSpPr>
              <a:spLocks noChangeShapeType="1"/>
            </p:cNvSpPr>
            <p:nvPr/>
          </p:nvSpPr>
          <p:spPr bwMode="auto">
            <a:xfrm>
              <a:off x="576" y="2496"/>
              <a:ext cx="9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" name="Group 48"/>
          <p:cNvGrpSpPr>
            <a:grpSpLocks/>
          </p:cNvGrpSpPr>
          <p:nvPr/>
        </p:nvGrpSpPr>
        <p:grpSpPr bwMode="auto">
          <a:xfrm>
            <a:off x="3216275" y="5181600"/>
            <a:ext cx="762000" cy="533400"/>
            <a:chOff x="2496" y="672"/>
            <a:chExt cx="864" cy="336"/>
          </a:xfrm>
        </p:grpSpPr>
        <p:sp>
          <p:nvSpPr>
            <p:cNvPr id="32875" name="Rectangle 49"/>
            <p:cNvSpPr>
              <a:spLocks noChangeArrowheads="1"/>
            </p:cNvSpPr>
            <p:nvPr/>
          </p:nvSpPr>
          <p:spPr bwMode="auto">
            <a:xfrm>
              <a:off x="2496" y="672"/>
              <a:ext cx="864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76" name="Rectangle 50"/>
            <p:cNvSpPr>
              <a:spLocks noChangeArrowheads="1"/>
            </p:cNvSpPr>
            <p:nvPr/>
          </p:nvSpPr>
          <p:spPr bwMode="auto">
            <a:xfrm>
              <a:off x="2496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77" name="Rectangle 51"/>
            <p:cNvSpPr>
              <a:spLocks noChangeArrowheads="1"/>
            </p:cNvSpPr>
            <p:nvPr/>
          </p:nvSpPr>
          <p:spPr bwMode="auto">
            <a:xfrm>
              <a:off x="2928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12" name="Group 52"/>
          <p:cNvGrpSpPr>
            <a:grpSpLocks/>
          </p:cNvGrpSpPr>
          <p:nvPr/>
        </p:nvGrpSpPr>
        <p:grpSpPr bwMode="auto">
          <a:xfrm>
            <a:off x="4359275" y="5257800"/>
            <a:ext cx="763588" cy="533400"/>
            <a:chOff x="2496" y="672"/>
            <a:chExt cx="864" cy="336"/>
          </a:xfrm>
        </p:grpSpPr>
        <p:sp>
          <p:nvSpPr>
            <p:cNvPr id="32872" name="Rectangle 53"/>
            <p:cNvSpPr>
              <a:spLocks noChangeArrowheads="1"/>
            </p:cNvSpPr>
            <p:nvPr/>
          </p:nvSpPr>
          <p:spPr bwMode="auto">
            <a:xfrm>
              <a:off x="2496" y="672"/>
              <a:ext cx="864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73" name="Rectangle 54"/>
            <p:cNvSpPr>
              <a:spLocks noChangeArrowheads="1"/>
            </p:cNvSpPr>
            <p:nvPr/>
          </p:nvSpPr>
          <p:spPr bwMode="auto">
            <a:xfrm>
              <a:off x="2496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74" name="Rectangle 55"/>
            <p:cNvSpPr>
              <a:spLocks noChangeArrowheads="1"/>
            </p:cNvSpPr>
            <p:nvPr/>
          </p:nvSpPr>
          <p:spPr bwMode="auto">
            <a:xfrm>
              <a:off x="2928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13" name="Group 56"/>
          <p:cNvGrpSpPr>
            <a:grpSpLocks/>
          </p:cNvGrpSpPr>
          <p:nvPr/>
        </p:nvGrpSpPr>
        <p:grpSpPr bwMode="auto">
          <a:xfrm>
            <a:off x="5580063" y="5257800"/>
            <a:ext cx="762000" cy="533400"/>
            <a:chOff x="2496" y="672"/>
            <a:chExt cx="864" cy="336"/>
          </a:xfrm>
        </p:grpSpPr>
        <p:sp>
          <p:nvSpPr>
            <p:cNvPr id="32869" name="Rectangle 57"/>
            <p:cNvSpPr>
              <a:spLocks noChangeArrowheads="1"/>
            </p:cNvSpPr>
            <p:nvPr/>
          </p:nvSpPr>
          <p:spPr bwMode="auto">
            <a:xfrm>
              <a:off x="2496" y="672"/>
              <a:ext cx="864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70" name="Rectangle 58"/>
            <p:cNvSpPr>
              <a:spLocks noChangeArrowheads="1"/>
            </p:cNvSpPr>
            <p:nvPr/>
          </p:nvSpPr>
          <p:spPr bwMode="auto">
            <a:xfrm>
              <a:off x="2496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71" name="Rectangle 59"/>
            <p:cNvSpPr>
              <a:spLocks noChangeArrowheads="1"/>
            </p:cNvSpPr>
            <p:nvPr/>
          </p:nvSpPr>
          <p:spPr bwMode="auto">
            <a:xfrm>
              <a:off x="2928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14" name="Group 60"/>
          <p:cNvGrpSpPr>
            <a:grpSpLocks/>
          </p:cNvGrpSpPr>
          <p:nvPr/>
        </p:nvGrpSpPr>
        <p:grpSpPr bwMode="auto">
          <a:xfrm>
            <a:off x="6799263" y="5257800"/>
            <a:ext cx="762000" cy="533400"/>
            <a:chOff x="2496" y="672"/>
            <a:chExt cx="864" cy="336"/>
          </a:xfrm>
        </p:grpSpPr>
        <p:sp>
          <p:nvSpPr>
            <p:cNvPr id="32866" name="Rectangle 61"/>
            <p:cNvSpPr>
              <a:spLocks noChangeArrowheads="1"/>
            </p:cNvSpPr>
            <p:nvPr/>
          </p:nvSpPr>
          <p:spPr bwMode="auto">
            <a:xfrm>
              <a:off x="2496" y="672"/>
              <a:ext cx="864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67" name="Rectangle 62"/>
            <p:cNvSpPr>
              <a:spLocks noChangeArrowheads="1"/>
            </p:cNvSpPr>
            <p:nvPr/>
          </p:nvSpPr>
          <p:spPr bwMode="auto">
            <a:xfrm>
              <a:off x="2496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68" name="Rectangle 63"/>
            <p:cNvSpPr>
              <a:spLocks noChangeArrowheads="1"/>
            </p:cNvSpPr>
            <p:nvPr/>
          </p:nvSpPr>
          <p:spPr bwMode="auto">
            <a:xfrm>
              <a:off x="2928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15" name="Group 64"/>
          <p:cNvGrpSpPr>
            <a:grpSpLocks/>
          </p:cNvGrpSpPr>
          <p:nvPr/>
        </p:nvGrpSpPr>
        <p:grpSpPr bwMode="auto">
          <a:xfrm>
            <a:off x="7942263" y="5257800"/>
            <a:ext cx="762000" cy="533400"/>
            <a:chOff x="2496" y="672"/>
            <a:chExt cx="864" cy="336"/>
          </a:xfrm>
        </p:grpSpPr>
        <p:sp>
          <p:nvSpPr>
            <p:cNvPr id="32863" name="Rectangle 65"/>
            <p:cNvSpPr>
              <a:spLocks noChangeArrowheads="1"/>
            </p:cNvSpPr>
            <p:nvPr/>
          </p:nvSpPr>
          <p:spPr bwMode="auto">
            <a:xfrm>
              <a:off x="2496" y="672"/>
              <a:ext cx="864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64" name="Rectangle 66"/>
            <p:cNvSpPr>
              <a:spLocks noChangeArrowheads="1"/>
            </p:cNvSpPr>
            <p:nvPr/>
          </p:nvSpPr>
          <p:spPr bwMode="auto">
            <a:xfrm>
              <a:off x="2496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2865" name="Rectangle 67"/>
            <p:cNvSpPr>
              <a:spLocks noChangeArrowheads="1"/>
            </p:cNvSpPr>
            <p:nvPr/>
          </p:nvSpPr>
          <p:spPr bwMode="auto">
            <a:xfrm>
              <a:off x="2928" y="816"/>
              <a:ext cx="432" cy="19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sp>
        <p:nvSpPr>
          <p:cNvPr id="32793" name="Line 68"/>
          <p:cNvSpPr>
            <a:spLocks noChangeShapeType="1"/>
          </p:cNvSpPr>
          <p:nvPr/>
        </p:nvSpPr>
        <p:spPr bwMode="auto">
          <a:xfrm flipH="1">
            <a:off x="3444875" y="4648200"/>
            <a:ext cx="228600" cy="5334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4" name="Line 69"/>
          <p:cNvSpPr>
            <a:spLocks noChangeShapeType="1"/>
          </p:cNvSpPr>
          <p:nvPr/>
        </p:nvSpPr>
        <p:spPr bwMode="auto">
          <a:xfrm>
            <a:off x="4130675" y="4648200"/>
            <a:ext cx="457200" cy="6096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5" name="Line 70"/>
          <p:cNvSpPr>
            <a:spLocks noChangeShapeType="1"/>
          </p:cNvSpPr>
          <p:nvPr/>
        </p:nvSpPr>
        <p:spPr bwMode="auto">
          <a:xfrm>
            <a:off x="5808663" y="4572000"/>
            <a:ext cx="304800" cy="6858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6" name="Line 71"/>
          <p:cNvSpPr>
            <a:spLocks noChangeShapeType="1"/>
          </p:cNvSpPr>
          <p:nvPr/>
        </p:nvSpPr>
        <p:spPr bwMode="auto">
          <a:xfrm flipH="1">
            <a:off x="7332663" y="4648200"/>
            <a:ext cx="533400" cy="6096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7" name="Line 72"/>
          <p:cNvSpPr>
            <a:spLocks noChangeShapeType="1"/>
          </p:cNvSpPr>
          <p:nvPr/>
        </p:nvSpPr>
        <p:spPr bwMode="auto">
          <a:xfrm>
            <a:off x="8170863" y="4572000"/>
            <a:ext cx="381000" cy="6858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" name="Group 73"/>
          <p:cNvGrpSpPr>
            <a:grpSpLocks/>
          </p:cNvGrpSpPr>
          <p:nvPr/>
        </p:nvGrpSpPr>
        <p:grpSpPr bwMode="auto">
          <a:xfrm>
            <a:off x="5199063" y="4572000"/>
            <a:ext cx="457200" cy="685800"/>
            <a:chOff x="480" y="2064"/>
            <a:chExt cx="288" cy="432"/>
          </a:xfrm>
        </p:grpSpPr>
        <p:sp>
          <p:nvSpPr>
            <p:cNvPr id="32859" name="Line 74"/>
            <p:cNvSpPr>
              <a:spLocks noChangeShapeType="1"/>
            </p:cNvSpPr>
            <p:nvPr/>
          </p:nvSpPr>
          <p:spPr bwMode="auto">
            <a:xfrm>
              <a:off x="624" y="2064"/>
              <a:ext cx="0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60" name="Line 75"/>
            <p:cNvSpPr>
              <a:spLocks noChangeShapeType="1"/>
            </p:cNvSpPr>
            <p:nvPr/>
          </p:nvSpPr>
          <p:spPr bwMode="auto">
            <a:xfrm>
              <a:off x="480" y="2400"/>
              <a:ext cx="2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61" name="Line 76"/>
            <p:cNvSpPr>
              <a:spLocks noChangeShapeType="1"/>
            </p:cNvSpPr>
            <p:nvPr/>
          </p:nvSpPr>
          <p:spPr bwMode="auto">
            <a:xfrm>
              <a:off x="528" y="2448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62" name="Line 77"/>
            <p:cNvSpPr>
              <a:spLocks noChangeShapeType="1"/>
            </p:cNvSpPr>
            <p:nvPr/>
          </p:nvSpPr>
          <p:spPr bwMode="auto">
            <a:xfrm>
              <a:off x="576" y="2496"/>
              <a:ext cx="9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" name="Group 78"/>
          <p:cNvGrpSpPr>
            <a:grpSpLocks/>
          </p:cNvGrpSpPr>
          <p:nvPr/>
        </p:nvGrpSpPr>
        <p:grpSpPr bwMode="auto">
          <a:xfrm>
            <a:off x="1311275" y="4648200"/>
            <a:ext cx="457200" cy="685800"/>
            <a:chOff x="480" y="2064"/>
            <a:chExt cx="288" cy="432"/>
          </a:xfrm>
        </p:grpSpPr>
        <p:sp>
          <p:nvSpPr>
            <p:cNvPr id="32855" name="Line 79"/>
            <p:cNvSpPr>
              <a:spLocks noChangeShapeType="1"/>
            </p:cNvSpPr>
            <p:nvPr/>
          </p:nvSpPr>
          <p:spPr bwMode="auto">
            <a:xfrm>
              <a:off x="624" y="2064"/>
              <a:ext cx="0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6" name="Line 80"/>
            <p:cNvSpPr>
              <a:spLocks noChangeShapeType="1"/>
            </p:cNvSpPr>
            <p:nvPr/>
          </p:nvSpPr>
          <p:spPr bwMode="auto">
            <a:xfrm>
              <a:off x="480" y="2400"/>
              <a:ext cx="2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7" name="Line 81"/>
            <p:cNvSpPr>
              <a:spLocks noChangeShapeType="1"/>
            </p:cNvSpPr>
            <p:nvPr/>
          </p:nvSpPr>
          <p:spPr bwMode="auto">
            <a:xfrm>
              <a:off x="528" y="2448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8" name="Line 82"/>
            <p:cNvSpPr>
              <a:spLocks noChangeShapeType="1"/>
            </p:cNvSpPr>
            <p:nvPr/>
          </p:nvSpPr>
          <p:spPr bwMode="auto">
            <a:xfrm>
              <a:off x="576" y="2496"/>
              <a:ext cx="9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8" name="Group 83"/>
          <p:cNvGrpSpPr>
            <a:grpSpLocks/>
          </p:cNvGrpSpPr>
          <p:nvPr/>
        </p:nvGrpSpPr>
        <p:grpSpPr bwMode="auto">
          <a:xfrm>
            <a:off x="2225675" y="5715000"/>
            <a:ext cx="457200" cy="685800"/>
            <a:chOff x="480" y="2064"/>
            <a:chExt cx="288" cy="432"/>
          </a:xfrm>
        </p:grpSpPr>
        <p:sp>
          <p:nvSpPr>
            <p:cNvPr id="32851" name="Line 84"/>
            <p:cNvSpPr>
              <a:spLocks noChangeShapeType="1"/>
            </p:cNvSpPr>
            <p:nvPr/>
          </p:nvSpPr>
          <p:spPr bwMode="auto">
            <a:xfrm>
              <a:off x="624" y="2064"/>
              <a:ext cx="0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2" name="Line 85"/>
            <p:cNvSpPr>
              <a:spLocks noChangeShapeType="1"/>
            </p:cNvSpPr>
            <p:nvPr/>
          </p:nvSpPr>
          <p:spPr bwMode="auto">
            <a:xfrm>
              <a:off x="480" y="2400"/>
              <a:ext cx="2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3" name="Line 86"/>
            <p:cNvSpPr>
              <a:spLocks noChangeShapeType="1"/>
            </p:cNvSpPr>
            <p:nvPr/>
          </p:nvSpPr>
          <p:spPr bwMode="auto">
            <a:xfrm>
              <a:off x="528" y="2448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4" name="Line 87"/>
            <p:cNvSpPr>
              <a:spLocks noChangeShapeType="1"/>
            </p:cNvSpPr>
            <p:nvPr/>
          </p:nvSpPr>
          <p:spPr bwMode="auto">
            <a:xfrm>
              <a:off x="576" y="2496"/>
              <a:ext cx="9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" name="Group 88"/>
          <p:cNvGrpSpPr>
            <a:grpSpLocks/>
          </p:cNvGrpSpPr>
          <p:nvPr/>
        </p:nvGrpSpPr>
        <p:grpSpPr bwMode="auto">
          <a:xfrm>
            <a:off x="3063875" y="5562600"/>
            <a:ext cx="457200" cy="685800"/>
            <a:chOff x="480" y="2064"/>
            <a:chExt cx="288" cy="432"/>
          </a:xfrm>
        </p:grpSpPr>
        <p:sp>
          <p:nvSpPr>
            <p:cNvPr id="32847" name="Line 89"/>
            <p:cNvSpPr>
              <a:spLocks noChangeShapeType="1"/>
            </p:cNvSpPr>
            <p:nvPr/>
          </p:nvSpPr>
          <p:spPr bwMode="auto">
            <a:xfrm>
              <a:off x="624" y="2064"/>
              <a:ext cx="0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8" name="Line 90"/>
            <p:cNvSpPr>
              <a:spLocks noChangeShapeType="1"/>
            </p:cNvSpPr>
            <p:nvPr/>
          </p:nvSpPr>
          <p:spPr bwMode="auto">
            <a:xfrm>
              <a:off x="480" y="2400"/>
              <a:ext cx="2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9" name="Line 91"/>
            <p:cNvSpPr>
              <a:spLocks noChangeShapeType="1"/>
            </p:cNvSpPr>
            <p:nvPr/>
          </p:nvSpPr>
          <p:spPr bwMode="auto">
            <a:xfrm>
              <a:off x="528" y="2448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0" name="Line 92"/>
            <p:cNvSpPr>
              <a:spLocks noChangeShapeType="1"/>
            </p:cNvSpPr>
            <p:nvPr/>
          </p:nvSpPr>
          <p:spPr bwMode="auto">
            <a:xfrm>
              <a:off x="576" y="2496"/>
              <a:ext cx="9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" name="Group 93"/>
          <p:cNvGrpSpPr>
            <a:grpSpLocks/>
          </p:cNvGrpSpPr>
          <p:nvPr/>
        </p:nvGrpSpPr>
        <p:grpSpPr bwMode="auto">
          <a:xfrm>
            <a:off x="3597275" y="5562600"/>
            <a:ext cx="457200" cy="685800"/>
            <a:chOff x="480" y="2064"/>
            <a:chExt cx="288" cy="432"/>
          </a:xfrm>
        </p:grpSpPr>
        <p:sp>
          <p:nvSpPr>
            <p:cNvPr id="32843" name="Line 94"/>
            <p:cNvSpPr>
              <a:spLocks noChangeShapeType="1"/>
            </p:cNvSpPr>
            <p:nvPr/>
          </p:nvSpPr>
          <p:spPr bwMode="auto">
            <a:xfrm>
              <a:off x="624" y="2064"/>
              <a:ext cx="0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4" name="Line 95"/>
            <p:cNvSpPr>
              <a:spLocks noChangeShapeType="1"/>
            </p:cNvSpPr>
            <p:nvPr/>
          </p:nvSpPr>
          <p:spPr bwMode="auto">
            <a:xfrm>
              <a:off x="480" y="2400"/>
              <a:ext cx="2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5" name="Line 96"/>
            <p:cNvSpPr>
              <a:spLocks noChangeShapeType="1"/>
            </p:cNvSpPr>
            <p:nvPr/>
          </p:nvSpPr>
          <p:spPr bwMode="auto">
            <a:xfrm>
              <a:off x="528" y="2448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6" name="Line 97"/>
            <p:cNvSpPr>
              <a:spLocks noChangeShapeType="1"/>
            </p:cNvSpPr>
            <p:nvPr/>
          </p:nvSpPr>
          <p:spPr bwMode="auto">
            <a:xfrm>
              <a:off x="576" y="2496"/>
              <a:ext cx="9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" name="Group 98"/>
          <p:cNvGrpSpPr>
            <a:grpSpLocks/>
          </p:cNvGrpSpPr>
          <p:nvPr/>
        </p:nvGrpSpPr>
        <p:grpSpPr bwMode="auto">
          <a:xfrm>
            <a:off x="4283075" y="5715000"/>
            <a:ext cx="458788" cy="685800"/>
            <a:chOff x="480" y="2064"/>
            <a:chExt cx="288" cy="432"/>
          </a:xfrm>
        </p:grpSpPr>
        <p:sp>
          <p:nvSpPr>
            <p:cNvPr id="32839" name="Line 99"/>
            <p:cNvSpPr>
              <a:spLocks noChangeShapeType="1"/>
            </p:cNvSpPr>
            <p:nvPr/>
          </p:nvSpPr>
          <p:spPr bwMode="auto">
            <a:xfrm>
              <a:off x="624" y="2064"/>
              <a:ext cx="0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0" name="Line 100"/>
            <p:cNvSpPr>
              <a:spLocks noChangeShapeType="1"/>
            </p:cNvSpPr>
            <p:nvPr/>
          </p:nvSpPr>
          <p:spPr bwMode="auto">
            <a:xfrm>
              <a:off x="480" y="2400"/>
              <a:ext cx="2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1" name="Line 101"/>
            <p:cNvSpPr>
              <a:spLocks noChangeShapeType="1"/>
            </p:cNvSpPr>
            <p:nvPr/>
          </p:nvSpPr>
          <p:spPr bwMode="auto">
            <a:xfrm>
              <a:off x="528" y="2448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2" name="Line 102"/>
            <p:cNvSpPr>
              <a:spLocks noChangeShapeType="1"/>
            </p:cNvSpPr>
            <p:nvPr/>
          </p:nvSpPr>
          <p:spPr bwMode="auto">
            <a:xfrm>
              <a:off x="576" y="2496"/>
              <a:ext cx="9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" name="Group 103"/>
          <p:cNvGrpSpPr>
            <a:grpSpLocks/>
          </p:cNvGrpSpPr>
          <p:nvPr/>
        </p:nvGrpSpPr>
        <p:grpSpPr bwMode="auto">
          <a:xfrm>
            <a:off x="4818063" y="5715000"/>
            <a:ext cx="457200" cy="762000"/>
            <a:chOff x="480" y="2064"/>
            <a:chExt cx="288" cy="432"/>
          </a:xfrm>
        </p:grpSpPr>
        <p:sp>
          <p:nvSpPr>
            <p:cNvPr id="32835" name="Line 104"/>
            <p:cNvSpPr>
              <a:spLocks noChangeShapeType="1"/>
            </p:cNvSpPr>
            <p:nvPr/>
          </p:nvSpPr>
          <p:spPr bwMode="auto">
            <a:xfrm>
              <a:off x="624" y="2064"/>
              <a:ext cx="0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6" name="Line 105"/>
            <p:cNvSpPr>
              <a:spLocks noChangeShapeType="1"/>
            </p:cNvSpPr>
            <p:nvPr/>
          </p:nvSpPr>
          <p:spPr bwMode="auto">
            <a:xfrm>
              <a:off x="480" y="2400"/>
              <a:ext cx="2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7" name="Line 106"/>
            <p:cNvSpPr>
              <a:spLocks noChangeShapeType="1"/>
            </p:cNvSpPr>
            <p:nvPr/>
          </p:nvSpPr>
          <p:spPr bwMode="auto">
            <a:xfrm>
              <a:off x="528" y="2448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8" name="Line 107"/>
            <p:cNvSpPr>
              <a:spLocks noChangeShapeType="1"/>
            </p:cNvSpPr>
            <p:nvPr/>
          </p:nvSpPr>
          <p:spPr bwMode="auto">
            <a:xfrm>
              <a:off x="576" y="2496"/>
              <a:ext cx="9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" name="Group 108"/>
          <p:cNvGrpSpPr>
            <a:grpSpLocks/>
          </p:cNvGrpSpPr>
          <p:nvPr/>
        </p:nvGrpSpPr>
        <p:grpSpPr bwMode="auto">
          <a:xfrm>
            <a:off x="5503863" y="5715000"/>
            <a:ext cx="457200" cy="685800"/>
            <a:chOff x="480" y="2064"/>
            <a:chExt cx="288" cy="432"/>
          </a:xfrm>
        </p:grpSpPr>
        <p:sp>
          <p:nvSpPr>
            <p:cNvPr id="32831" name="Line 109"/>
            <p:cNvSpPr>
              <a:spLocks noChangeShapeType="1"/>
            </p:cNvSpPr>
            <p:nvPr/>
          </p:nvSpPr>
          <p:spPr bwMode="auto">
            <a:xfrm>
              <a:off x="624" y="2064"/>
              <a:ext cx="0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2" name="Line 110"/>
            <p:cNvSpPr>
              <a:spLocks noChangeShapeType="1"/>
            </p:cNvSpPr>
            <p:nvPr/>
          </p:nvSpPr>
          <p:spPr bwMode="auto">
            <a:xfrm>
              <a:off x="480" y="2400"/>
              <a:ext cx="2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3" name="Line 111"/>
            <p:cNvSpPr>
              <a:spLocks noChangeShapeType="1"/>
            </p:cNvSpPr>
            <p:nvPr/>
          </p:nvSpPr>
          <p:spPr bwMode="auto">
            <a:xfrm>
              <a:off x="528" y="2448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4" name="Line 112"/>
            <p:cNvSpPr>
              <a:spLocks noChangeShapeType="1"/>
            </p:cNvSpPr>
            <p:nvPr/>
          </p:nvSpPr>
          <p:spPr bwMode="auto">
            <a:xfrm>
              <a:off x="576" y="2496"/>
              <a:ext cx="9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4" name="Group 113"/>
          <p:cNvGrpSpPr>
            <a:grpSpLocks/>
          </p:cNvGrpSpPr>
          <p:nvPr/>
        </p:nvGrpSpPr>
        <p:grpSpPr bwMode="auto">
          <a:xfrm>
            <a:off x="6037263" y="5715000"/>
            <a:ext cx="457200" cy="685800"/>
            <a:chOff x="480" y="2064"/>
            <a:chExt cx="288" cy="432"/>
          </a:xfrm>
        </p:grpSpPr>
        <p:sp>
          <p:nvSpPr>
            <p:cNvPr id="32827" name="Line 114"/>
            <p:cNvSpPr>
              <a:spLocks noChangeShapeType="1"/>
            </p:cNvSpPr>
            <p:nvPr/>
          </p:nvSpPr>
          <p:spPr bwMode="auto">
            <a:xfrm>
              <a:off x="624" y="2064"/>
              <a:ext cx="0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28" name="Line 115"/>
            <p:cNvSpPr>
              <a:spLocks noChangeShapeType="1"/>
            </p:cNvSpPr>
            <p:nvPr/>
          </p:nvSpPr>
          <p:spPr bwMode="auto">
            <a:xfrm>
              <a:off x="480" y="2400"/>
              <a:ext cx="2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29" name="Line 116"/>
            <p:cNvSpPr>
              <a:spLocks noChangeShapeType="1"/>
            </p:cNvSpPr>
            <p:nvPr/>
          </p:nvSpPr>
          <p:spPr bwMode="auto">
            <a:xfrm>
              <a:off x="528" y="2448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0" name="Line 117"/>
            <p:cNvSpPr>
              <a:spLocks noChangeShapeType="1"/>
            </p:cNvSpPr>
            <p:nvPr/>
          </p:nvSpPr>
          <p:spPr bwMode="auto">
            <a:xfrm>
              <a:off x="576" y="2496"/>
              <a:ext cx="9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5" name="Group 118"/>
          <p:cNvGrpSpPr>
            <a:grpSpLocks/>
          </p:cNvGrpSpPr>
          <p:nvPr/>
        </p:nvGrpSpPr>
        <p:grpSpPr bwMode="auto">
          <a:xfrm>
            <a:off x="6646863" y="5715000"/>
            <a:ext cx="457200" cy="685800"/>
            <a:chOff x="480" y="2064"/>
            <a:chExt cx="288" cy="432"/>
          </a:xfrm>
        </p:grpSpPr>
        <p:sp>
          <p:nvSpPr>
            <p:cNvPr id="32823" name="Line 119"/>
            <p:cNvSpPr>
              <a:spLocks noChangeShapeType="1"/>
            </p:cNvSpPr>
            <p:nvPr/>
          </p:nvSpPr>
          <p:spPr bwMode="auto">
            <a:xfrm>
              <a:off x="624" y="2064"/>
              <a:ext cx="0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24" name="Line 120"/>
            <p:cNvSpPr>
              <a:spLocks noChangeShapeType="1"/>
            </p:cNvSpPr>
            <p:nvPr/>
          </p:nvSpPr>
          <p:spPr bwMode="auto">
            <a:xfrm>
              <a:off x="480" y="2400"/>
              <a:ext cx="2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25" name="Line 121"/>
            <p:cNvSpPr>
              <a:spLocks noChangeShapeType="1"/>
            </p:cNvSpPr>
            <p:nvPr/>
          </p:nvSpPr>
          <p:spPr bwMode="auto">
            <a:xfrm>
              <a:off x="528" y="2448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26" name="Line 122"/>
            <p:cNvSpPr>
              <a:spLocks noChangeShapeType="1"/>
            </p:cNvSpPr>
            <p:nvPr/>
          </p:nvSpPr>
          <p:spPr bwMode="auto">
            <a:xfrm>
              <a:off x="576" y="2496"/>
              <a:ext cx="9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6" name="Group 123"/>
          <p:cNvGrpSpPr>
            <a:grpSpLocks/>
          </p:cNvGrpSpPr>
          <p:nvPr/>
        </p:nvGrpSpPr>
        <p:grpSpPr bwMode="auto">
          <a:xfrm>
            <a:off x="7256463" y="5715000"/>
            <a:ext cx="457200" cy="685800"/>
            <a:chOff x="480" y="2064"/>
            <a:chExt cx="288" cy="432"/>
          </a:xfrm>
        </p:grpSpPr>
        <p:sp>
          <p:nvSpPr>
            <p:cNvPr id="32819" name="Line 124"/>
            <p:cNvSpPr>
              <a:spLocks noChangeShapeType="1"/>
            </p:cNvSpPr>
            <p:nvPr/>
          </p:nvSpPr>
          <p:spPr bwMode="auto">
            <a:xfrm>
              <a:off x="624" y="2064"/>
              <a:ext cx="0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20" name="Line 125"/>
            <p:cNvSpPr>
              <a:spLocks noChangeShapeType="1"/>
            </p:cNvSpPr>
            <p:nvPr/>
          </p:nvSpPr>
          <p:spPr bwMode="auto">
            <a:xfrm>
              <a:off x="480" y="2400"/>
              <a:ext cx="2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21" name="Line 126"/>
            <p:cNvSpPr>
              <a:spLocks noChangeShapeType="1"/>
            </p:cNvSpPr>
            <p:nvPr/>
          </p:nvSpPr>
          <p:spPr bwMode="auto">
            <a:xfrm>
              <a:off x="528" y="2448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22" name="Line 127"/>
            <p:cNvSpPr>
              <a:spLocks noChangeShapeType="1"/>
            </p:cNvSpPr>
            <p:nvPr/>
          </p:nvSpPr>
          <p:spPr bwMode="auto">
            <a:xfrm>
              <a:off x="576" y="2496"/>
              <a:ext cx="9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" name="Group 128"/>
          <p:cNvGrpSpPr>
            <a:grpSpLocks/>
          </p:cNvGrpSpPr>
          <p:nvPr/>
        </p:nvGrpSpPr>
        <p:grpSpPr bwMode="auto">
          <a:xfrm>
            <a:off x="7866063" y="5638800"/>
            <a:ext cx="457200" cy="685800"/>
            <a:chOff x="480" y="2064"/>
            <a:chExt cx="288" cy="432"/>
          </a:xfrm>
        </p:grpSpPr>
        <p:sp>
          <p:nvSpPr>
            <p:cNvPr id="32815" name="Line 129"/>
            <p:cNvSpPr>
              <a:spLocks noChangeShapeType="1"/>
            </p:cNvSpPr>
            <p:nvPr/>
          </p:nvSpPr>
          <p:spPr bwMode="auto">
            <a:xfrm>
              <a:off x="624" y="2064"/>
              <a:ext cx="0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16" name="Line 130"/>
            <p:cNvSpPr>
              <a:spLocks noChangeShapeType="1"/>
            </p:cNvSpPr>
            <p:nvPr/>
          </p:nvSpPr>
          <p:spPr bwMode="auto">
            <a:xfrm>
              <a:off x="480" y="2400"/>
              <a:ext cx="2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17" name="Line 131"/>
            <p:cNvSpPr>
              <a:spLocks noChangeShapeType="1"/>
            </p:cNvSpPr>
            <p:nvPr/>
          </p:nvSpPr>
          <p:spPr bwMode="auto">
            <a:xfrm>
              <a:off x="528" y="2448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18" name="Line 132"/>
            <p:cNvSpPr>
              <a:spLocks noChangeShapeType="1"/>
            </p:cNvSpPr>
            <p:nvPr/>
          </p:nvSpPr>
          <p:spPr bwMode="auto">
            <a:xfrm>
              <a:off x="576" y="2496"/>
              <a:ext cx="9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" name="Group 133"/>
          <p:cNvGrpSpPr>
            <a:grpSpLocks/>
          </p:cNvGrpSpPr>
          <p:nvPr/>
        </p:nvGrpSpPr>
        <p:grpSpPr bwMode="auto">
          <a:xfrm>
            <a:off x="8399463" y="5638800"/>
            <a:ext cx="457200" cy="685800"/>
            <a:chOff x="480" y="2064"/>
            <a:chExt cx="288" cy="432"/>
          </a:xfrm>
        </p:grpSpPr>
        <p:sp>
          <p:nvSpPr>
            <p:cNvPr id="32811" name="Line 134"/>
            <p:cNvSpPr>
              <a:spLocks noChangeShapeType="1"/>
            </p:cNvSpPr>
            <p:nvPr/>
          </p:nvSpPr>
          <p:spPr bwMode="auto">
            <a:xfrm>
              <a:off x="624" y="2064"/>
              <a:ext cx="0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12" name="Line 135"/>
            <p:cNvSpPr>
              <a:spLocks noChangeShapeType="1"/>
            </p:cNvSpPr>
            <p:nvPr/>
          </p:nvSpPr>
          <p:spPr bwMode="auto">
            <a:xfrm>
              <a:off x="480" y="2400"/>
              <a:ext cx="2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13" name="Line 136"/>
            <p:cNvSpPr>
              <a:spLocks noChangeShapeType="1"/>
            </p:cNvSpPr>
            <p:nvPr/>
          </p:nvSpPr>
          <p:spPr bwMode="auto">
            <a:xfrm>
              <a:off x="528" y="2448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14" name="Line 137"/>
            <p:cNvSpPr>
              <a:spLocks noChangeShapeType="1"/>
            </p:cNvSpPr>
            <p:nvPr/>
          </p:nvSpPr>
          <p:spPr bwMode="auto">
            <a:xfrm>
              <a:off x="576" y="2496"/>
              <a:ext cx="9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pPr rtl="0" eaLnBrk="1" hangingPunct="1"/>
            <a:r>
              <a:rPr lang="en-US" sz="3600" smtClean="0"/>
              <a:t>Structure Definition of Binary Tree Using Dynamic Implementation</a:t>
            </a:r>
            <a:endParaRPr lang="ur-PK" sz="3600" smtClean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lnSpcReduction="10000"/>
          </a:bodyPr>
          <a:lstStyle/>
          <a:p>
            <a:pPr algn="l" rtl="0" eaLnBrk="1" hangingPunct="1"/>
            <a:r>
              <a:rPr lang="en-US" sz="2400" smtClean="0"/>
              <a:t>The fundamental component of binary tree is node.</a:t>
            </a:r>
          </a:p>
          <a:p>
            <a:pPr algn="l" rtl="0" eaLnBrk="1" hangingPunct="1"/>
            <a:r>
              <a:rPr lang="en-US" sz="2400" smtClean="0"/>
              <a:t>In binary tree node should consist of three things.</a:t>
            </a:r>
          </a:p>
          <a:p>
            <a:pPr lvl="1" algn="l" rtl="0" eaLnBrk="1" hangingPunct="1"/>
            <a:r>
              <a:rPr lang="en-US" sz="2000" b="1" smtClean="0"/>
              <a:t>Data</a:t>
            </a:r>
          </a:p>
          <a:p>
            <a:pPr lvl="2" algn="l" rtl="0" eaLnBrk="1" hangingPunct="1"/>
            <a:r>
              <a:rPr lang="en-US" sz="1800" b="1" smtClean="0"/>
              <a:t>Stores given values</a:t>
            </a:r>
          </a:p>
          <a:p>
            <a:pPr lvl="1" algn="l" rtl="0" eaLnBrk="1" hangingPunct="1"/>
            <a:r>
              <a:rPr lang="en-US" sz="2000" b="1" smtClean="0"/>
              <a:t>Left child</a:t>
            </a:r>
          </a:p>
          <a:p>
            <a:pPr lvl="2" algn="l" rtl="0" eaLnBrk="1" hangingPunct="1"/>
            <a:r>
              <a:rPr lang="en-US" sz="1800" b="1" smtClean="0"/>
              <a:t> is a link field and hold the address of its left node</a:t>
            </a:r>
          </a:p>
          <a:p>
            <a:pPr lvl="1" algn="l" rtl="0" eaLnBrk="1" hangingPunct="1"/>
            <a:r>
              <a:rPr lang="en-US" sz="2000" b="1" smtClean="0"/>
              <a:t>Right child.</a:t>
            </a:r>
          </a:p>
          <a:p>
            <a:pPr lvl="2" algn="l" rtl="0" eaLnBrk="1" hangingPunct="1"/>
            <a:r>
              <a:rPr lang="en-US" sz="1800" b="1" smtClean="0"/>
              <a:t>Is a link field and holds the address of its right node</a:t>
            </a:r>
            <a:r>
              <a:rPr lang="en-US" sz="1800" smtClean="0"/>
              <a:t>.</a:t>
            </a:r>
          </a:p>
          <a:p>
            <a:pPr algn="l" rtl="0" eaLnBrk="1" hangingPunct="1">
              <a:buFontTx/>
              <a:buNone/>
            </a:pPr>
            <a:r>
              <a:rPr lang="en-US" sz="2600" smtClean="0"/>
              <a:t>	</a:t>
            </a:r>
            <a:r>
              <a:rPr lang="en-US" sz="2000" b="1" smtClean="0">
                <a:solidFill>
                  <a:srgbClr val="C00000"/>
                </a:solidFill>
              </a:rPr>
              <a:t>struct node</a:t>
            </a:r>
          </a:p>
          <a:p>
            <a:pPr algn="l" rtl="0" eaLnBrk="1" hangingPunct="1">
              <a:buFontTx/>
              <a:buNone/>
            </a:pPr>
            <a:r>
              <a:rPr lang="en-US" sz="2000" b="1" smtClean="0">
                <a:solidFill>
                  <a:srgbClr val="C00000"/>
                </a:solidFill>
              </a:rPr>
              <a:t>	{</a:t>
            </a:r>
          </a:p>
          <a:p>
            <a:pPr algn="l" rtl="0" eaLnBrk="1" hangingPunct="1">
              <a:buFontTx/>
              <a:buNone/>
            </a:pPr>
            <a:r>
              <a:rPr lang="en-US" sz="2000" b="1" smtClean="0">
                <a:solidFill>
                  <a:srgbClr val="C00000"/>
                </a:solidFill>
              </a:rPr>
              <a:t>		int data</a:t>
            </a:r>
          </a:p>
          <a:p>
            <a:pPr algn="l" rtl="0" eaLnBrk="1" hangingPunct="1">
              <a:buFontTx/>
              <a:buNone/>
            </a:pPr>
            <a:r>
              <a:rPr lang="en-US" sz="2000" b="1" smtClean="0">
                <a:solidFill>
                  <a:srgbClr val="C00000"/>
                </a:solidFill>
              </a:rPr>
              <a:t>		node *left_child;</a:t>
            </a:r>
          </a:p>
          <a:p>
            <a:pPr algn="l" rtl="0" eaLnBrk="1" hangingPunct="1">
              <a:buFontTx/>
              <a:buNone/>
            </a:pPr>
            <a:r>
              <a:rPr lang="en-US" sz="2000" b="1" smtClean="0">
                <a:solidFill>
                  <a:srgbClr val="C00000"/>
                </a:solidFill>
              </a:rPr>
              <a:t>		node *right_child;</a:t>
            </a:r>
          </a:p>
          <a:p>
            <a:pPr algn="l" rtl="0" eaLnBrk="1" hangingPunct="1">
              <a:buFontTx/>
              <a:buNone/>
            </a:pPr>
            <a:r>
              <a:rPr lang="en-US" sz="2000" b="1" smtClean="0">
                <a:solidFill>
                  <a:srgbClr val="C00000"/>
                </a:solidFill>
              </a:rPr>
              <a:t>	};</a:t>
            </a:r>
            <a:endParaRPr lang="ur-PK" sz="2000" b="1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Operations on Binary Tree</a:t>
            </a:r>
            <a:endParaRPr lang="ur-PK" smtClean="0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sz="2400" b="1" smtClean="0"/>
              <a:t>Create</a:t>
            </a:r>
          </a:p>
          <a:p>
            <a:pPr lvl="1" algn="l" rtl="0"/>
            <a:r>
              <a:rPr lang="en-US" sz="2000" b="1" smtClean="0"/>
              <a:t>Create an empty binary tree</a:t>
            </a:r>
          </a:p>
          <a:p>
            <a:pPr algn="l" rtl="0"/>
            <a:r>
              <a:rPr lang="en-US" sz="2400" b="1" smtClean="0"/>
              <a:t>Empty</a:t>
            </a:r>
          </a:p>
          <a:p>
            <a:pPr lvl="1" algn="l" rtl="0"/>
            <a:r>
              <a:rPr lang="en-US" sz="2000" b="1" smtClean="0"/>
              <a:t>Return true when binary tree is empty else return false.</a:t>
            </a:r>
          </a:p>
          <a:p>
            <a:pPr algn="l" rtl="0"/>
            <a:r>
              <a:rPr lang="en-US" sz="2400" b="1" smtClean="0"/>
              <a:t>Lchild</a:t>
            </a:r>
          </a:p>
          <a:p>
            <a:pPr lvl="1" algn="l" rtl="0"/>
            <a:r>
              <a:rPr lang="en-US" sz="2000" b="1" smtClean="0"/>
              <a:t>A pointer is returned to left child of a node, when a node is without left child, NULL pointer is returned.</a:t>
            </a:r>
          </a:p>
          <a:p>
            <a:pPr algn="l" rtl="0"/>
            <a:r>
              <a:rPr lang="en-US" sz="2400" b="1" smtClean="0"/>
              <a:t>Rchild</a:t>
            </a:r>
          </a:p>
          <a:p>
            <a:pPr lvl="1" algn="l" rtl="0"/>
            <a:r>
              <a:rPr lang="en-US" sz="2000" b="1" smtClean="0"/>
              <a:t>A pointer is returned to right child of a node, when a node is without left child, NULL pointer is returned.</a:t>
            </a:r>
          </a:p>
          <a:p>
            <a:pPr algn="l" rtl="0"/>
            <a:r>
              <a:rPr lang="en-US" sz="2400" b="1" smtClean="0"/>
              <a:t>Father/Parent</a:t>
            </a:r>
          </a:p>
          <a:p>
            <a:pPr lvl="1" algn="l" rtl="0"/>
            <a:r>
              <a:rPr lang="en-US" sz="2000" b="1" smtClean="0"/>
              <a:t>A pointer to father of a node is returned.</a:t>
            </a:r>
          </a:p>
          <a:p>
            <a:pPr lvl="1" algn="l" rtl="0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87363"/>
          </a:xfrm>
        </p:spPr>
        <p:txBody>
          <a:bodyPr>
            <a:normAutofit fontScale="90000"/>
          </a:bodyPr>
          <a:lstStyle/>
          <a:p>
            <a:r>
              <a:rPr lang="en-US" smtClean="0"/>
              <a:t>Operations on Binary Tree</a:t>
            </a:r>
            <a:endParaRPr lang="ur-PK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fontScale="92500" lnSpcReduction="10000"/>
          </a:bodyPr>
          <a:lstStyle/>
          <a:p>
            <a:pPr algn="l" rtl="0"/>
            <a:r>
              <a:rPr lang="en-US" sz="2400" b="1" smtClean="0"/>
              <a:t>Sibling</a:t>
            </a:r>
          </a:p>
          <a:p>
            <a:pPr lvl="1" algn="l" rtl="0"/>
            <a:r>
              <a:rPr lang="en-US" sz="2000" b="1" smtClean="0"/>
              <a:t>A pointer to brother of the node is returned or else NULL pointer is returned.</a:t>
            </a:r>
          </a:p>
          <a:p>
            <a:pPr algn="l" rtl="0"/>
            <a:r>
              <a:rPr lang="en-US" sz="2400" b="1" smtClean="0"/>
              <a:t>Tree Traversal</a:t>
            </a:r>
          </a:p>
          <a:p>
            <a:pPr lvl="1" algn="l" rtl="0"/>
            <a:r>
              <a:rPr lang="en-US" sz="2000" b="1" smtClean="0"/>
              <a:t>Inorder Traversal</a:t>
            </a:r>
          </a:p>
          <a:p>
            <a:pPr lvl="1" algn="l" rtl="0"/>
            <a:r>
              <a:rPr lang="en-US" sz="2000" b="1" smtClean="0"/>
              <a:t>Preorder Traversal</a:t>
            </a:r>
          </a:p>
          <a:p>
            <a:pPr lvl="1" algn="l" rtl="0"/>
            <a:r>
              <a:rPr lang="en-US" sz="2000" b="1" smtClean="0"/>
              <a:t>Postorder Traversal</a:t>
            </a:r>
          </a:p>
          <a:p>
            <a:pPr algn="l" rtl="0"/>
            <a:r>
              <a:rPr lang="en-US" sz="2400" b="1" smtClean="0"/>
              <a:t>Insert</a:t>
            </a:r>
          </a:p>
          <a:p>
            <a:pPr lvl="1" algn="l" rtl="0"/>
            <a:r>
              <a:rPr lang="en-US" sz="2000" b="1" smtClean="0"/>
              <a:t>To insert a node</a:t>
            </a:r>
          </a:p>
          <a:p>
            <a:pPr algn="l" rtl="0"/>
            <a:r>
              <a:rPr lang="en-US" sz="2400" b="1" smtClean="0"/>
              <a:t>Deletion</a:t>
            </a:r>
          </a:p>
          <a:p>
            <a:pPr lvl="1" algn="l" rtl="0"/>
            <a:r>
              <a:rPr lang="en-US" sz="2000" b="1" smtClean="0"/>
              <a:t>To delete a node</a:t>
            </a:r>
          </a:p>
          <a:p>
            <a:pPr algn="l" rtl="0"/>
            <a:r>
              <a:rPr lang="en-US" sz="2400" b="1" smtClean="0"/>
              <a:t>Search</a:t>
            </a:r>
          </a:p>
          <a:p>
            <a:pPr lvl="1" algn="l" rtl="0"/>
            <a:r>
              <a:rPr lang="en-US" sz="2000" b="1" smtClean="0"/>
              <a:t>To search a given node</a:t>
            </a:r>
          </a:p>
          <a:p>
            <a:pPr algn="l" rtl="0"/>
            <a:r>
              <a:rPr lang="en-US" sz="2400" b="1" smtClean="0"/>
              <a:t>Copy</a:t>
            </a:r>
          </a:p>
          <a:p>
            <a:pPr lvl="1" algn="l" rtl="0"/>
            <a:r>
              <a:rPr lang="en-US" sz="2000" b="1" smtClean="0"/>
              <a:t>Copy one tree into another.</a:t>
            </a:r>
            <a:endParaRPr lang="ur-PK" sz="20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Example: Expression Trees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endParaRPr lang="en-US" sz="2000" smtClean="0"/>
          </a:p>
          <a:p>
            <a:pPr algn="l" rtl="0" eaLnBrk="1" hangingPunct="1">
              <a:lnSpc>
                <a:spcPct val="90000"/>
              </a:lnSpc>
            </a:pPr>
            <a:endParaRPr lang="en-US" sz="2000" smtClean="0"/>
          </a:p>
          <a:p>
            <a:pPr algn="l" rtl="0" eaLnBrk="1" hangingPunct="1">
              <a:lnSpc>
                <a:spcPct val="90000"/>
              </a:lnSpc>
            </a:pPr>
            <a:endParaRPr lang="en-US" sz="2000" smtClean="0"/>
          </a:p>
          <a:p>
            <a:pPr algn="l" rtl="0" eaLnBrk="1" hangingPunct="1">
              <a:lnSpc>
                <a:spcPct val="90000"/>
              </a:lnSpc>
            </a:pPr>
            <a:endParaRPr lang="en-US" sz="2000" smtClean="0"/>
          </a:p>
          <a:p>
            <a:pPr algn="l" rtl="0" eaLnBrk="1" hangingPunct="1">
              <a:lnSpc>
                <a:spcPct val="90000"/>
              </a:lnSpc>
            </a:pPr>
            <a:endParaRPr lang="en-US" sz="2000" smtClean="0"/>
          </a:p>
          <a:p>
            <a:pPr algn="l" rtl="0" eaLnBrk="1" hangingPunct="1">
              <a:lnSpc>
                <a:spcPct val="90000"/>
              </a:lnSpc>
            </a:pPr>
            <a:endParaRPr lang="en-US" sz="2000" smtClean="0"/>
          </a:p>
          <a:p>
            <a:pPr algn="l" rtl="0" eaLnBrk="1" hangingPunct="1">
              <a:lnSpc>
                <a:spcPct val="90000"/>
              </a:lnSpc>
            </a:pPr>
            <a:endParaRPr lang="en-US" sz="2000" smtClean="0"/>
          </a:p>
          <a:p>
            <a:pPr algn="l" rtl="0" eaLnBrk="1" hangingPunct="1">
              <a:lnSpc>
                <a:spcPct val="90000"/>
              </a:lnSpc>
            </a:pPr>
            <a:endParaRPr lang="en-US" sz="2000" smtClean="0"/>
          </a:p>
          <a:p>
            <a:pPr algn="l" rtl="0" eaLnBrk="1" hangingPunct="1">
              <a:lnSpc>
                <a:spcPct val="90000"/>
              </a:lnSpc>
            </a:pPr>
            <a:endParaRPr lang="en-US" sz="2000" smtClean="0"/>
          </a:p>
          <a:p>
            <a:pPr algn="l" rtl="0" eaLnBrk="1" hangingPunct="1">
              <a:lnSpc>
                <a:spcPct val="90000"/>
              </a:lnSpc>
            </a:pPr>
            <a:endParaRPr lang="en-US" sz="2400" smtClean="0"/>
          </a:p>
          <a:p>
            <a:pPr algn="l" rtl="0" eaLnBrk="1" hangingPunct="1">
              <a:lnSpc>
                <a:spcPct val="90000"/>
              </a:lnSpc>
            </a:pPr>
            <a:r>
              <a:rPr lang="en-US" sz="2000" smtClean="0"/>
              <a:t>Leaves are operands (constants or variables)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sz="2000" smtClean="0"/>
              <a:t>The other nodes (internal nodes) contain operators</a:t>
            </a:r>
          </a:p>
        </p:txBody>
      </p:sp>
      <p:pic>
        <p:nvPicPr>
          <p:cNvPr id="36868" name="Picture 4" descr="fig4_14"/>
          <p:cNvPicPr>
            <a:picLocks noChangeAspect="1" noChangeArrowheads="1"/>
          </p:cNvPicPr>
          <p:nvPr/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838200" y="1752600"/>
            <a:ext cx="7097713" cy="321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Traversal of a Binary Tree</a:t>
            </a:r>
            <a:endParaRPr lang="ur-PK" smtClean="0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/>
            <a:r>
              <a:rPr lang="en-US" sz="2400" smtClean="0"/>
              <a:t>Used to display/access the data in a tree in a certain order.</a:t>
            </a:r>
          </a:p>
          <a:p>
            <a:pPr algn="l" rtl="0" eaLnBrk="1" hangingPunct="1"/>
            <a:r>
              <a:rPr lang="en-US" sz="2400" smtClean="0"/>
              <a:t>In traversing always right sub-tree is traversed after left sub-tree.</a:t>
            </a:r>
          </a:p>
          <a:p>
            <a:pPr algn="l" rtl="0" eaLnBrk="1" hangingPunct="1"/>
            <a:r>
              <a:rPr lang="en-US" sz="2400" smtClean="0"/>
              <a:t>Three methods of traversing</a:t>
            </a:r>
          </a:p>
          <a:p>
            <a:pPr lvl="1" algn="l" rtl="0" eaLnBrk="1" hangingPunct="1"/>
            <a:r>
              <a:rPr lang="en-US" sz="2000" b="1" smtClean="0"/>
              <a:t>Preorder Traversing</a:t>
            </a:r>
            <a:endParaRPr lang="en-US" sz="2000" smtClean="0"/>
          </a:p>
          <a:p>
            <a:pPr lvl="2" algn="l" rtl="0" eaLnBrk="1" hangingPunct="1"/>
            <a:r>
              <a:rPr lang="en-US" sz="2000" smtClean="0"/>
              <a:t>Root – Left –Right</a:t>
            </a:r>
          </a:p>
          <a:p>
            <a:pPr lvl="1" algn="l" rtl="0" eaLnBrk="1" hangingPunct="1"/>
            <a:r>
              <a:rPr lang="en-US" sz="2000" b="1" smtClean="0"/>
              <a:t>Inorder Traversing</a:t>
            </a:r>
          </a:p>
          <a:p>
            <a:pPr lvl="2" algn="l" rtl="0" eaLnBrk="1" hangingPunct="1"/>
            <a:r>
              <a:rPr lang="en-US" sz="2000" smtClean="0"/>
              <a:t>Left – Root – Right</a:t>
            </a:r>
          </a:p>
          <a:p>
            <a:pPr lvl="1" algn="l" rtl="0" eaLnBrk="1" hangingPunct="1"/>
            <a:r>
              <a:rPr lang="en-US" sz="2000" b="1" smtClean="0"/>
              <a:t>Postorder Traversing</a:t>
            </a:r>
          </a:p>
          <a:p>
            <a:pPr lvl="2" algn="l" rtl="0" eaLnBrk="1" hangingPunct="1"/>
            <a:r>
              <a:rPr lang="en-US" sz="2000" smtClean="0"/>
              <a:t>Left – Right - Root </a:t>
            </a:r>
          </a:p>
          <a:p>
            <a:pPr lvl="2" algn="l" rtl="0" eaLnBrk="1" hangingPunct="1"/>
            <a:endParaRPr 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en-US" sz="4000" smtClean="0"/>
              <a:t>Preorder Traversal 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sz="2400" b="1" smtClean="0"/>
              <a:t>Preorder traversal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sz="2000" b="1" smtClean="0"/>
              <a:t>Node – Left – Right 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sz="2000" b="1" smtClean="0"/>
              <a:t>Prefix expression</a:t>
            </a:r>
          </a:p>
          <a:p>
            <a:pPr lvl="2" algn="l" rtl="0" eaLnBrk="1" hangingPunct="1">
              <a:lnSpc>
                <a:spcPct val="90000"/>
              </a:lnSpc>
            </a:pPr>
            <a:r>
              <a:rPr lang="en-US" sz="2000" b="1" smtClean="0"/>
              <a:t>++a*bc*+*defg</a:t>
            </a:r>
          </a:p>
        </p:txBody>
      </p:sp>
      <p:pic>
        <p:nvPicPr>
          <p:cNvPr id="38916" name="Picture 4" descr="fig4_1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>
          <a:xfrm>
            <a:off x="1295400" y="3505200"/>
            <a:ext cx="6096000" cy="27590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Inorder Traversal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sz="2400" b="1" smtClean="0"/>
              <a:t>Inorder traversal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sz="2000" b="1" smtClean="0"/>
              <a:t>left, node, right.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sz="2000" b="1" smtClean="0"/>
              <a:t>infix expression</a:t>
            </a:r>
          </a:p>
          <a:p>
            <a:pPr lvl="2" algn="l" rtl="0" eaLnBrk="1" hangingPunct="1">
              <a:lnSpc>
                <a:spcPct val="90000"/>
              </a:lnSpc>
            </a:pPr>
            <a:r>
              <a:rPr lang="en-US" sz="2000" b="1" smtClean="0"/>
              <a:t>a+b*c+d*e+f*g</a:t>
            </a:r>
          </a:p>
        </p:txBody>
      </p:sp>
      <p:pic>
        <p:nvPicPr>
          <p:cNvPr id="39940" name="Picture 4" descr="fig4_1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>
          <a:xfrm>
            <a:off x="1143000" y="3124200"/>
            <a:ext cx="6781800" cy="32004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Postorder Traversal</a:t>
            </a:r>
            <a:endParaRPr lang="ur-PK" smtClean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sz="2400" b="1" smtClean="0"/>
              <a:t>Postorder Traversal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sz="2000" b="1" smtClean="0"/>
              <a:t>left, right, node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sz="2000" b="1" smtClean="0"/>
              <a:t>postfix expression</a:t>
            </a:r>
          </a:p>
          <a:p>
            <a:pPr lvl="2" algn="l" rtl="0" eaLnBrk="1" hangingPunct="1">
              <a:lnSpc>
                <a:spcPct val="90000"/>
              </a:lnSpc>
            </a:pPr>
            <a:r>
              <a:rPr lang="en-US" sz="2000" b="1" smtClean="0"/>
              <a:t>abc*+de*f+g*+</a:t>
            </a:r>
          </a:p>
          <a:p>
            <a:pPr algn="l" rtl="0" eaLnBrk="1" hangingPunct="1">
              <a:buFontTx/>
              <a:buNone/>
            </a:pPr>
            <a:endParaRPr lang="ur-PK" smtClean="0"/>
          </a:p>
        </p:txBody>
      </p:sp>
      <p:pic>
        <p:nvPicPr>
          <p:cNvPr id="40964" name="Picture 4" descr="fig4_14"/>
          <p:cNvPicPr>
            <a:picLocks noChangeAspect="1" noChangeArrowheads="1"/>
          </p:cNvPicPr>
          <p:nvPr/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1295400" y="3048000"/>
            <a:ext cx="6781800" cy="321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Traversal Exercise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90600" y="2362200"/>
            <a:ext cx="7620000" cy="2667000"/>
            <a:chOff x="654" y="1728"/>
            <a:chExt cx="4800" cy="1680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238" y="1728"/>
              <a:ext cx="3216" cy="1680"/>
              <a:chOff x="1200" y="2304"/>
              <a:chExt cx="3312" cy="1728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1200" y="2304"/>
                <a:ext cx="3312" cy="1728"/>
                <a:chOff x="528" y="2352"/>
                <a:chExt cx="3312" cy="1728"/>
              </a:xfrm>
            </p:grpSpPr>
            <p:sp>
              <p:nvSpPr>
                <p:cNvPr id="41993" name="Oval 6"/>
                <p:cNvSpPr>
                  <a:spLocks noChangeArrowheads="1"/>
                </p:cNvSpPr>
                <p:nvPr/>
              </p:nvSpPr>
              <p:spPr bwMode="auto">
                <a:xfrm>
                  <a:off x="2208" y="2352"/>
                  <a:ext cx="240" cy="19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000">
                      <a:latin typeface="Times New Roman" pitchFamily="18" charset="0"/>
                    </a:rPr>
                    <a:t>14</a:t>
                  </a:r>
                </a:p>
              </p:txBody>
            </p:sp>
            <p:sp>
              <p:nvSpPr>
                <p:cNvPr id="41994" name="Oval 7"/>
                <p:cNvSpPr>
                  <a:spLocks noChangeArrowheads="1"/>
                </p:cNvSpPr>
                <p:nvPr/>
              </p:nvSpPr>
              <p:spPr bwMode="auto">
                <a:xfrm>
                  <a:off x="2640" y="2544"/>
                  <a:ext cx="240" cy="19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000">
                      <a:latin typeface="Times New Roman" pitchFamily="18" charset="0"/>
                    </a:rPr>
                    <a:t>15</a:t>
                  </a:r>
                </a:p>
              </p:txBody>
            </p:sp>
            <p:sp>
              <p:nvSpPr>
                <p:cNvPr id="41995" name="Oval 8"/>
                <p:cNvSpPr>
                  <a:spLocks noChangeArrowheads="1"/>
                </p:cNvSpPr>
                <p:nvPr/>
              </p:nvSpPr>
              <p:spPr bwMode="auto">
                <a:xfrm>
                  <a:off x="1536" y="2640"/>
                  <a:ext cx="240" cy="19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000">
                      <a:latin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41996" name="Oval 9"/>
                <p:cNvSpPr>
                  <a:spLocks noChangeArrowheads="1"/>
                </p:cNvSpPr>
                <p:nvPr/>
              </p:nvSpPr>
              <p:spPr bwMode="auto">
                <a:xfrm>
                  <a:off x="1872" y="2928"/>
                  <a:ext cx="240" cy="19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000">
                      <a:latin typeface="Times New Roman" pitchFamily="18" charset="0"/>
                    </a:rPr>
                    <a:t>9</a:t>
                  </a:r>
                </a:p>
              </p:txBody>
            </p:sp>
            <p:sp>
              <p:nvSpPr>
                <p:cNvPr id="41997" name="Oval 10"/>
                <p:cNvSpPr>
                  <a:spLocks noChangeArrowheads="1"/>
                </p:cNvSpPr>
                <p:nvPr/>
              </p:nvSpPr>
              <p:spPr bwMode="auto">
                <a:xfrm>
                  <a:off x="1008" y="2880"/>
                  <a:ext cx="240" cy="19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000">
                      <a:latin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41998" name="Line 11"/>
                <p:cNvSpPr>
                  <a:spLocks noChangeShapeType="1"/>
                </p:cNvSpPr>
                <p:nvPr/>
              </p:nvSpPr>
              <p:spPr bwMode="auto">
                <a:xfrm>
                  <a:off x="2448" y="2496"/>
                  <a:ext cx="192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999" name="Line 12"/>
                <p:cNvSpPr>
                  <a:spLocks noChangeShapeType="1"/>
                </p:cNvSpPr>
                <p:nvPr/>
              </p:nvSpPr>
              <p:spPr bwMode="auto">
                <a:xfrm>
                  <a:off x="1728" y="2832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000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1248" y="2784"/>
                  <a:ext cx="288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001" name="Line 14"/>
                <p:cNvSpPr>
                  <a:spLocks noChangeShapeType="1"/>
                </p:cNvSpPr>
                <p:nvPr/>
              </p:nvSpPr>
              <p:spPr bwMode="auto">
                <a:xfrm>
                  <a:off x="2832" y="2688"/>
                  <a:ext cx="336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" name="Group 15"/>
                <p:cNvGrpSpPr>
                  <a:grpSpLocks/>
                </p:cNvGrpSpPr>
                <p:nvPr/>
              </p:nvGrpSpPr>
              <p:grpSpPr bwMode="auto">
                <a:xfrm>
                  <a:off x="3120" y="2832"/>
                  <a:ext cx="720" cy="528"/>
                  <a:chOff x="3168" y="2880"/>
                  <a:chExt cx="720" cy="528"/>
                </a:xfrm>
              </p:grpSpPr>
              <p:sp>
                <p:nvSpPr>
                  <p:cNvPr id="42019" name="Oval 16"/>
                  <p:cNvSpPr>
                    <a:spLocks noChangeArrowheads="1"/>
                  </p:cNvSpPr>
                  <p:nvPr/>
                </p:nvSpPr>
                <p:spPr bwMode="auto">
                  <a:xfrm>
                    <a:off x="3168" y="2880"/>
                    <a:ext cx="240" cy="19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en-US" sz="2000">
                        <a:latin typeface="Times New Roman" pitchFamily="18" charset="0"/>
                      </a:rPr>
                      <a:t>18</a:t>
                    </a:r>
                  </a:p>
                </p:txBody>
              </p:sp>
              <p:sp>
                <p:nvSpPr>
                  <p:cNvPr id="42020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216"/>
                    <a:ext cx="240" cy="19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en-US" sz="2000">
                        <a:latin typeface="Times New Roman" pitchFamily="18" charset="0"/>
                      </a:rPr>
                      <a:t>20</a:t>
                    </a:r>
                  </a:p>
                </p:txBody>
              </p:sp>
              <p:sp>
                <p:nvSpPr>
                  <p:cNvPr id="42021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3360" y="3024"/>
                    <a:ext cx="336" cy="2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2003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1728" y="2448"/>
                  <a:ext cx="48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004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2928" y="2976"/>
                  <a:ext cx="192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005" name="Oval 21"/>
                <p:cNvSpPr>
                  <a:spLocks noChangeArrowheads="1"/>
                </p:cNvSpPr>
                <p:nvPr/>
              </p:nvSpPr>
              <p:spPr bwMode="auto">
                <a:xfrm>
                  <a:off x="2736" y="3264"/>
                  <a:ext cx="240" cy="19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000">
                      <a:latin typeface="Times New Roman" pitchFamily="18" charset="0"/>
                    </a:rPr>
                    <a:t>16</a:t>
                  </a:r>
                </a:p>
              </p:txBody>
            </p:sp>
            <p:sp>
              <p:nvSpPr>
                <p:cNvPr id="42006" name="Oval 22"/>
                <p:cNvSpPr>
                  <a:spLocks noChangeArrowheads="1"/>
                </p:cNvSpPr>
                <p:nvPr/>
              </p:nvSpPr>
              <p:spPr bwMode="auto">
                <a:xfrm>
                  <a:off x="3168" y="3648"/>
                  <a:ext cx="240" cy="19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000">
                      <a:latin typeface="Times New Roman" pitchFamily="18" charset="0"/>
                    </a:rPr>
                    <a:t>17</a:t>
                  </a:r>
                </a:p>
              </p:txBody>
            </p:sp>
            <p:sp>
              <p:nvSpPr>
                <p:cNvPr id="42007" name="Oval 23"/>
                <p:cNvSpPr>
                  <a:spLocks noChangeArrowheads="1"/>
                </p:cNvSpPr>
                <p:nvPr/>
              </p:nvSpPr>
              <p:spPr bwMode="auto">
                <a:xfrm>
                  <a:off x="2352" y="2928"/>
                  <a:ext cx="240" cy="19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000">
                      <a:latin typeface="Times New Roman" pitchFamily="18" charset="0"/>
                    </a:rPr>
                    <a:t>14</a:t>
                  </a:r>
                </a:p>
              </p:txBody>
            </p:sp>
            <p:sp>
              <p:nvSpPr>
                <p:cNvPr id="42008" name="Line 24"/>
                <p:cNvSpPr>
                  <a:spLocks noChangeShapeType="1"/>
                </p:cNvSpPr>
                <p:nvPr/>
              </p:nvSpPr>
              <p:spPr bwMode="auto">
                <a:xfrm>
                  <a:off x="2928" y="3456"/>
                  <a:ext cx="24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009" name="Line 25"/>
                <p:cNvSpPr>
                  <a:spLocks noChangeShapeType="1"/>
                </p:cNvSpPr>
                <p:nvPr/>
              </p:nvSpPr>
              <p:spPr bwMode="auto">
                <a:xfrm>
                  <a:off x="2016" y="3120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010" name="Oval 26"/>
                <p:cNvSpPr>
                  <a:spLocks noChangeArrowheads="1"/>
                </p:cNvSpPr>
                <p:nvPr/>
              </p:nvSpPr>
              <p:spPr bwMode="auto">
                <a:xfrm>
                  <a:off x="2112" y="3312"/>
                  <a:ext cx="240" cy="19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000">
                      <a:latin typeface="Times New Roman" pitchFamily="18" charset="0"/>
                    </a:rPr>
                    <a:t>9</a:t>
                  </a:r>
                </a:p>
              </p:txBody>
            </p:sp>
            <p:sp>
              <p:nvSpPr>
                <p:cNvPr id="42011" name="Oval 27"/>
                <p:cNvSpPr>
                  <a:spLocks noChangeArrowheads="1"/>
                </p:cNvSpPr>
                <p:nvPr/>
              </p:nvSpPr>
              <p:spPr bwMode="auto">
                <a:xfrm>
                  <a:off x="1440" y="3312"/>
                  <a:ext cx="240" cy="19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000">
                      <a:latin typeface="Times New Roman" pitchFamily="18" charset="0"/>
                    </a:rPr>
                    <a:t>7</a:t>
                  </a:r>
                </a:p>
              </p:txBody>
            </p:sp>
            <p:sp>
              <p:nvSpPr>
                <p:cNvPr id="42012" name="Oval 28"/>
                <p:cNvSpPr>
                  <a:spLocks noChangeArrowheads="1"/>
                </p:cNvSpPr>
                <p:nvPr/>
              </p:nvSpPr>
              <p:spPr bwMode="auto">
                <a:xfrm>
                  <a:off x="1008" y="3552"/>
                  <a:ext cx="240" cy="19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000">
                      <a:latin typeface="Times New Roman" pitchFamily="18" charset="0"/>
                    </a:rPr>
                    <a:t>5</a:t>
                  </a:r>
                </a:p>
              </p:txBody>
            </p:sp>
            <p:sp>
              <p:nvSpPr>
                <p:cNvPr id="42013" name="Oval 29"/>
                <p:cNvSpPr>
                  <a:spLocks noChangeArrowheads="1"/>
                </p:cNvSpPr>
                <p:nvPr/>
              </p:nvSpPr>
              <p:spPr bwMode="auto">
                <a:xfrm>
                  <a:off x="528" y="3840"/>
                  <a:ext cx="240" cy="19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000">
                      <a:latin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42014" name="Oval 30"/>
                <p:cNvSpPr>
                  <a:spLocks noChangeArrowheads="1"/>
                </p:cNvSpPr>
                <p:nvPr/>
              </p:nvSpPr>
              <p:spPr bwMode="auto">
                <a:xfrm>
                  <a:off x="1296" y="3888"/>
                  <a:ext cx="240" cy="19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000">
                      <a:latin typeface="Times New Roman" pitchFamily="18" charset="0"/>
                    </a:rPr>
                    <a:t>5</a:t>
                  </a:r>
                </a:p>
              </p:txBody>
            </p:sp>
            <p:sp>
              <p:nvSpPr>
                <p:cNvPr id="42015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1632" y="3072"/>
                  <a:ext cx="288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016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1200" y="3456"/>
                  <a:ext cx="24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017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720" y="3696"/>
                  <a:ext cx="288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018" name="Line 34"/>
                <p:cNvSpPr>
                  <a:spLocks noChangeShapeType="1"/>
                </p:cNvSpPr>
                <p:nvPr/>
              </p:nvSpPr>
              <p:spPr bwMode="auto">
                <a:xfrm>
                  <a:off x="1200" y="3696"/>
                  <a:ext cx="144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1992" name="Line 35"/>
              <p:cNvSpPr>
                <a:spLocks noChangeShapeType="1"/>
              </p:cNvSpPr>
              <p:nvPr/>
            </p:nvSpPr>
            <p:spPr bwMode="auto">
              <a:xfrm flipH="1">
                <a:off x="3216" y="2688"/>
                <a:ext cx="144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990" name="Text Box 36"/>
            <p:cNvSpPr txBox="1">
              <a:spLocks noChangeArrowheads="1"/>
            </p:cNvSpPr>
            <p:nvPr/>
          </p:nvSpPr>
          <p:spPr bwMode="auto">
            <a:xfrm>
              <a:off x="654" y="2736"/>
              <a:ext cx="1535" cy="6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80000"/>
                </a:lnSpc>
                <a:spcBef>
                  <a:spcPct val="35000"/>
                </a:spcBef>
              </a:pPr>
              <a:r>
                <a:rPr lang="en-US" sz="2000">
                  <a:latin typeface="Times New Roman" pitchFamily="18" charset="0"/>
                </a:rPr>
                <a:t>Pre-order Traversal?  </a:t>
              </a:r>
            </a:p>
            <a:p>
              <a:pPr algn="ctr" eaLnBrk="0" hangingPunct="0">
                <a:lnSpc>
                  <a:spcPct val="80000"/>
                </a:lnSpc>
                <a:spcBef>
                  <a:spcPct val="35000"/>
                </a:spcBef>
              </a:pPr>
              <a:r>
                <a:rPr lang="en-US" sz="2000">
                  <a:latin typeface="Times New Roman" pitchFamily="18" charset="0"/>
                </a:rPr>
                <a:t>Post-order Traversal? </a:t>
              </a:r>
            </a:p>
            <a:p>
              <a:pPr algn="ctr" eaLnBrk="0" hangingPunct="0">
                <a:lnSpc>
                  <a:spcPct val="80000"/>
                </a:lnSpc>
                <a:spcBef>
                  <a:spcPct val="35000"/>
                </a:spcBef>
              </a:pPr>
              <a:r>
                <a:rPr lang="en-US" sz="2000">
                  <a:latin typeface="Times New Roman" pitchFamily="18" charset="0"/>
                </a:rPr>
                <a:t>In-order Traversal?    </a:t>
              </a:r>
            </a:p>
          </p:txBody>
        </p:sp>
      </p:grpSp>
      <p:sp>
        <p:nvSpPr>
          <p:cNvPr id="41988" name="Text Box 37"/>
          <p:cNvSpPr txBox="1">
            <a:spLocks noChangeArrowheads="1"/>
          </p:cNvSpPr>
          <p:nvPr/>
        </p:nvSpPr>
        <p:spPr bwMode="auto">
          <a:xfrm>
            <a:off x="1219200" y="1676400"/>
            <a:ext cx="541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Traverse the following tree.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Binary Search Tree</a:t>
            </a:r>
            <a:endParaRPr lang="ur-PK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Binary Search Tree</a:t>
            </a:r>
            <a:endParaRPr lang="ur-PK" smtClean="0"/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sz="2400" b="1" smtClean="0"/>
              <a:t>Stores keys in the nodes in a way so that searching, insertion and deletion can be done efficiently.</a:t>
            </a:r>
            <a:endParaRPr lang="en-US" sz="2400" b="1" smtClean="0">
              <a:cs typeface="Times New Roman" pitchFamily="18" charset="0"/>
            </a:endParaRPr>
          </a:p>
          <a:p>
            <a:pPr algn="l" rtl="0"/>
            <a:endParaRPr lang="en-US" sz="2400" b="1" smtClean="0"/>
          </a:p>
          <a:p>
            <a:pPr algn="l" rtl="0"/>
            <a:r>
              <a:rPr lang="en-US" sz="2400" b="1" smtClean="0"/>
              <a:t>Binary search tree is either empty or each node N of tree satisfies the following property</a:t>
            </a:r>
          </a:p>
          <a:p>
            <a:pPr lvl="1" algn="l" rtl="0"/>
            <a:r>
              <a:rPr lang="en-US" sz="2200" b="1" smtClean="0"/>
              <a:t>The Key value in the left child is not more than the value of root</a:t>
            </a:r>
          </a:p>
          <a:p>
            <a:pPr lvl="1" algn="l" rtl="0"/>
            <a:r>
              <a:rPr lang="en-US" sz="2200" b="1" smtClean="0"/>
              <a:t>The key value in the right child is more than or identical to the value of root</a:t>
            </a:r>
          </a:p>
          <a:p>
            <a:pPr lvl="1" algn="l" rtl="0"/>
            <a:r>
              <a:rPr lang="en-US" sz="2200" b="1" smtClean="0"/>
              <a:t>All the sub-trees, i.e. left and right sub-trees follow the two rules mention above.</a:t>
            </a:r>
            <a:endParaRPr lang="ur-PK" sz="22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Examples</a:t>
            </a:r>
            <a:endParaRPr lang="ur-PK" smtClean="0"/>
          </a:p>
        </p:txBody>
      </p:sp>
      <p:pic>
        <p:nvPicPr>
          <p:cNvPr id="45059" name="Picture 4" descr="fig4_1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60000"/>
          </a:blip>
          <a:srcRect b="7988"/>
          <a:stretch>
            <a:fillRect/>
          </a:stretch>
        </p:blipFill>
        <p:spPr>
          <a:xfrm>
            <a:off x="533400" y="1905000"/>
            <a:ext cx="8167688" cy="3408363"/>
          </a:xfrm>
          <a:noFill/>
        </p:spPr>
      </p:pic>
      <p:sp>
        <p:nvSpPr>
          <p:cNvPr id="45060" name="Oval 7"/>
          <p:cNvSpPr>
            <a:spLocks noChangeArrowheads="1"/>
          </p:cNvSpPr>
          <p:nvPr/>
        </p:nvSpPr>
        <p:spPr bwMode="auto">
          <a:xfrm>
            <a:off x="7467600" y="4800600"/>
            <a:ext cx="457200" cy="457200"/>
          </a:xfrm>
          <a:prstGeom prst="ellips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762000" y="5318125"/>
            <a:ext cx="2393950" cy="369888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rtl="0">
              <a:buFont typeface="Monotype Sorts" pitchFamily="2" charset="2"/>
              <a:buNone/>
            </a:pPr>
            <a:r>
              <a:rPr lang="en-US" b="1"/>
              <a:t>A binary search tree</a:t>
            </a:r>
          </a:p>
        </p:txBody>
      </p: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5797550" y="5394325"/>
            <a:ext cx="2813050" cy="369888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rtl="0">
              <a:buFont typeface="Monotype Sorts" pitchFamily="2" charset="2"/>
              <a:buNone/>
            </a:pPr>
            <a:r>
              <a:rPr lang="en-US" b="1"/>
              <a:t>Not a binary search tree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2</a:t>
            </a:r>
            <a:endParaRPr lang="ur-PK" smtClean="0"/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600200"/>
            <a:ext cx="73152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4" name="Text Box 6"/>
          <p:cNvSpPr txBox="1">
            <a:spLocks noChangeArrowheads="1"/>
          </p:cNvSpPr>
          <p:nvPr/>
        </p:nvSpPr>
        <p:spPr bwMode="auto">
          <a:xfrm>
            <a:off x="1143000" y="1524000"/>
            <a:ext cx="7086600" cy="400050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 rtl="0">
              <a:buFont typeface="Monotype Sorts" pitchFamily="2" charset="2"/>
              <a:buNone/>
            </a:pPr>
            <a:r>
              <a:rPr lang="en-US" sz="2000" b="1"/>
              <a:t>Two binary search trees representing the same Data set: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pPr rtl="0"/>
            <a:r>
              <a:rPr lang="en-US" smtClean="0"/>
              <a:t>Example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7630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 algn="l" rtl="0">
              <a:buFont typeface="Wingdings" pitchFamily="2" charset="2"/>
              <a:buNone/>
            </a:pPr>
            <a:r>
              <a:rPr lang="en-US" smtClean="0"/>
              <a:t>   </a:t>
            </a:r>
            <a:r>
              <a:rPr lang="en-US" smtClean="0">
                <a:solidFill>
                  <a:srgbClr val="FF0000"/>
                </a:solidFill>
              </a:rPr>
              <a:t>14</a:t>
            </a:r>
            <a:r>
              <a:rPr lang="en-US" smtClean="0"/>
              <a:t>  15  4  9  7  18  3  5  16  4  20  17  9  14  5</a:t>
            </a:r>
          </a:p>
        </p:txBody>
      </p:sp>
      <p:sp>
        <p:nvSpPr>
          <p:cNvPr id="47108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 algn="l" rtl="0">
              <a:buFont typeface="Wingdings" pitchFamily="2" charset="2"/>
              <a:buNone/>
            </a:pPr>
            <a:r>
              <a:rPr lang="en-US" smtClean="0"/>
              <a:t>   14  </a:t>
            </a:r>
            <a:r>
              <a:rPr lang="en-US" smtClean="0">
                <a:solidFill>
                  <a:srgbClr val="FF0000"/>
                </a:solidFill>
              </a:rPr>
              <a:t>15</a:t>
            </a:r>
            <a:r>
              <a:rPr lang="en-US" smtClean="0"/>
              <a:t>  4  9  7  18  3  5  16  4  20  17  9  14  5</a:t>
            </a:r>
          </a:p>
        </p:txBody>
      </p:sp>
      <p:sp>
        <p:nvSpPr>
          <p:cNvPr id="48132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48133" name="Oval 13"/>
          <p:cNvSpPr>
            <a:spLocks noChangeArrowheads="1"/>
          </p:cNvSpPr>
          <p:nvPr/>
        </p:nvSpPr>
        <p:spPr bwMode="auto">
          <a:xfrm>
            <a:off x="6781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48134" name="Line 27"/>
          <p:cNvSpPr>
            <a:spLocks noChangeShapeType="1"/>
          </p:cNvSpPr>
          <p:nvPr/>
        </p:nvSpPr>
        <p:spPr bwMode="auto">
          <a:xfrm>
            <a:off x="4495800" y="2362200"/>
            <a:ext cx="2362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 algn="l" rtl="0">
              <a:buFont typeface="Wingdings" pitchFamily="2" charset="2"/>
              <a:buNone/>
            </a:pPr>
            <a:r>
              <a:rPr lang="en-US" smtClean="0"/>
              <a:t>   14  15  </a:t>
            </a:r>
            <a:r>
              <a:rPr lang="en-US" smtClean="0">
                <a:solidFill>
                  <a:srgbClr val="FF0000"/>
                </a:solidFill>
              </a:rPr>
              <a:t>4</a:t>
            </a:r>
            <a:r>
              <a:rPr lang="en-US" smtClean="0"/>
              <a:t>  9  7  18  3  5  16  4  20  17  9  14  5</a:t>
            </a:r>
          </a:p>
        </p:txBody>
      </p:sp>
      <p:sp>
        <p:nvSpPr>
          <p:cNvPr id="49156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49157" name="Oval 5"/>
          <p:cNvSpPr>
            <a:spLocks noChangeArrowheads="1"/>
          </p:cNvSpPr>
          <p:nvPr/>
        </p:nvSpPr>
        <p:spPr bwMode="auto">
          <a:xfrm>
            <a:off x="1447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49158" name="Oval 13"/>
          <p:cNvSpPr>
            <a:spLocks noChangeArrowheads="1"/>
          </p:cNvSpPr>
          <p:nvPr/>
        </p:nvSpPr>
        <p:spPr bwMode="auto">
          <a:xfrm>
            <a:off x="6781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49159" name="Line 19"/>
          <p:cNvSpPr>
            <a:spLocks noChangeShapeType="1"/>
          </p:cNvSpPr>
          <p:nvPr/>
        </p:nvSpPr>
        <p:spPr bwMode="auto">
          <a:xfrm flipH="1">
            <a:off x="1828800" y="2362200"/>
            <a:ext cx="2286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9160" name="Line 27"/>
          <p:cNvSpPr>
            <a:spLocks noChangeShapeType="1"/>
          </p:cNvSpPr>
          <p:nvPr/>
        </p:nvSpPr>
        <p:spPr bwMode="auto">
          <a:xfrm>
            <a:off x="4495800" y="2362200"/>
            <a:ext cx="2362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838200"/>
            <a:ext cx="87630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>
              <a:buFont typeface="Wingdings" pitchFamily="2" charset="2"/>
              <a:buNone/>
            </a:pPr>
            <a:r>
              <a:rPr lang="en-US" smtClean="0"/>
              <a:t>   14  15  4  </a:t>
            </a:r>
            <a:r>
              <a:rPr lang="en-US" smtClean="0">
                <a:solidFill>
                  <a:srgbClr val="FF0000"/>
                </a:solidFill>
              </a:rPr>
              <a:t>9</a:t>
            </a:r>
            <a:r>
              <a:rPr lang="en-US" smtClean="0"/>
              <a:t>  7  18  3  5  16  4  20  17  9  14  5</a:t>
            </a:r>
          </a:p>
        </p:txBody>
      </p:sp>
      <p:sp>
        <p:nvSpPr>
          <p:cNvPr id="50180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50181" name="Oval 5"/>
          <p:cNvSpPr>
            <a:spLocks noChangeArrowheads="1"/>
          </p:cNvSpPr>
          <p:nvPr/>
        </p:nvSpPr>
        <p:spPr bwMode="auto">
          <a:xfrm>
            <a:off x="1447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50182" name="Oval 7"/>
          <p:cNvSpPr>
            <a:spLocks noChangeArrowheads="1"/>
          </p:cNvSpPr>
          <p:nvPr/>
        </p:nvSpPr>
        <p:spPr bwMode="auto">
          <a:xfrm>
            <a:off x="21336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50183" name="Oval 13"/>
          <p:cNvSpPr>
            <a:spLocks noChangeArrowheads="1"/>
          </p:cNvSpPr>
          <p:nvPr/>
        </p:nvSpPr>
        <p:spPr bwMode="auto">
          <a:xfrm>
            <a:off x="6781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50184" name="Line 19"/>
          <p:cNvSpPr>
            <a:spLocks noChangeShapeType="1"/>
          </p:cNvSpPr>
          <p:nvPr/>
        </p:nvSpPr>
        <p:spPr bwMode="auto">
          <a:xfrm flipH="1">
            <a:off x="1828800" y="2362200"/>
            <a:ext cx="2286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0185" name="Line 21"/>
          <p:cNvSpPr>
            <a:spLocks noChangeShapeType="1"/>
          </p:cNvSpPr>
          <p:nvPr/>
        </p:nvSpPr>
        <p:spPr bwMode="auto">
          <a:xfrm>
            <a:off x="1752600" y="3200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0186" name="Line 27"/>
          <p:cNvSpPr>
            <a:spLocks noChangeShapeType="1"/>
          </p:cNvSpPr>
          <p:nvPr/>
        </p:nvSpPr>
        <p:spPr bwMode="auto">
          <a:xfrm>
            <a:off x="4495800" y="2362200"/>
            <a:ext cx="2362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 algn="l" rtl="0">
              <a:buFont typeface="Wingdings" pitchFamily="2" charset="2"/>
              <a:buNone/>
            </a:pPr>
            <a:r>
              <a:rPr lang="en-US" smtClean="0"/>
              <a:t>   14  15  4  9  </a:t>
            </a:r>
            <a:r>
              <a:rPr lang="en-US" smtClean="0">
                <a:solidFill>
                  <a:srgbClr val="FF0000"/>
                </a:solidFill>
              </a:rPr>
              <a:t>7</a:t>
            </a:r>
            <a:r>
              <a:rPr lang="en-US" smtClean="0"/>
              <a:t>  18  3  5  16  4  20  17  9  14  5</a:t>
            </a:r>
          </a:p>
        </p:txBody>
      </p:sp>
      <p:sp>
        <p:nvSpPr>
          <p:cNvPr id="51204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51205" name="Oval 5"/>
          <p:cNvSpPr>
            <a:spLocks noChangeArrowheads="1"/>
          </p:cNvSpPr>
          <p:nvPr/>
        </p:nvSpPr>
        <p:spPr bwMode="auto">
          <a:xfrm>
            <a:off x="1447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51206" name="Oval 7"/>
          <p:cNvSpPr>
            <a:spLocks noChangeArrowheads="1"/>
          </p:cNvSpPr>
          <p:nvPr/>
        </p:nvSpPr>
        <p:spPr bwMode="auto">
          <a:xfrm>
            <a:off x="21336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51207" name="Oval 8"/>
          <p:cNvSpPr>
            <a:spLocks noChangeArrowheads="1"/>
          </p:cNvSpPr>
          <p:nvPr/>
        </p:nvSpPr>
        <p:spPr bwMode="auto">
          <a:xfrm>
            <a:off x="1752600" y="4495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7</a:t>
            </a:r>
          </a:p>
        </p:txBody>
      </p:sp>
      <p:sp>
        <p:nvSpPr>
          <p:cNvPr id="51208" name="Oval 13"/>
          <p:cNvSpPr>
            <a:spLocks noChangeArrowheads="1"/>
          </p:cNvSpPr>
          <p:nvPr/>
        </p:nvSpPr>
        <p:spPr bwMode="auto">
          <a:xfrm>
            <a:off x="6781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51209" name="Line 19"/>
          <p:cNvSpPr>
            <a:spLocks noChangeShapeType="1"/>
          </p:cNvSpPr>
          <p:nvPr/>
        </p:nvSpPr>
        <p:spPr bwMode="auto">
          <a:xfrm flipH="1">
            <a:off x="1828800" y="2362200"/>
            <a:ext cx="2286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210" name="Line 21"/>
          <p:cNvSpPr>
            <a:spLocks noChangeShapeType="1"/>
          </p:cNvSpPr>
          <p:nvPr/>
        </p:nvSpPr>
        <p:spPr bwMode="auto">
          <a:xfrm>
            <a:off x="1752600" y="3200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211" name="Line 22"/>
          <p:cNvSpPr>
            <a:spLocks noChangeShapeType="1"/>
          </p:cNvSpPr>
          <p:nvPr/>
        </p:nvSpPr>
        <p:spPr bwMode="auto">
          <a:xfrm flipH="1">
            <a:off x="1905000" y="40386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212" name="Line 27"/>
          <p:cNvSpPr>
            <a:spLocks noChangeShapeType="1"/>
          </p:cNvSpPr>
          <p:nvPr/>
        </p:nvSpPr>
        <p:spPr bwMode="auto">
          <a:xfrm>
            <a:off x="4495800" y="2362200"/>
            <a:ext cx="2362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 algn="l" rtl="0">
              <a:buFont typeface="Wingdings" pitchFamily="2" charset="2"/>
              <a:buNone/>
            </a:pPr>
            <a:r>
              <a:rPr lang="en-US" smtClean="0"/>
              <a:t>   14  15  4  9  7  </a:t>
            </a:r>
            <a:r>
              <a:rPr lang="en-US" smtClean="0">
                <a:solidFill>
                  <a:srgbClr val="FF0000"/>
                </a:solidFill>
              </a:rPr>
              <a:t>18</a:t>
            </a:r>
            <a:r>
              <a:rPr lang="en-US" smtClean="0"/>
              <a:t>  3  5  16  4  20  17  9  14  5</a:t>
            </a:r>
          </a:p>
        </p:txBody>
      </p:sp>
      <p:sp>
        <p:nvSpPr>
          <p:cNvPr id="52228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52229" name="Oval 5"/>
          <p:cNvSpPr>
            <a:spLocks noChangeArrowheads="1"/>
          </p:cNvSpPr>
          <p:nvPr/>
        </p:nvSpPr>
        <p:spPr bwMode="auto">
          <a:xfrm>
            <a:off x="1447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52230" name="Oval 7"/>
          <p:cNvSpPr>
            <a:spLocks noChangeArrowheads="1"/>
          </p:cNvSpPr>
          <p:nvPr/>
        </p:nvSpPr>
        <p:spPr bwMode="auto">
          <a:xfrm>
            <a:off x="21336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52231" name="Oval 13"/>
          <p:cNvSpPr>
            <a:spLocks noChangeArrowheads="1"/>
          </p:cNvSpPr>
          <p:nvPr/>
        </p:nvSpPr>
        <p:spPr bwMode="auto">
          <a:xfrm>
            <a:off x="6781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52232" name="Oval 15"/>
          <p:cNvSpPr>
            <a:spLocks noChangeArrowheads="1"/>
          </p:cNvSpPr>
          <p:nvPr/>
        </p:nvSpPr>
        <p:spPr bwMode="auto">
          <a:xfrm>
            <a:off x="7543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18</a:t>
            </a:r>
          </a:p>
        </p:txBody>
      </p:sp>
      <p:sp>
        <p:nvSpPr>
          <p:cNvPr id="52233" name="Line 19"/>
          <p:cNvSpPr>
            <a:spLocks noChangeShapeType="1"/>
          </p:cNvSpPr>
          <p:nvPr/>
        </p:nvSpPr>
        <p:spPr bwMode="auto">
          <a:xfrm flipH="1">
            <a:off x="1828800" y="2362200"/>
            <a:ext cx="2286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2234" name="Line 21"/>
          <p:cNvSpPr>
            <a:spLocks noChangeShapeType="1"/>
          </p:cNvSpPr>
          <p:nvPr/>
        </p:nvSpPr>
        <p:spPr bwMode="auto">
          <a:xfrm>
            <a:off x="1752600" y="3200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2235" name="Line 27"/>
          <p:cNvSpPr>
            <a:spLocks noChangeShapeType="1"/>
          </p:cNvSpPr>
          <p:nvPr/>
        </p:nvSpPr>
        <p:spPr bwMode="auto">
          <a:xfrm>
            <a:off x="4495800" y="2362200"/>
            <a:ext cx="2362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2236" name="Line 29"/>
          <p:cNvSpPr>
            <a:spLocks noChangeShapeType="1"/>
          </p:cNvSpPr>
          <p:nvPr/>
        </p:nvSpPr>
        <p:spPr bwMode="auto">
          <a:xfrm>
            <a:off x="70104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2237" name="Oval 33"/>
          <p:cNvSpPr>
            <a:spLocks noChangeArrowheads="1"/>
          </p:cNvSpPr>
          <p:nvPr/>
        </p:nvSpPr>
        <p:spPr bwMode="auto">
          <a:xfrm>
            <a:off x="1752600" y="4495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7</a:t>
            </a:r>
          </a:p>
        </p:txBody>
      </p:sp>
      <p:sp>
        <p:nvSpPr>
          <p:cNvPr id="52238" name="Line 34"/>
          <p:cNvSpPr>
            <a:spLocks noChangeShapeType="1"/>
          </p:cNvSpPr>
          <p:nvPr/>
        </p:nvSpPr>
        <p:spPr bwMode="auto">
          <a:xfrm flipH="1">
            <a:off x="1905000" y="40386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 algn="l" rtl="0">
              <a:buFont typeface="Wingdings" pitchFamily="2" charset="2"/>
              <a:buNone/>
            </a:pPr>
            <a:r>
              <a:rPr lang="en-US" smtClean="0"/>
              <a:t>   14  15  4  9  7  18  </a:t>
            </a:r>
            <a:r>
              <a:rPr lang="en-US" smtClean="0">
                <a:solidFill>
                  <a:srgbClr val="FF0000"/>
                </a:solidFill>
              </a:rPr>
              <a:t>3</a:t>
            </a:r>
            <a:r>
              <a:rPr lang="en-US" smtClean="0"/>
              <a:t>  5  16  4  20  17  9  14  5</a:t>
            </a:r>
          </a:p>
        </p:txBody>
      </p:sp>
      <p:sp>
        <p:nvSpPr>
          <p:cNvPr id="53252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53253" name="Oval 5"/>
          <p:cNvSpPr>
            <a:spLocks noChangeArrowheads="1"/>
          </p:cNvSpPr>
          <p:nvPr/>
        </p:nvSpPr>
        <p:spPr bwMode="auto">
          <a:xfrm>
            <a:off x="1447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53254" name="Oval 6"/>
          <p:cNvSpPr>
            <a:spLocks noChangeArrowheads="1"/>
          </p:cNvSpPr>
          <p:nvPr/>
        </p:nvSpPr>
        <p:spPr bwMode="auto">
          <a:xfrm>
            <a:off x="685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3</a:t>
            </a:r>
          </a:p>
        </p:txBody>
      </p:sp>
      <p:sp>
        <p:nvSpPr>
          <p:cNvPr id="53255" name="Oval 7"/>
          <p:cNvSpPr>
            <a:spLocks noChangeArrowheads="1"/>
          </p:cNvSpPr>
          <p:nvPr/>
        </p:nvSpPr>
        <p:spPr bwMode="auto">
          <a:xfrm>
            <a:off x="21336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53256" name="Oval 13"/>
          <p:cNvSpPr>
            <a:spLocks noChangeArrowheads="1"/>
          </p:cNvSpPr>
          <p:nvPr/>
        </p:nvSpPr>
        <p:spPr bwMode="auto">
          <a:xfrm>
            <a:off x="6781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53257" name="Oval 15"/>
          <p:cNvSpPr>
            <a:spLocks noChangeArrowheads="1"/>
          </p:cNvSpPr>
          <p:nvPr/>
        </p:nvSpPr>
        <p:spPr bwMode="auto">
          <a:xfrm>
            <a:off x="7543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18</a:t>
            </a:r>
          </a:p>
        </p:txBody>
      </p:sp>
      <p:sp>
        <p:nvSpPr>
          <p:cNvPr id="53258" name="Line 19"/>
          <p:cNvSpPr>
            <a:spLocks noChangeShapeType="1"/>
          </p:cNvSpPr>
          <p:nvPr/>
        </p:nvSpPr>
        <p:spPr bwMode="auto">
          <a:xfrm flipH="1">
            <a:off x="1828800" y="2362200"/>
            <a:ext cx="2286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3259" name="Line 20"/>
          <p:cNvSpPr>
            <a:spLocks noChangeShapeType="1"/>
          </p:cNvSpPr>
          <p:nvPr/>
        </p:nvSpPr>
        <p:spPr bwMode="auto">
          <a:xfrm flipH="1">
            <a:off x="8382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3260" name="Line 21"/>
          <p:cNvSpPr>
            <a:spLocks noChangeShapeType="1"/>
          </p:cNvSpPr>
          <p:nvPr/>
        </p:nvSpPr>
        <p:spPr bwMode="auto">
          <a:xfrm>
            <a:off x="1752600" y="3200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3261" name="Line 27"/>
          <p:cNvSpPr>
            <a:spLocks noChangeShapeType="1"/>
          </p:cNvSpPr>
          <p:nvPr/>
        </p:nvSpPr>
        <p:spPr bwMode="auto">
          <a:xfrm>
            <a:off x="4495800" y="2362200"/>
            <a:ext cx="2362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3262" name="Line 29"/>
          <p:cNvSpPr>
            <a:spLocks noChangeShapeType="1"/>
          </p:cNvSpPr>
          <p:nvPr/>
        </p:nvSpPr>
        <p:spPr bwMode="auto">
          <a:xfrm>
            <a:off x="70104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3263" name="Oval 33"/>
          <p:cNvSpPr>
            <a:spLocks noChangeArrowheads="1"/>
          </p:cNvSpPr>
          <p:nvPr/>
        </p:nvSpPr>
        <p:spPr bwMode="auto">
          <a:xfrm>
            <a:off x="1752600" y="4495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7</a:t>
            </a:r>
          </a:p>
        </p:txBody>
      </p:sp>
      <p:sp>
        <p:nvSpPr>
          <p:cNvPr id="53264" name="Line 34"/>
          <p:cNvSpPr>
            <a:spLocks noChangeShapeType="1"/>
          </p:cNvSpPr>
          <p:nvPr/>
        </p:nvSpPr>
        <p:spPr bwMode="auto">
          <a:xfrm flipH="1">
            <a:off x="1905000" y="40386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 algn="l" rtl="0">
              <a:buFont typeface="Wingdings" pitchFamily="2" charset="2"/>
              <a:buNone/>
            </a:pPr>
            <a:r>
              <a:rPr lang="en-US" smtClean="0"/>
              <a:t>   14  15  4  9  7  18  3  </a:t>
            </a:r>
            <a:r>
              <a:rPr lang="en-US" smtClean="0">
                <a:solidFill>
                  <a:srgbClr val="FF0000"/>
                </a:solidFill>
              </a:rPr>
              <a:t>5</a:t>
            </a:r>
            <a:r>
              <a:rPr lang="en-US" smtClean="0"/>
              <a:t>  16  4  20  17  9  14  5</a:t>
            </a:r>
          </a:p>
        </p:txBody>
      </p:sp>
      <p:sp>
        <p:nvSpPr>
          <p:cNvPr id="54276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54277" name="Oval 5"/>
          <p:cNvSpPr>
            <a:spLocks noChangeArrowheads="1"/>
          </p:cNvSpPr>
          <p:nvPr/>
        </p:nvSpPr>
        <p:spPr bwMode="auto">
          <a:xfrm>
            <a:off x="1447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54278" name="Oval 6"/>
          <p:cNvSpPr>
            <a:spLocks noChangeArrowheads="1"/>
          </p:cNvSpPr>
          <p:nvPr/>
        </p:nvSpPr>
        <p:spPr bwMode="auto">
          <a:xfrm>
            <a:off x="685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3</a:t>
            </a:r>
          </a:p>
        </p:txBody>
      </p:sp>
      <p:sp>
        <p:nvSpPr>
          <p:cNvPr id="54279" name="Oval 7"/>
          <p:cNvSpPr>
            <a:spLocks noChangeArrowheads="1"/>
          </p:cNvSpPr>
          <p:nvPr/>
        </p:nvSpPr>
        <p:spPr bwMode="auto">
          <a:xfrm>
            <a:off x="21336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54280" name="Oval 8"/>
          <p:cNvSpPr>
            <a:spLocks noChangeArrowheads="1"/>
          </p:cNvSpPr>
          <p:nvPr/>
        </p:nvSpPr>
        <p:spPr bwMode="auto">
          <a:xfrm>
            <a:off x="1752600" y="4495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7</a:t>
            </a:r>
          </a:p>
        </p:txBody>
      </p:sp>
      <p:sp>
        <p:nvSpPr>
          <p:cNvPr id="54281" name="Oval 10"/>
          <p:cNvSpPr>
            <a:spLocks noChangeArrowheads="1"/>
          </p:cNvSpPr>
          <p:nvPr/>
        </p:nvSpPr>
        <p:spPr bwMode="auto">
          <a:xfrm>
            <a:off x="1219200" y="5486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5</a:t>
            </a:r>
          </a:p>
        </p:txBody>
      </p:sp>
      <p:sp>
        <p:nvSpPr>
          <p:cNvPr id="54282" name="Oval 13"/>
          <p:cNvSpPr>
            <a:spLocks noChangeArrowheads="1"/>
          </p:cNvSpPr>
          <p:nvPr/>
        </p:nvSpPr>
        <p:spPr bwMode="auto">
          <a:xfrm>
            <a:off x="6781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54283" name="Oval 15"/>
          <p:cNvSpPr>
            <a:spLocks noChangeArrowheads="1"/>
          </p:cNvSpPr>
          <p:nvPr/>
        </p:nvSpPr>
        <p:spPr bwMode="auto">
          <a:xfrm>
            <a:off x="7543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18</a:t>
            </a:r>
          </a:p>
        </p:txBody>
      </p:sp>
      <p:sp>
        <p:nvSpPr>
          <p:cNvPr id="54284" name="Line 19"/>
          <p:cNvSpPr>
            <a:spLocks noChangeShapeType="1"/>
          </p:cNvSpPr>
          <p:nvPr/>
        </p:nvSpPr>
        <p:spPr bwMode="auto">
          <a:xfrm flipH="1">
            <a:off x="1828800" y="2362200"/>
            <a:ext cx="2286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4285" name="Line 20"/>
          <p:cNvSpPr>
            <a:spLocks noChangeShapeType="1"/>
          </p:cNvSpPr>
          <p:nvPr/>
        </p:nvSpPr>
        <p:spPr bwMode="auto">
          <a:xfrm flipH="1">
            <a:off x="8382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4286" name="Line 21"/>
          <p:cNvSpPr>
            <a:spLocks noChangeShapeType="1"/>
          </p:cNvSpPr>
          <p:nvPr/>
        </p:nvSpPr>
        <p:spPr bwMode="auto">
          <a:xfrm>
            <a:off x="1752600" y="3200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4287" name="Line 24"/>
          <p:cNvSpPr>
            <a:spLocks noChangeShapeType="1"/>
          </p:cNvSpPr>
          <p:nvPr/>
        </p:nvSpPr>
        <p:spPr bwMode="auto">
          <a:xfrm flipH="1">
            <a:off x="1447800" y="48006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4288" name="Line 27"/>
          <p:cNvSpPr>
            <a:spLocks noChangeShapeType="1"/>
          </p:cNvSpPr>
          <p:nvPr/>
        </p:nvSpPr>
        <p:spPr bwMode="auto">
          <a:xfrm>
            <a:off x="4495800" y="2362200"/>
            <a:ext cx="2362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4289" name="Line 29"/>
          <p:cNvSpPr>
            <a:spLocks noChangeShapeType="1"/>
          </p:cNvSpPr>
          <p:nvPr/>
        </p:nvSpPr>
        <p:spPr bwMode="auto">
          <a:xfrm>
            <a:off x="70104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4290" name="Line 33"/>
          <p:cNvSpPr>
            <a:spLocks noChangeShapeType="1"/>
          </p:cNvSpPr>
          <p:nvPr/>
        </p:nvSpPr>
        <p:spPr bwMode="auto">
          <a:xfrm flipH="1">
            <a:off x="1905000" y="40386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 algn="l" rtl="0">
              <a:buFont typeface="Wingdings" pitchFamily="2" charset="2"/>
              <a:buNone/>
            </a:pPr>
            <a:r>
              <a:rPr lang="en-US" smtClean="0"/>
              <a:t>   14  15  4  9  7  18  3  5  </a:t>
            </a:r>
            <a:r>
              <a:rPr lang="en-US" smtClean="0">
                <a:solidFill>
                  <a:srgbClr val="FF0000"/>
                </a:solidFill>
              </a:rPr>
              <a:t>16</a:t>
            </a:r>
            <a:r>
              <a:rPr lang="en-US" smtClean="0"/>
              <a:t>  4  20  17  9  14  5</a:t>
            </a:r>
          </a:p>
        </p:txBody>
      </p:sp>
      <p:sp>
        <p:nvSpPr>
          <p:cNvPr id="55300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55301" name="Oval 5"/>
          <p:cNvSpPr>
            <a:spLocks noChangeArrowheads="1"/>
          </p:cNvSpPr>
          <p:nvPr/>
        </p:nvSpPr>
        <p:spPr bwMode="auto">
          <a:xfrm>
            <a:off x="1447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55302" name="Oval 6"/>
          <p:cNvSpPr>
            <a:spLocks noChangeArrowheads="1"/>
          </p:cNvSpPr>
          <p:nvPr/>
        </p:nvSpPr>
        <p:spPr bwMode="auto">
          <a:xfrm>
            <a:off x="685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3</a:t>
            </a:r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21336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1752600" y="4495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7</a:t>
            </a:r>
          </a:p>
        </p:txBody>
      </p:sp>
      <p:sp>
        <p:nvSpPr>
          <p:cNvPr id="55305" name="Oval 10"/>
          <p:cNvSpPr>
            <a:spLocks noChangeArrowheads="1"/>
          </p:cNvSpPr>
          <p:nvPr/>
        </p:nvSpPr>
        <p:spPr bwMode="auto">
          <a:xfrm>
            <a:off x="1219200" y="5486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5</a:t>
            </a:r>
          </a:p>
        </p:txBody>
      </p:sp>
      <p:sp>
        <p:nvSpPr>
          <p:cNvPr id="55306" name="Oval 13"/>
          <p:cNvSpPr>
            <a:spLocks noChangeArrowheads="1"/>
          </p:cNvSpPr>
          <p:nvPr/>
        </p:nvSpPr>
        <p:spPr bwMode="auto">
          <a:xfrm>
            <a:off x="6781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55307" name="Oval 15"/>
          <p:cNvSpPr>
            <a:spLocks noChangeArrowheads="1"/>
          </p:cNvSpPr>
          <p:nvPr/>
        </p:nvSpPr>
        <p:spPr bwMode="auto">
          <a:xfrm>
            <a:off x="7543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18</a:t>
            </a:r>
          </a:p>
        </p:txBody>
      </p:sp>
      <p:sp>
        <p:nvSpPr>
          <p:cNvPr id="55308" name="Oval 16"/>
          <p:cNvSpPr>
            <a:spLocks noChangeArrowheads="1"/>
          </p:cNvSpPr>
          <p:nvPr/>
        </p:nvSpPr>
        <p:spPr bwMode="auto">
          <a:xfrm>
            <a:off x="6934200" y="4419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16</a:t>
            </a:r>
          </a:p>
        </p:txBody>
      </p:sp>
      <p:sp>
        <p:nvSpPr>
          <p:cNvPr id="55309" name="Line 19"/>
          <p:cNvSpPr>
            <a:spLocks noChangeShapeType="1"/>
          </p:cNvSpPr>
          <p:nvPr/>
        </p:nvSpPr>
        <p:spPr bwMode="auto">
          <a:xfrm flipH="1">
            <a:off x="1828800" y="2362200"/>
            <a:ext cx="2286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10" name="Line 20"/>
          <p:cNvSpPr>
            <a:spLocks noChangeShapeType="1"/>
          </p:cNvSpPr>
          <p:nvPr/>
        </p:nvSpPr>
        <p:spPr bwMode="auto">
          <a:xfrm flipH="1">
            <a:off x="8382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11" name="Line 21"/>
          <p:cNvSpPr>
            <a:spLocks noChangeShapeType="1"/>
          </p:cNvSpPr>
          <p:nvPr/>
        </p:nvSpPr>
        <p:spPr bwMode="auto">
          <a:xfrm>
            <a:off x="1752600" y="3200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12" name="Line 22"/>
          <p:cNvSpPr>
            <a:spLocks noChangeShapeType="1"/>
          </p:cNvSpPr>
          <p:nvPr/>
        </p:nvSpPr>
        <p:spPr bwMode="auto">
          <a:xfrm flipH="1">
            <a:off x="1905000" y="40386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13" name="Line 24"/>
          <p:cNvSpPr>
            <a:spLocks noChangeShapeType="1"/>
          </p:cNvSpPr>
          <p:nvPr/>
        </p:nvSpPr>
        <p:spPr bwMode="auto">
          <a:xfrm flipH="1">
            <a:off x="1447800" y="48006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14" name="Line 27"/>
          <p:cNvSpPr>
            <a:spLocks noChangeShapeType="1"/>
          </p:cNvSpPr>
          <p:nvPr/>
        </p:nvSpPr>
        <p:spPr bwMode="auto">
          <a:xfrm>
            <a:off x="4495800" y="2362200"/>
            <a:ext cx="2362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15" name="Line 29"/>
          <p:cNvSpPr>
            <a:spLocks noChangeShapeType="1"/>
          </p:cNvSpPr>
          <p:nvPr/>
        </p:nvSpPr>
        <p:spPr bwMode="auto">
          <a:xfrm>
            <a:off x="70104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16" name="Line 30"/>
          <p:cNvSpPr>
            <a:spLocks noChangeShapeType="1"/>
          </p:cNvSpPr>
          <p:nvPr/>
        </p:nvSpPr>
        <p:spPr bwMode="auto">
          <a:xfrm flipH="1">
            <a:off x="7086600" y="40386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 algn="l" rtl="0">
              <a:buFont typeface="Wingdings" pitchFamily="2" charset="2"/>
              <a:buNone/>
            </a:pPr>
            <a:r>
              <a:rPr lang="en-US" smtClean="0"/>
              <a:t>   14  15  4  9  7  18  3  5  16  </a:t>
            </a:r>
            <a:r>
              <a:rPr lang="en-US" smtClean="0">
                <a:solidFill>
                  <a:srgbClr val="FF0000"/>
                </a:solidFill>
              </a:rPr>
              <a:t>4 </a:t>
            </a:r>
            <a:r>
              <a:rPr lang="en-US" smtClean="0"/>
              <a:t> 20  17  9  14  5</a:t>
            </a:r>
          </a:p>
        </p:txBody>
      </p:sp>
      <p:sp>
        <p:nvSpPr>
          <p:cNvPr id="56324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56325" name="Oval 5"/>
          <p:cNvSpPr>
            <a:spLocks noChangeArrowheads="1"/>
          </p:cNvSpPr>
          <p:nvPr/>
        </p:nvSpPr>
        <p:spPr bwMode="auto">
          <a:xfrm>
            <a:off x="1447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56326" name="Oval 6"/>
          <p:cNvSpPr>
            <a:spLocks noChangeArrowheads="1"/>
          </p:cNvSpPr>
          <p:nvPr/>
        </p:nvSpPr>
        <p:spPr bwMode="auto">
          <a:xfrm>
            <a:off x="685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3</a:t>
            </a:r>
          </a:p>
        </p:txBody>
      </p:sp>
      <p:sp>
        <p:nvSpPr>
          <p:cNvPr id="56327" name="Oval 7"/>
          <p:cNvSpPr>
            <a:spLocks noChangeArrowheads="1"/>
          </p:cNvSpPr>
          <p:nvPr/>
        </p:nvSpPr>
        <p:spPr bwMode="auto">
          <a:xfrm>
            <a:off x="21336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56328" name="Oval 8"/>
          <p:cNvSpPr>
            <a:spLocks noChangeArrowheads="1"/>
          </p:cNvSpPr>
          <p:nvPr/>
        </p:nvSpPr>
        <p:spPr bwMode="auto">
          <a:xfrm>
            <a:off x="1752600" y="4495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7</a:t>
            </a:r>
          </a:p>
        </p:txBody>
      </p:sp>
      <p:sp>
        <p:nvSpPr>
          <p:cNvPr id="56329" name="Oval 10"/>
          <p:cNvSpPr>
            <a:spLocks noChangeArrowheads="1"/>
          </p:cNvSpPr>
          <p:nvPr/>
        </p:nvSpPr>
        <p:spPr bwMode="auto">
          <a:xfrm>
            <a:off x="1219200" y="5486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5</a:t>
            </a:r>
          </a:p>
        </p:txBody>
      </p:sp>
      <p:sp>
        <p:nvSpPr>
          <p:cNvPr id="56330" name="Oval 11"/>
          <p:cNvSpPr>
            <a:spLocks noChangeArrowheads="1"/>
          </p:cNvSpPr>
          <p:nvPr/>
        </p:nvSpPr>
        <p:spPr bwMode="auto">
          <a:xfrm>
            <a:off x="609600" y="6248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56331" name="Oval 13"/>
          <p:cNvSpPr>
            <a:spLocks noChangeArrowheads="1"/>
          </p:cNvSpPr>
          <p:nvPr/>
        </p:nvSpPr>
        <p:spPr bwMode="auto">
          <a:xfrm>
            <a:off x="6781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56332" name="Oval 15"/>
          <p:cNvSpPr>
            <a:spLocks noChangeArrowheads="1"/>
          </p:cNvSpPr>
          <p:nvPr/>
        </p:nvSpPr>
        <p:spPr bwMode="auto">
          <a:xfrm>
            <a:off x="7543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18</a:t>
            </a:r>
          </a:p>
        </p:txBody>
      </p:sp>
      <p:sp>
        <p:nvSpPr>
          <p:cNvPr id="56333" name="Oval 16"/>
          <p:cNvSpPr>
            <a:spLocks noChangeArrowheads="1"/>
          </p:cNvSpPr>
          <p:nvPr/>
        </p:nvSpPr>
        <p:spPr bwMode="auto">
          <a:xfrm>
            <a:off x="6934200" y="4419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16</a:t>
            </a:r>
          </a:p>
        </p:txBody>
      </p:sp>
      <p:sp>
        <p:nvSpPr>
          <p:cNvPr id="56334" name="Line 19"/>
          <p:cNvSpPr>
            <a:spLocks noChangeShapeType="1"/>
          </p:cNvSpPr>
          <p:nvPr/>
        </p:nvSpPr>
        <p:spPr bwMode="auto">
          <a:xfrm flipH="1">
            <a:off x="1828800" y="2362200"/>
            <a:ext cx="2286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35" name="Line 20"/>
          <p:cNvSpPr>
            <a:spLocks noChangeShapeType="1"/>
          </p:cNvSpPr>
          <p:nvPr/>
        </p:nvSpPr>
        <p:spPr bwMode="auto">
          <a:xfrm flipH="1">
            <a:off x="8382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36" name="Line 21"/>
          <p:cNvSpPr>
            <a:spLocks noChangeShapeType="1"/>
          </p:cNvSpPr>
          <p:nvPr/>
        </p:nvSpPr>
        <p:spPr bwMode="auto">
          <a:xfrm>
            <a:off x="1752600" y="3200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37" name="Line 22"/>
          <p:cNvSpPr>
            <a:spLocks noChangeShapeType="1"/>
          </p:cNvSpPr>
          <p:nvPr/>
        </p:nvSpPr>
        <p:spPr bwMode="auto">
          <a:xfrm flipH="1">
            <a:off x="1905000" y="40386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38" name="Line 24"/>
          <p:cNvSpPr>
            <a:spLocks noChangeShapeType="1"/>
          </p:cNvSpPr>
          <p:nvPr/>
        </p:nvSpPr>
        <p:spPr bwMode="auto">
          <a:xfrm flipH="1">
            <a:off x="1447800" y="48006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39" name="Line 25"/>
          <p:cNvSpPr>
            <a:spLocks noChangeShapeType="1"/>
          </p:cNvSpPr>
          <p:nvPr/>
        </p:nvSpPr>
        <p:spPr bwMode="auto">
          <a:xfrm flipH="1">
            <a:off x="838200" y="57912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40" name="Line 27"/>
          <p:cNvSpPr>
            <a:spLocks noChangeShapeType="1"/>
          </p:cNvSpPr>
          <p:nvPr/>
        </p:nvSpPr>
        <p:spPr bwMode="auto">
          <a:xfrm>
            <a:off x="4495800" y="2362200"/>
            <a:ext cx="2362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41" name="Line 29"/>
          <p:cNvSpPr>
            <a:spLocks noChangeShapeType="1"/>
          </p:cNvSpPr>
          <p:nvPr/>
        </p:nvSpPr>
        <p:spPr bwMode="auto">
          <a:xfrm>
            <a:off x="70104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42" name="Line 30"/>
          <p:cNvSpPr>
            <a:spLocks noChangeShapeType="1"/>
          </p:cNvSpPr>
          <p:nvPr/>
        </p:nvSpPr>
        <p:spPr bwMode="auto">
          <a:xfrm flipH="1">
            <a:off x="7086600" y="40386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 algn="l" rtl="0">
              <a:buFont typeface="Wingdings" pitchFamily="2" charset="2"/>
              <a:buNone/>
            </a:pPr>
            <a:r>
              <a:rPr lang="en-US" smtClean="0"/>
              <a:t>   14  15  4  9  7  18  3  5  16  4  </a:t>
            </a:r>
            <a:r>
              <a:rPr lang="en-US" smtClean="0">
                <a:solidFill>
                  <a:srgbClr val="FF0000"/>
                </a:solidFill>
              </a:rPr>
              <a:t>20</a:t>
            </a:r>
            <a:r>
              <a:rPr lang="en-US" smtClean="0"/>
              <a:t>  17  9  14  5</a:t>
            </a:r>
          </a:p>
        </p:txBody>
      </p:sp>
      <p:sp>
        <p:nvSpPr>
          <p:cNvPr id="57348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57349" name="Oval 5"/>
          <p:cNvSpPr>
            <a:spLocks noChangeArrowheads="1"/>
          </p:cNvSpPr>
          <p:nvPr/>
        </p:nvSpPr>
        <p:spPr bwMode="auto">
          <a:xfrm>
            <a:off x="1447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57350" name="Oval 6"/>
          <p:cNvSpPr>
            <a:spLocks noChangeArrowheads="1"/>
          </p:cNvSpPr>
          <p:nvPr/>
        </p:nvSpPr>
        <p:spPr bwMode="auto">
          <a:xfrm>
            <a:off x="685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3</a:t>
            </a:r>
          </a:p>
        </p:txBody>
      </p:sp>
      <p:sp>
        <p:nvSpPr>
          <p:cNvPr id="57351" name="Oval 7"/>
          <p:cNvSpPr>
            <a:spLocks noChangeArrowheads="1"/>
          </p:cNvSpPr>
          <p:nvPr/>
        </p:nvSpPr>
        <p:spPr bwMode="auto">
          <a:xfrm>
            <a:off x="21336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57352" name="Oval 8"/>
          <p:cNvSpPr>
            <a:spLocks noChangeArrowheads="1"/>
          </p:cNvSpPr>
          <p:nvPr/>
        </p:nvSpPr>
        <p:spPr bwMode="auto">
          <a:xfrm>
            <a:off x="1752600" y="4495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7</a:t>
            </a:r>
          </a:p>
        </p:txBody>
      </p:sp>
      <p:sp>
        <p:nvSpPr>
          <p:cNvPr id="57353" name="Oval 10"/>
          <p:cNvSpPr>
            <a:spLocks noChangeArrowheads="1"/>
          </p:cNvSpPr>
          <p:nvPr/>
        </p:nvSpPr>
        <p:spPr bwMode="auto">
          <a:xfrm>
            <a:off x="1219200" y="5486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5</a:t>
            </a:r>
          </a:p>
        </p:txBody>
      </p:sp>
      <p:sp>
        <p:nvSpPr>
          <p:cNvPr id="57354" name="Oval 11"/>
          <p:cNvSpPr>
            <a:spLocks noChangeArrowheads="1"/>
          </p:cNvSpPr>
          <p:nvPr/>
        </p:nvSpPr>
        <p:spPr bwMode="auto">
          <a:xfrm>
            <a:off x="609600" y="6248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57355" name="Oval 13"/>
          <p:cNvSpPr>
            <a:spLocks noChangeArrowheads="1"/>
          </p:cNvSpPr>
          <p:nvPr/>
        </p:nvSpPr>
        <p:spPr bwMode="auto">
          <a:xfrm>
            <a:off x="6781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57356" name="Oval 15"/>
          <p:cNvSpPr>
            <a:spLocks noChangeArrowheads="1"/>
          </p:cNvSpPr>
          <p:nvPr/>
        </p:nvSpPr>
        <p:spPr bwMode="auto">
          <a:xfrm>
            <a:off x="7543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18</a:t>
            </a:r>
          </a:p>
        </p:txBody>
      </p:sp>
      <p:sp>
        <p:nvSpPr>
          <p:cNvPr id="57357" name="Oval 16"/>
          <p:cNvSpPr>
            <a:spLocks noChangeArrowheads="1"/>
          </p:cNvSpPr>
          <p:nvPr/>
        </p:nvSpPr>
        <p:spPr bwMode="auto">
          <a:xfrm>
            <a:off x="6934200" y="4419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16</a:t>
            </a:r>
          </a:p>
        </p:txBody>
      </p:sp>
      <p:sp>
        <p:nvSpPr>
          <p:cNvPr id="57358" name="Oval 17"/>
          <p:cNvSpPr>
            <a:spLocks noChangeArrowheads="1"/>
          </p:cNvSpPr>
          <p:nvPr/>
        </p:nvSpPr>
        <p:spPr bwMode="auto">
          <a:xfrm>
            <a:off x="8382000" y="4419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20</a:t>
            </a:r>
          </a:p>
        </p:txBody>
      </p:sp>
      <p:sp>
        <p:nvSpPr>
          <p:cNvPr id="57359" name="Line 19"/>
          <p:cNvSpPr>
            <a:spLocks noChangeShapeType="1"/>
          </p:cNvSpPr>
          <p:nvPr/>
        </p:nvSpPr>
        <p:spPr bwMode="auto">
          <a:xfrm flipH="1">
            <a:off x="1828800" y="2362200"/>
            <a:ext cx="2286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60" name="Line 20"/>
          <p:cNvSpPr>
            <a:spLocks noChangeShapeType="1"/>
          </p:cNvSpPr>
          <p:nvPr/>
        </p:nvSpPr>
        <p:spPr bwMode="auto">
          <a:xfrm flipH="1">
            <a:off x="8382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61" name="Line 21"/>
          <p:cNvSpPr>
            <a:spLocks noChangeShapeType="1"/>
          </p:cNvSpPr>
          <p:nvPr/>
        </p:nvSpPr>
        <p:spPr bwMode="auto">
          <a:xfrm>
            <a:off x="1752600" y="3200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62" name="Line 22"/>
          <p:cNvSpPr>
            <a:spLocks noChangeShapeType="1"/>
          </p:cNvSpPr>
          <p:nvPr/>
        </p:nvSpPr>
        <p:spPr bwMode="auto">
          <a:xfrm flipH="1">
            <a:off x="1905000" y="40386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63" name="Line 24"/>
          <p:cNvSpPr>
            <a:spLocks noChangeShapeType="1"/>
          </p:cNvSpPr>
          <p:nvPr/>
        </p:nvSpPr>
        <p:spPr bwMode="auto">
          <a:xfrm flipH="1">
            <a:off x="1447800" y="48006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64" name="Line 25"/>
          <p:cNvSpPr>
            <a:spLocks noChangeShapeType="1"/>
          </p:cNvSpPr>
          <p:nvPr/>
        </p:nvSpPr>
        <p:spPr bwMode="auto">
          <a:xfrm flipH="1">
            <a:off x="838200" y="57912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65" name="Line 27"/>
          <p:cNvSpPr>
            <a:spLocks noChangeShapeType="1"/>
          </p:cNvSpPr>
          <p:nvPr/>
        </p:nvSpPr>
        <p:spPr bwMode="auto">
          <a:xfrm>
            <a:off x="4495800" y="2362200"/>
            <a:ext cx="2362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66" name="Line 29"/>
          <p:cNvSpPr>
            <a:spLocks noChangeShapeType="1"/>
          </p:cNvSpPr>
          <p:nvPr/>
        </p:nvSpPr>
        <p:spPr bwMode="auto">
          <a:xfrm>
            <a:off x="70104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67" name="Line 30"/>
          <p:cNvSpPr>
            <a:spLocks noChangeShapeType="1"/>
          </p:cNvSpPr>
          <p:nvPr/>
        </p:nvSpPr>
        <p:spPr bwMode="auto">
          <a:xfrm flipH="1">
            <a:off x="7086600" y="40386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68" name="Line 31"/>
          <p:cNvSpPr>
            <a:spLocks noChangeShapeType="1"/>
          </p:cNvSpPr>
          <p:nvPr/>
        </p:nvSpPr>
        <p:spPr bwMode="auto">
          <a:xfrm>
            <a:off x="7772400" y="40386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 algn="l" rtl="0">
              <a:buFont typeface="Wingdings" pitchFamily="2" charset="2"/>
              <a:buNone/>
            </a:pPr>
            <a:r>
              <a:rPr lang="en-US" smtClean="0"/>
              <a:t>   14  15  4  9  7  18  3  5  16  4  20  </a:t>
            </a:r>
            <a:r>
              <a:rPr lang="en-US" smtClean="0">
                <a:solidFill>
                  <a:srgbClr val="FF0000"/>
                </a:solidFill>
              </a:rPr>
              <a:t>17</a:t>
            </a:r>
            <a:r>
              <a:rPr lang="en-US" smtClean="0"/>
              <a:t>  9  14  5</a:t>
            </a:r>
          </a:p>
        </p:txBody>
      </p:sp>
      <p:sp>
        <p:nvSpPr>
          <p:cNvPr id="58372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58373" name="Oval 5"/>
          <p:cNvSpPr>
            <a:spLocks noChangeArrowheads="1"/>
          </p:cNvSpPr>
          <p:nvPr/>
        </p:nvSpPr>
        <p:spPr bwMode="auto">
          <a:xfrm>
            <a:off x="1447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58374" name="Oval 6"/>
          <p:cNvSpPr>
            <a:spLocks noChangeArrowheads="1"/>
          </p:cNvSpPr>
          <p:nvPr/>
        </p:nvSpPr>
        <p:spPr bwMode="auto">
          <a:xfrm>
            <a:off x="685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3</a:t>
            </a:r>
          </a:p>
        </p:txBody>
      </p:sp>
      <p:sp>
        <p:nvSpPr>
          <p:cNvPr id="58375" name="Oval 7"/>
          <p:cNvSpPr>
            <a:spLocks noChangeArrowheads="1"/>
          </p:cNvSpPr>
          <p:nvPr/>
        </p:nvSpPr>
        <p:spPr bwMode="auto">
          <a:xfrm>
            <a:off x="21336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58376" name="Oval 8"/>
          <p:cNvSpPr>
            <a:spLocks noChangeArrowheads="1"/>
          </p:cNvSpPr>
          <p:nvPr/>
        </p:nvSpPr>
        <p:spPr bwMode="auto">
          <a:xfrm>
            <a:off x="1752600" y="4495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7</a:t>
            </a:r>
          </a:p>
        </p:txBody>
      </p:sp>
      <p:sp>
        <p:nvSpPr>
          <p:cNvPr id="58377" name="Oval 10"/>
          <p:cNvSpPr>
            <a:spLocks noChangeArrowheads="1"/>
          </p:cNvSpPr>
          <p:nvPr/>
        </p:nvSpPr>
        <p:spPr bwMode="auto">
          <a:xfrm>
            <a:off x="1219200" y="5486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5</a:t>
            </a:r>
          </a:p>
        </p:txBody>
      </p:sp>
      <p:sp>
        <p:nvSpPr>
          <p:cNvPr id="58378" name="Oval 11"/>
          <p:cNvSpPr>
            <a:spLocks noChangeArrowheads="1"/>
          </p:cNvSpPr>
          <p:nvPr/>
        </p:nvSpPr>
        <p:spPr bwMode="auto">
          <a:xfrm>
            <a:off x="609600" y="6248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58379" name="Oval 13"/>
          <p:cNvSpPr>
            <a:spLocks noChangeArrowheads="1"/>
          </p:cNvSpPr>
          <p:nvPr/>
        </p:nvSpPr>
        <p:spPr bwMode="auto">
          <a:xfrm>
            <a:off x="6781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58380" name="Oval 15"/>
          <p:cNvSpPr>
            <a:spLocks noChangeArrowheads="1"/>
          </p:cNvSpPr>
          <p:nvPr/>
        </p:nvSpPr>
        <p:spPr bwMode="auto">
          <a:xfrm>
            <a:off x="7543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18</a:t>
            </a:r>
          </a:p>
        </p:txBody>
      </p:sp>
      <p:sp>
        <p:nvSpPr>
          <p:cNvPr id="58381" name="Oval 16"/>
          <p:cNvSpPr>
            <a:spLocks noChangeArrowheads="1"/>
          </p:cNvSpPr>
          <p:nvPr/>
        </p:nvSpPr>
        <p:spPr bwMode="auto">
          <a:xfrm>
            <a:off x="6934200" y="4419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16</a:t>
            </a:r>
          </a:p>
        </p:txBody>
      </p:sp>
      <p:sp>
        <p:nvSpPr>
          <p:cNvPr id="58382" name="Oval 17"/>
          <p:cNvSpPr>
            <a:spLocks noChangeArrowheads="1"/>
          </p:cNvSpPr>
          <p:nvPr/>
        </p:nvSpPr>
        <p:spPr bwMode="auto">
          <a:xfrm>
            <a:off x="8382000" y="4419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20</a:t>
            </a:r>
          </a:p>
        </p:txBody>
      </p:sp>
      <p:sp>
        <p:nvSpPr>
          <p:cNvPr id="58383" name="Oval 18"/>
          <p:cNvSpPr>
            <a:spLocks noChangeArrowheads="1"/>
          </p:cNvSpPr>
          <p:nvPr/>
        </p:nvSpPr>
        <p:spPr bwMode="auto">
          <a:xfrm>
            <a:off x="7696200" y="53340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17</a:t>
            </a:r>
          </a:p>
        </p:txBody>
      </p:sp>
      <p:sp>
        <p:nvSpPr>
          <p:cNvPr id="58384" name="Line 19"/>
          <p:cNvSpPr>
            <a:spLocks noChangeShapeType="1"/>
          </p:cNvSpPr>
          <p:nvPr/>
        </p:nvSpPr>
        <p:spPr bwMode="auto">
          <a:xfrm flipH="1">
            <a:off x="1828800" y="2362200"/>
            <a:ext cx="2286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8385" name="Line 20"/>
          <p:cNvSpPr>
            <a:spLocks noChangeShapeType="1"/>
          </p:cNvSpPr>
          <p:nvPr/>
        </p:nvSpPr>
        <p:spPr bwMode="auto">
          <a:xfrm flipH="1">
            <a:off x="8382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8386" name="Line 21"/>
          <p:cNvSpPr>
            <a:spLocks noChangeShapeType="1"/>
          </p:cNvSpPr>
          <p:nvPr/>
        </p:nvSpPr>
        <p:spPr bwMode="auto">
          <a:xfrm>
            <a:off x="1752600" y="3200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8387" name="Line 22"/>
          <p:cNvSpPr>
            <a:spLocks noChangeShapeType="1"/>
          </p:cNvSpPr>
          <p:nvPr/>
        </p:nvSpPr>
        <p:spPr bwMode="auto">
          <a:xfrm flipH="1">
            <a:off x="1905000" y="40386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8388" name="Line 24"/>
          <p:cNvSpPr>
            <a:spLocks noChangeShapeType="1"/>
          </p:cNvSpPr>
          <p:nvPr/>
        </p:nvSpPr>
        <p:spPr bwMode="auto">
          <a:xfrm flipH="1">
            <a:off x="1447800" y="48006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8389" name="Line 25"/>
          <p:cNvSpPr>
            <a:spLocks noChangeShapeType="1"/>
          </p:cNvSpPr>
          <p:nvPr/>
        </p:nvSpPr>
        <p:spPr bwMode="auto">
          <a:xfrm flipH="1">
            <a:off x="838200" y="57912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8390" name="Line 27"/>
          <p:cNvSpPr>
            <a:spLocks noChangeShapeType="1"/>
          </p:cNvSpPr>
          <p:nvPr/>
        </p:nvSpPr>
        <p:spPr bwMode="auto">
          <a:xfrm>
            <a:off x="4495800" y="2362200"/>
            <a:ext cx="2362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8391" name="Line 29"/>
          <p:cNvSpPr>
            <a:spLocks noChangeShapeType="1"/>
          </p:cNvSpPr>
          <p:nvPr/>
        </p:nvSpPr>
        <p:spPr bwMode="auto">
          <a:xfrm>
            <a:off x="70104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8392" name="Line 30"/>
          <p:cNvSpPr>
            <a:spLocks noChangeShapeType="1"/>
          </p:cNvSpPr>
          <p:nvPr/>
        </p:nvSpPr>
        <p:spPr bwMode="auto">
          <a:xfrm flipH="1">
            <a:off x="7086600" y="40386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8393" name="Line 31"/>
          <p:cNvSpPr>
            <a:spLocks noChangeShapeType="1"/>
          </p:cNvSpPr>
          <p:nvPr/>
        </p:nvSpPr>
        <p:spPr bwMode="auto">
          <a:xfrm>
            <a:off x="7772400" y="40386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8394" name="Line 32"/>
          <p:cNvSpPr>
            <a:spLocks noChangeShapeType="1"/>
          </p:cNvSpPr>
          <p:nvPr/>
        </p:nvSpPr>
        <p:spPr bwMode="auto">
          <a:xfrm>
            <a:off x="7162800" y="4724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 algn="l" rtl="0">
              <a:buFont typeface="Wingdings" pitchFamily="2" charset="2"/>
              <a:buNone/>
            </a:pPr>
            <a:r>
              <a:rPr lang="en-US" smtClean="0"/>
              <a:t>   14  15  4  9  7  18  3  5  16  4  20  17  </a:t>
            </a:r>
            <a:r>
              <a:rPr lang="en-US" smtClean="0">
                <a:solidFill>
                  <a:srgbClr val="FF0000"/>
                </a:solidFill>
              </a:rPr>
              <a:t>9 </a:t>
            </a:r>
            <a:r>
              <a:rPr lang="en-US" smtClean="0"/>
              <a:t> 14  5</a:t>
            </a:r>
          </a:p>
        </p:txBody>
      </p:sp>
      <p:sp>
        <p:nvSpPr>
          <p:cNvPr id="59396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59397" name="Oval 5"/>
          <p:cNvSpPr>
            <a:spLocks noChangeArrowheads="1"/>
          </p:cNvSpPr>
          <p:nvPr/>
        </p:nvSpPr>
        <p:spPr bwMode="auto">
          <a:xfrm>
            <a:off x="1447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59398" name="Oval 6"/>
          <p:cNvSpPr>
            <a:spLocks noChangeArrowheads="1"/>
          </p:cNvSpPr>
          <p:nvPr/>
        </p:nvSpPr>
        <p:spPr bwMode="auto">
          <a:xfrm>
            <a:off x="685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3</a:t>
            </a:r>
          </a:p>
        </p:txBody>
      </p:sp>
      <p:sp>
        <p:nvSpPr>
          <p:cNvPr id="59399" name="Oval 7"/>
          <p:cNvSpPr>
            <a:spLocks noChangeArrowheads="1"/>
          </p:cNvSpPr>
          <p:nvPr/>
        </p:nvSpPr>
        <p:spPr bwMode="auto">
          <a:xfrm>
            <a:off x="21336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59400" name="Oval 8"/>
          <p:cNvSpPr>
            <a:spLocks noChangeArrowheads="1"/>
          </p:cNvSpPr>
          <p:nvPr/>
        </p:nvSpPr>
        <p:spPr bwMode="auto">
          <a:xfrm>
            <a:off x="1752600" y="4495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7</a:t>
            </a:r>
          </a:p>
        </p:txBody>
      </p:sp>
      <p:sp>
        <p:nvSpPr>
          <p:cNvPr id="59401" name="Oval 9"/>
          <p:cNvSpPr>
            <a:spLocks noChangeArrowheads="1"/>
          </p:cNvSpPr>
          <p:nvPr/>
        </p:nvSpPr>
        <p:spPr bwMode="auto">
          <a:xfrm>
            <a:off x="2590800" y="4495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59402" name="Oval 10"/>
          <p:cNvSpPr>
            <a:spLocks noChangeArrowheads="1"/>
          </p:cNvSpPr>
          <p:nvPr/>
        </p:nvSpPr>
        <p:spPr bwMode="auto">
          <a:xfrm>
            <a:off x="1219200" y="5486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5</a:t>
            </a:r>
          </a:p>
        </p:txBody>
      </p:sp>
      <p:sp>
        <p:nvSpPr>
          <p:cNvPr id="59403" name="Oval 11"/>
          <p:cNvSpPr>
            <a:spLocks noChangeArrowheads="1"/>
          </p:cNvSpPr>
          <p:nvPr/>
        </p:nvSpPr>
        <p:spPr bwMode="auto">
          <a:xfrm>
            <a:off x="609600" y="6248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59404" name="Oval 13"/>
          <p:cNvSpPr>
            <a:spLocks noChangeArrowheads="1"/>
          </p:cNvSpPr>
          <p:nvPr/>
        </p:nvSpPr>
        <p:spPr bwMode="auto">
          <a:xfrm>
            <a:off x="6781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59405" name="Oval 15"/>
          <p:cNvSpPr>
            <a:spLocks noChangeArrowheads="1"/>
          </p:cNvSpPr>
          <p:nvPr/>
        </p:nvSpPr>
        <p:spPr bwMode="auto">
          <a:xfrm>
            <a:off x="7543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18</a:t>
            </a:r>
          </a:p>
        </p:txBody>
      </p:sp>
      <p:sp>
        <p:nvSpPr>
          <p:cNvPr id="59406" name="Oval 16"/>
          <p:cNvSpPr>
            <a:spLocks noChangeArrowheads="1"/>
          </p:cNvSpPr>
          <p:nvPr/>
        </p:nvSpPr>
        <p:spPr bwMode="auto">
          <a:xfrm>
            <a:off x="6934200" y="4419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16</a:t>
            </a:r>
          </a:p>
        </p:txBody>
      </p:sp>
      <p:sp>
        <p:nvSpPr>
          <p:cNvPr id="59407" name="Oval 17"/>
          <p:cNvSpPr>
            <a:spLocks noChangeArrowheads="1"/>
          </p:cNvSpPr>
          <p:nvPr/>
        </p:nvSpPr>
        <p:spPr bwMode="auto">
          <a:xfrm>
            <a:off x="8382000" y="4419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20</a:t>
            </a:r>
          </a:p>
        </p:txBody>
      </p:sp>
      <p:sp>
        <p:nvSpPr>
          <p:cNvPr id="59408" name="Oval 18"/>
          <p:cNvSpPr>
            <a:spLocks noChangeArrowheads="1"/>
          </p:cNvSpPr>
          <p:nvPr/>
        </p:nvSpPr>
        <p:spPr bwMode="auto">
          <a:xfrm>
            <a:off x="7696200" y="53340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17</a:t>
            </a:r>
          </a:p>
        </p:txBody>
      </p:sp>
      <p:sp>
        <p:nvSpPr>
          <p:cNvPr id="59409" name="Line 19"/>
          <p:cNvSpPr>
            <a:spLocks noChangeShapeType="1"/>
          </p:cNvSpPr>
          <p:nvPr/>
        </p:nvSpPr>
        <p:spPr bwMode="auto">
          <a:xfrm flipH="1">
            <a:off x="1828800" y="2362200"/>
            <a:ext cx="2286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10" name="Line 20"/>
          <p:cNvSpPr>
            <a:spLocks noChangeShapeType="1"/>
          </p:cNvSpPr>
          <p:nvPr/>
        </p:nvSpPr>
        <p:spPr bwMode="auto">
          <a:xfrm flipH="1">
            <a:off x="8382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11" name="Line 21"/>
          <p:cNvSpPr>
            <a:spLocks noChangeShapeType="1"/>
          </p:cNvSpPr>
          <p:nvPr/>
        </p:nvSpPr>
        <p:spPr bwMode="auto">
          <a:xfrm>
            <a:off x="1752600" y="3200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12" name="Line 22"/>
          <p:cNvSpPr>
            <a:spLocks noChangeShapeType="1"/>
          </p:cNvSpPr>
          <p:nvPr/>
        </p:nvSpPr>
        <p:spPr bwMode="auto">
          <a:xfrm flipH="1">
            <a:off x="1905000" y="40386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13" name="Line 23"/>
          <p:cNvSpPr>
            <a:spLocks noChangeShapeType="1"/>
          </p:cNvSpPr>
          <p:nvPr/>
        </p:nvSpPr>
        <p:spPr bwMode="auto">
          <a:xfrm>
            <a:off x="2362200" y="40386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14" name="Line 24"/>
          <p:cNvSpPr>
            <a:spLocks noChangeShapeType="1"/>
          </p:cNvSpPr>
          <p:nvPr/>
        </p:nvSpPr>
        <p:spPr bwMode="auto">
          <a:xfrm flipH="1">
            <a:off x="1447800" y="48006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15" name="Line 25"/>
          <p:cNvSpPr>
            <a:spLocks noChangeShapeType="1"/>
          </p:cNvSpPr>
          <p:nvPr/>
        </p:nvSpPr>
        <p:spPr bwMode="auto">
          <a:xfrm flipH="1">
            <a:off x="838200" y="57912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16" name="Line 27"/>
          <p:cNvSpPr>
            <a:spLocks noChangeShapeType="1"/>
          </p:cNvSpPr>
          <p:nvPr/>
        </p:nvSpPr>
        <p:spPr bwMode="auto">
          <a:xfrm>
            <a:off x="4495800" y="2362200"/>
            <a:ext cx="2362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17" name="Line 29"/>
          <p:cNvSpPr>
            <a:spLocks noChangeShapeType="1"/>
          </p:cNvSpPr>
          <p:nvPr/>
        </p:nvSpPr>
        <p:spPr bwMode="auto">
          <a:xfrm>
            <a:off x="70104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18" name="Line 30"/>
          <p:cNvSpPr>
            <a:spLocks noChangeShapeType="1"/>
          </p:cNvSpPr>
          <p:nvPr/>
        </p:nvSpPr>
        <p:spPr bwMode="auto">
          <a:xfrm flipH="1">
            <a:off x="7086600" y="40386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19" name="Line 31"/>
          <p:cNvSpPr>
            <a:spLocks noChangeShapeType="1"/>
          </p:cNvSpPr>
          <p:nvPr/>
        </p:nvSpPr>
        <p:spPr bwMode="auto">
          <a:xfrm>
            <a:off x="7772400" y="40386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20" name="Line 32"/>
          <p:cNvSpPr>
            <a:spLocks noChangeShapeType="1"/>
          </p:cNvSpPr>
          <p:nvPr/>
        </p:nvSpPr>
        <p:spPr bwMode="auto">
          <a:xfrm>
            <a:off x="7162800" y="4724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 algn="l" rtl="0">
              <a:buFont typeface="Wingdings" pitchFamily="2" charset="2"/>
              <a:buNone/>
            </a:pPr>
            <a:r>
              <a:rPr lang="en-US" smtClean="0"/>
              <a:t>   14  15  4  9  7  18  3  5  16  4  20  17  9  </a:t>
            </a:r>
            <a:r>
              <a:rPr lang="en-US" smtClean="0">
                <a:solidFill>
                  <a:srgbClr val="FF0000"/>
                </a:solidFill>
              </a:rPr>
              <a:t>14</a:t>
            </a:r>
            <a:r>
              <a:rPr lang="en-US" smtClean="0"/>
              <a:t>  5</a:t>
            </a:r>
          </a:p>
        </p:txBody>
      </p:sp>
      <p:sp>
        <p:nvSpPr>
          <p:cNvPr id="60420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60421" name="Oval 5"/>
          <p:cNvSpPr>
            <a:spLocks noChangeArrowheads="1"/>
          </p:cNvSpPr>
          <p:nvPr/>
        </p:nvSpPr>
        <p:spPr bwMode="auto">
          <a:xfrm>
            <a:off x="1447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60422" name="Oval 6"/>
          <p:cNvSpPr>
            <a:spLocks noChangeArrowheads="1"/>
          </p:cNvSpPr>
          <p:nvPr/>
        </p:nvSpPr>
        <p:spPr bwMode="auto">
          <a:xfrm>
            <a:off x="685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3</a:t>
            </a:r>
          </a:p>
        </p:txBody>
      </p:sp>
      <p:sp>
        <p:nvSpPr>
          <p:cNvPr id="60423" name="Oval 7"/>
          <p:cNvSpPr>
            <a:spLocks noChangeArrowheads="1"/>
          </p:cNvSpPr>
          <p:nvPr/>
        </p:nvSpPr>
        <p:spPr bwMode="auto">
          <a:xfrm>
            <a:off x="21336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60424" name="Oval 8"/>
          <p:cNvSpPr>
            <a:spLocks noChangeArrowheads="1"/>
          </p:cNvSpPr>
          <p:nvPr/>
        </p:nvSpPr>
        <p:spPr bwMode="auto">
          <a:xfrm>
            <a:off x="1752600" y="4495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7</a:t>
            </a:r>
          </a:p>
        </p:txBody>
      </p:sp>
      <p:sp>
        <p:nvSpPr>
          <p:cNvPr id="60425" name="Oval 9"/>
          <p:cNvSpPr>
            <a:spLocks noChangeArrowheads="1"/>
          </p:cNvSpPr>
          <p:nvPr/>
        </p:nvSpPr>
        <p:spPr bwMode="auto">
          <a:xfrm>
            <a:off x="2590800" y="4495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60426" name="Oval 10"/>
          <p:cNvSpPr>
            <a:spLocks noChangeArrowheads="1"/>
          </p:cNvSpPr>
          <p:nvPr/>
        </p:nvSpPr>
        <p:spPr bwMode="auto">
          <a:xfrm>
            <a:off x="1219200" y="5486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5</a:t>
            </a:r>
          </a:p>
        </p:txBody>
      </p:sp>
      <p:sp>
        <p:nvSpPr>
          <p:cNvPr id="60427" name="Oval 11"/>
          <p:cNvSpPr>
            <a:spLocks noChangeArrowheads="1"/>
          </p:cNvSpPr>
          <p:nvPr/>
        </p:nvSpPr>
        <p:spPr bwMode="auto">
          <a:xfrm>
            <a:off x="609600" y="6248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60428" name="Oval 13"/>
          <p:cNvSpPr>
            <a:spLocks noChangeArrowheads="1"/>
          </p:cNvSpPr>
          <p:nvPr/>
        </p:nvSpPr>
        <p:spPr bwMode="auto">
          <a:xfrm>
            <a:off x="6781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60429" name="Oval 14"/>
          <p:cNvSpPr>
            <a:spLocks noChangeArrowheads="1"/>
          </p:cNvSpPr>
          <p:nvPr/>
        </p:nvSpPr>
        <p:spPr bwMode="auto">
          <a:xfrm>
            <a:off x="60960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60430" name="Oval 15"/>
          <p:cNvSpPr>
            <a:spLocks noChangeArrowheads="1"/>
          </p:cNvSpPr>
          <p:nvPr/>
        </p:nvSpPr>
        <p:spPr bwMode="auto">
          <a:xfrm>
            <a:off x="7543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18</a:t>
            </a:r>
          </a:p>
        </p:txBody>
      </p:sp>
      <p:sp>
        <p:nvSpPr>
          <p:cNvPr id="60431" name="Oval 16"/>
          <p:cNvSpPr>
            <a:spLocks noChangeArrowheads="1"/>
          </p:cNvSpPr>
          <p:nvPr/>
        </p:nvSpPr>
        <p:spPr bwMode="auto">
          <a:xfrm>
            <a:off x="6934200" y="4419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16</a:t>
            </a:r>
          </a:p>
        </p:txBody>
      </p:sp>
      <p:sp>
        <p:nvSpPr>
          <p:cNvPr id="60432" name="Oval 17"/>
          <p:cNvSpPr>
            <a:spLocks noChangeArrowheads="1"/>
          </p:cNvSpPr>
          <p:nvPr/>
        </p:nvSpPr>
        <p:spPr bwMode="auto">
          <a:xfrm>
            <a:off x="8382000" y="4419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20</a:t>
            </a:r>
          </a:p>
        </p:txBody>
      </p:sp>
      <p:sp>
        <p:nvSpPr>
          <p:cNvPr id="60433" name="Oval 18"/>
          <p:cNvSpPr>
            <a:spLocks noChangeArrowheads="1"/>
          </p:cNvSpPr>
          <p:nvPr/>
        </p:nvSpPr>
        <p:spPr bwMode="auto">
          <a:xfrm>
            <a:off x="7696200" y="53340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17</a:t>
            </a:r>
          </a:p>
        </p:txBody>
      </p:sp>
      <p:sp>
        <p:nvSpPr>
          <p:cNvPr id="60434" name="Line 19"/>
          <p:cNvSpPr>
            <a:spLocks noChangeShapeType="1"/>
          </p:cNvSpPr>
          <p:nvPr/>
        </p:nvSpPr>
        <p:spPr bwMode="auto">
          <a:xfrm flipH="1">
            <a:off x="1828800" y="2362200"/>
            <a:ext cx="2286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435" name="Line 20"/>
          <p:cNvSpPr>
            <a:spLocks noChangeShapeType="1"/>
          </p:cNvSpPr>
          <p:nvPr/>
        </p:nvSpPr>
        <p:spPr bwMode="auto">
          <a:xfrm flipH="1">
            <a:off x="8382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436" name="Line 21"/>
          <p:cNvSpPr>
            <a:spLocks noChangeShapeType="1"/>
          </p:cNvSpPr>
          <p:nvPr/>
        </p:nvSpPr>
        <p:spPr bwMode="auto">
          <a:xfrm>
            <a:off x="1752600" y="3200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437" name="Line 22"/>
          <p:cNvSpPr>
            <a:spLocks noChangeShapeType="1"/>
          </p:cNvSpPr>
          <p:nvPr/>
        </p:nvSpPr>
        <p:spPr bwMode="auto">
          <a:xfrm flipH="1">
            <a:off x="1905000" y="40386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438" name="Line 23"/>
          <p:cNvSpPr>
            <a:spLocks noChangeShapeType="1"/>
          </p:cNvSpPr>
          <p:nvPr/>
        </p:nvSpPr>
        <p:spPr bwMode="auto">
          <a:xfrm>
            <a:off x="2362200" y="40386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439" name="Line 24"/>
          <p:cNvSpPr>
            <a:spLocks noChangeShapeType="1"/>
          </p:cNvSpPr>
          <p:nvPr/>
        </p:nvSpPr>
        <p:spPr bwMode="auto">
          <a:xfrm flipH="1">
            <a:off x="1447800" y="48006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440" name="Line 25"/>
          <p:cNvSpPr>
            <a:spLocks noChangeShapeType="1"/>
          </p:cNvSpPr>
          <p:nvPr/>
        </p:nvSpPr>
        <p:spPr bwMode="auto">
          <a:xfrm flipH="1">
            <a:off x="838200" y="57912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441" name="Line 27"/>
          <p:cNvSpPr>
            <a:spLocks noChangeShapeType="1"/>
          </p:cNvSpPr>
          <p:nvPr/>
        </p:nvSpPr>
        <p:spPr bwMode="auto">
          <a:xfrm>
            <a:off x="4495800" y="2362200"/>
            <a:ext cx="2362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442" name="Line 28"/>
          <p:cNvSpPr>
            <a:spLocks noChangeShapeType="1"/>
          </p:cNvSpPr>
          <p:nvPr/>
        </p:nvSpPr>
        <p:spPr bwMode="auto">
          <a:xfrm flipH="1">
            <a:off x="6324600" y="32004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443" name="Line 29"/>
          <p:cNvSpPr>
            <a:spLocks noChangeShapeType="1"/>
          </p:cNvSpPr>
          <p:nvPr/>
        </p:nvSpPr>
        <p:spPr bwMode="auto">
          <a:xfrm>
            <a:off x="70104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444" name="Line 30"/>
          <p:cNvSpPr>
            <a:spLocks noChangeShapeType="1"/>
          </p:cNvSpPr>
          <p:nvPr/>
        </p:nvSpPr>
        <p:spPr bwMode="auto">
          <a:xfrm flipH="1">
            <a:off x="7086600" y="40386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445" name="Line 31"/>
          <p:cNvSpPr>
            <a:spLocks noChangeShapeType="1"/>
          </p:cNvSpPr>
          <p:nvPr/>
        </p:nvSpPr>
        <p:spPr bwMode="auto">
          <a:xfrm>
            <a:off x="7772400" y="40386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446" name="Line 32"/>
          <p:cNvSpPr>
            <a:spLocks noChangeShapeType="1"/>
          </p:cNvSpPr>
          <p:nvPr/>
        </p:nvSpPr>
        <p:spPr bwMode="auto">
          <a:xfrm>
            <a:off x="7162800" y="4724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762000"/>
          </a:xfrm>
        </p:spPr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1371600"/>
          </a:xfrm>
        </p:spPr>
        <p:txBody>
          <a:bodyPr/>
          <a:lstStyle/>
          <a:p>
            <a:pPr algn="l" rtl="0"/>
            <a:r>
              <a:rPr lang="en-US" smtClean="0"/>
              <a:t>Input list of numbers:</a:t>
            </a:r>
          </a:p>
          <a:p>
            <a:pPr algn="l" rtl="0">
              <a:buFont typeface="Wingdings" pitchFamily="2" charset="2"/>
              <a:buNone/>
            </a:pPr>
            <a:r>
              <a:rPr lang="en-US" smtClean="0"/>
              <a:t>   14  15  4  9  7  18  3  5  16  4  20  17  9  14  </a:t>
            </a:r>
            <a:r>
              <a:rPr lang="en-US" smtClean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61444" name="Oval 4"/>
          <p:cNvSpPr>
            <a:spLocks noChangeArrowheads="1"/>
          </p:cNvSpPr>
          <p:nvPr/>
        </p:nvSpPr>
        <p:spPr bwMode="auto">
          <a:xfrm>
            <a:off x="4114800" y="2133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61445" name="Oval 5"/>
          <p:cNvSpPr>
            <a:spLocks noChangeArrowheads="1"/>
          </p:cNvSpPr>
          <p:nvPr/>
        </p:nvSpPr>
        <p:spPr bwMode="auto">
          <a:xfrm>
            <a:off x="1447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61446" name="Oval 6"/>
          <p:cNvSpPr>
            <a:spLocks noChangeArrowheads="1"/>
          </p:cNvSpPr>
          <p:nvPr/>
        </p:nvSpPr>
        <p:spPr bwMode="auto">
          <a:xfrm>
            <a:off x="685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3</a:t>
            </a:r>
          </a:p>
        </p:txBody>
      </p:sp>
      <p:sp>
        <p:nvSpPr>
          <p:cNvPr id="61447" name="Oval 7"/>
          <p:cNvSpPr>
            <a:spLocks noChangeArrowheads="1"/>
          </p:cNvSpPr>
          <p:nvPr/>
        </p:nvSpPr>
        <p:spPr bwMode="auto">
          <a:xfrm>
            <a:off x="21336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61448" name="Oval 8"/>
          <p:cNvSpPr>
            <a:spLocks noChangeArrowheads="1"/>
          </p:cNvSpPr>
          <p:nvPr/>
        </p:nvSpPr>
        <p:spPr bwMode="auto">
          <a:xfrm>
            <a:off x="1752600" y="4495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7</a:t>
            </a:r>
          </a:p>
        </p:txBody>
      </p:sp>
      <p:sp>
        <p:nvSpPr>
          <p:cNvPr id="61449" name="Oval 9"/>
          <p:cNvSpPr>
            <a:spLocks noChangeArrowheads="1"/>
          </p:cNvSpPr>
          <p:nvPr/>
        </p:nvSpPr>
        <p:spPr bwMode="auto">
          <a:xfrm>
            <a:off x="2590800" y="4495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9</a:t>
            </a:r>
          </a:p>
        </p:txBody>
      </p:sp>
      <p:sp>
        <p:nvSpPr>
          <p:cNvPr id="61450" name="Oval 10"/>
          <p:cNvSpPr>
            <a:spLocks noChangeArrowheads="1"/>
          </p:cNvSpPr>
          <p:nvPr/>
        </p:nvSpPr>
        <p:spPr bwMode="auto">
          <a:xfrm>
            <a:off x="1219200" y="5486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5</a:t>
            </a:r>
          </a:p>
        </p:txBody>
      </p:sp>
      <p:sp>
        <p:nvSpPr>
          <p:cNvPr id="61451" name="Oval 11"/>
          <p:cNvSpPr>
            <a:spLocks noChangeArrowheads="1"/>
          </p:cNvSpPr>
          <p:nvPr/>
        </p:nvSpPr>
        <p:spPr bwMode="auto">
          <a:xfrm>
            <a:off x="609600" y="6248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4</a:t>
            </a:r>
          </a:p>
        </p:txBody>
      </p:sp>
      <p:sp>
        <p:nvSpPr>
          <p:cNvPr id="61452" name="Oval 12"/>
          <p:cNvSpPr>
            <a:spLocks noChangeArrowheads="1"/>
          </p:cNvSpPr>
          <p:nvPr/>
        </p:nvSpPr>
        <p:spPr bwMode="auto">
          <a:xfrm>
            <a:off x="1828800" y="62484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5</a:t>
            </a:r>
          </a:p>
        </p:txBody>
      </p:sp>
      <p:sp>
        <p:nvSpPr>
          <p:cNvPr id="61453" name="Oval 13"/>
          <p:cNvSpPr>
            <a:spLocks noChangeArrowheads="1"/>
          </p:cNvSpPr>
          <p:nvPr/>
        </p:nvSpPr>
        <p:spPr bwMode="auto">
          <a:xfrm>
            <a:off x="6781800" y="2895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61454" name="Oval 14"/>
          <p:cNvSpPr>
            <a:spLocks noChangeArrowheads="1"/>
          </p:cNvSpPr>
          <p:nvPr/>
        </p:nvSpPr>
        <p:spPr bwMode="auto">
          <a:xfrm>
            <a:off x="60960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14</a:t>
            </a:r>
          </a:p>
        </p:txBody>
      </p:sp>
      <p:sp>
        <p:nvSpPr>
          <p:cNvPr id="61455" name="Oval 15"/>
          <p:cNvSpPr>
            <a:spLocks noChangeArrowheads="1"/>
          </p:cNvSpPr>
          <p:nvPr/>
        </p:nvSpPr>
        <p:spPr bwMode="auto">
          <a:xfrm>
            <a:off x="7543800" y="37338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18</a:t>
            </a:r>
          </a:p>
        </p:txBody>
      </p:sp>
      <p:sp>
        <p:nvSpPr>
          <p:cNvPr id="61456" name="Oval 16"/>
          <p:cNvSpPr>
            <a:spLocks noChangeArrowheads="1"/>
          </p:cNvSpPr>
          <p:nvPr/>
        </p:nvSpPr>
        <p:spPr bwMode="auto">
          <a:xfrm>
            <a:off x="6934200" y="4419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16</a:t>
            </a:r>
          </a:p>
        </p:txBody>
      </p:sp>
      <p:sp>
        <p:nvSpPr>
          <p:cNvPr id="61457" name="Oval 17"/>
          <p:cNvSpPr>
            <a:spLocks noChangeArrowheads="1"/>
          </p:cNvSpPr>
          <p:nvPr/>
        </p:nvSpPr>
        <p:spPr bwMode="auto">
          <a:xfrm>
            <a:off x="8382000" y="44196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20</a:t>
            </a:r>
          </a:p>
        </p:txBody>
      </p:sp>
      <p:sp>
        <p:nvSpPr>
          <p:cNvPr id="61458" name="Oval 18"/>
          <p:cNvSpPr>
            <a:spLocks noChangeArrowheads="1"/>
          </p:cNvSpPr>
          <p:nvPr/>
        </p:nvSpPr>
        <p:spPr bwMode="auto">
          <a:xfrm>
            <a:off x="7696200" y="5334000"/>
            <a:ext cx="3810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/>
              <a:t>17</a:t>
            </a:r>
          </a:p>
        </p:txBody>
      </p:sp>
      <p:sp>
        <p:nvSpPr>
          <p:cNvPr id="61459" name="Line 19"/>
          <p:cNvSpPr>
            <a:spLocks noChangeShapeType="1"/>
          </p:cNvSpPr>
          <p:nvPr/>
        </p:nvSpPr>
        <p:spPr bwMode="auto">
          <a:xfrm flipH="1">
            <a:off x="1828800" y="2362200"/>
            <a:ext cx="2286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60" name="Line 20"/>
          <p:cNvSpPr>
            <a:spLocks noChangeShapeType="1"/>
          </p:cNvSpPr>
          <p:nvPr/>
        </p:nvSpPr>
        <p:spPr bwMode="auto">
          <a:xfrm flipH="1">
            <a:off x="8382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61" name="Line 21"/>
          <p:cNvSpPr>
            <a:spLocks noChangeShapeType="1"/>
          </p:cNvSpPr>
          <p:nvPr/>
        </p:nvSpPr>
        <p:spPr bwMode="auto">
          <a:xfrm>
            <a:off x="1752600" y="3200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62" name="Line 22"/>
          <p:cNvSpPr>
            <a:spLocks noChangeShapeType="1"/>
          </p:cNvSpPr>
          <p:nvPr/>
        </p:nvSpPr>
        <p:spPr bwMode="auto">
          <a:xfrm flipH="1">
            <a:off x="1905000" y="40386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63" name="Line 23"/>
          <p:cNvSpPr>
            <a:spLocks noChangeShapeType="1"/>
          </p:cNvSpPr>
          <p:nvPr/>
        </p:nvSpPr>
        <p:spPr bwMode="auto">
          <a:xfrm>
            <a:off x="2362200" y="40386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64" name="Line 24"/>
          <p:cNvSpPr>
            <a:spLocks noChangeShapeType="1"/>
          </p:cNvSpPr>
          <p:nvPr/>
        </p:nvSpPr>
        <p:spPr bwMode="auto">
          <a:xfrm flipH="1">
            <a:off x="1447800" y="48006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65" name="Line 25"/>
          <p:cNvSpPr>
            <a:spLocks noChangeShapeType="1"/>
          </p:cNvSpPr>
          <p:nvPr/>
        </p:nvSpPr>
        <p:spPr bwMode="auto">
          <a:xfrm flipH="1">
            <a:off x="838200" y="57912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66" name="Line 26"/>
          <p:cNvSpPr>
            <a:spLocks noChangeShapeType="1"/>
          </p:cNvSpPr>
          <p:nvPr/>
        </p:nvSpPr>
        <p:spPr bwMode="auto">
          <a:xfrm>
            <a:off x="1447800" y="57912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67" name="Line 27"/>
          <p:cNvSpPr>
            <a:spLocks noChangeShapeType="1"/>
          </p:cNvSpPr>
          <p:nvPr/>
        </p:nvSpPr>
        <p:spPr bwMode="auto">
          <a:xfrm>
            <a:off x="4495800" y="2362200"/>
            <a:ext cx="2362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68" name="Line 28"/>
          <p:cNvSpPr>
            <a:spLocks noChangeShapeType="1"/>
          </p:cNvSpPr>
          <p:nvPr/>
        </p:nvSpPr>
        <p:spPr bwMode="auto">
          <a:xfrm flipH="1">
            <a:off x="6324600" y="32004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69" name="Line 29"/>
          <p:cNvSpPr>
            <a:spLocks noChangeShapeType="1"/>
          </p:cNvSpPr>
          <p:nvPr/>
        </p:nvSpPr>
        <p:spPr bwMode="auto">
          <a:xfrm>
            <a:off x="7010400" y="3200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70" name="Line 30"/>
          <p:cNvSpPr>
            <a:spLocks noChangeShapeType="1"/>
          </p:cNvSpPr>
          <p:nvPr/>
        </p:nvSpPr>
        <p:spPr bwMode="auto">
          <a:xfrm flipH="1">
            <a:off x="7086600" y="40386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71" name="Line 31"/>
          <p:cNvSpPr>
            <a:spLocks noChangeShapeType="1"/>
          </p:cNvSpPr>
          <p:nvPr/>
        </p:nvSpPr>
        <p:spPr bwMode="auto">
          <a:xfrm>
            <a:off x="7772400" y="40386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72" name="Line 32"/>
          <p:cNvSpPr>
            <a:spLocks noChangeShapeType="1"/>
          </p:cNvSpPr>
          <p:nvPr/>
        </p:nvSpPr>
        <p:spPr bwMode="auto">
          <a:xfrm>
            <a:off x="7162800" y="4724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73" name="Rectangle 33"/>
          <p:cNvSpPr>
            <a:spLocks noChangeArrowheads="1"/>
          </p:cNvSpPr>
          <p:nvPr/>
        </p:nvSpPr>
        <p:spPr bwMode="auto">
          <a:xfrm>
            <a:off x="2438400" y="5791200"/>
            <a:ext cx="6705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rtl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2800">
                <a:solidFill>
                  <a:srgbClr val="FF0000"/>
                </a:solidFill>
                <a:latin typeface="Comic Sans MS" pitchFamily="66" charset="0"/>
              </a:rPr>
              <a:t>“Binary Search Tree” of a given data 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11163"/>
          </a:xfrm>
        </p:spPr>
        <p:txBody>
          <a:bodyPr/>
          <a:lstStyle/>
          <a:p>
            <a:r>
              <a:rPr lang="en-US" smtClean="0"/>
              <a:t>Binary Tree Implementation</a:t>
            </a:r>
            <a:endParaRPr lang="ur-PK" smtClean="0"/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algn="l" rtl="0">
              <a:buFontTx/>
              <a:buNone/>
            </a:pPr>
            <a:r>
              <a:rPr lang="en-US" sz="2000" b="1" smtClean="0"/>
              <a:t>Class BinaryTree{</a:t>
            </a:r>
          </a:p>
          <a:p>
            <a:pPr algn="l" rtl="0">
              <a:buFontTx/>
              <a:buNone/>
            </a:pPr>
            <a:r>
              <a:rPr lang="en-US" sz="2000" b="1" smtClean="0"/>
              <a:t>	private:</a:t>
            </a:r>
          </a:p>
          <a:p>
            <a:pPr algn="l" rtl="0">
              <a:buFontTx/>
              <a:buNone/>
            </a:pPr>
            <a:r>
              <a:rPr lang="en-US" sz="2000" b="1" smtClean="0"/>
              <a:t>		struct node{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  		int data;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  		node* LTree;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  		node* RTree;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  	};</a:t>
            </a:r>
          </a:p>
          <a:p>
            <a:pPr algn="l" rtl="0">
              <a:buFontTx/>
              <a:buNone/>
            </a:pPr>
            <a:r>
              <a:rPr lang="en-US" sz="2000" b="1" smtClean="0"/>
              <a:t>   public:</a:t>
            </a:r>
          </a:p>
          <a:p>
            <a:pPr algn="l" rtl="0">
              <a:buFontTx/>
              <a:buNone/>
            </a:pPr>
            <a:r>
              <a:rPr lang="en-US" sz="2000" b="1" smtClean="0"/>
              <a:t>   	 node* root;</a:t>
            </a:r>
          </a:p>
          <a:p>
            <a:pPr algn="l" rtl="0">
              <a:buFontTx/>
              <a:buNone/>
            </a:pPr>
            <a:r>
              <a:rPr lang="en-US" sz="2000" b="1" smtClean="0"/>
              <a:t>   	 BinaryTree( ){ root = NULL; }</a:t>
            </a:r>
          </a:p>
          <a:p>
            <a:pPr algn="l" rtl="0">
              <a:buFontTx/>
              <a:buNone/>
            </a:pPr>
            <a:r>
              <a:rPr lang="en-US" sz="2000" b="1" smtClean="0"/>
              <a:t>      node* Insert(node* , int);</a:t>
            </a:r>
          </a:p>
          <a:p>
            <a:pPr algn="l" rtl="0">
              <a:buFontTx/>
              <a:buNone/>
            </a:pPr>
            <a:r>
              <a:rPr lang="en-US" sz="2000" b="1" smtClean="0"/>
              <a:t>      void Search(node* , int);</a:t>
            </a:r>
          </a:p>
          <a:p>
            <a:pPr algn="l" rtl="0">
              <a:buFontTx/>
              <a:buNone/>
            </a:pPr>
            <a:r>
              <a:rPr lang="en-US" sz="2000" b="1" smtClean="0"/>
              <a:t>      void InorderTraversal(node*);</a:t>
            </a:r>
          </a:p>
          <a:p>
            <a:pPr algn="l" rtl="0">
              <a:buFontTx/>
              <a:buNone/>
            </a:pPr>
            <a:r>
              <a:rPr lang="en-US" sz="2000" b="1" smtClean="0"/>
              <a:t>      void PreorderTraversal(node*);</a:t>
            </a:r>
          </a:p>
          <a:p>
            <a:pPr algn="l" rtl="0">
              <a:buFontTx/>
              <a:buNone/>
            </a:pPr>
            <a:r>
              <a:rPr lang="en-US" sz="2000" b="1" smtClean="0"/>
              <a:t>      void PostorderTraversal(node*);</a:t>
            </a:r>
          </a:p>
          <a:p>
            <a:pPr algn="l" rtl="0">
              <a:buFontTx/>
              <a:buNone/>
            </a:pPr>
            <a:r>
              <a:rPr lang="en-US" sz="2000" b="1" smtClean="0"/>
              <a:t>};</a:t>
            </a:r>
            <a:endParaRPr lang="ur-PK" sz="20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r>
              <a:rPr lang="en-US" smtClean="0"/>
              <a:t>Inorder Traversal Function</a:t>
            </a:r>
            <a:endParaRPr lang="ur-PK" smtClean="0"/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algn="l" rtl="0">
              <a:buFontTx/>
              <a:buNone/>
            </a:pPr>
            <a:endParaRPr lang="en-US" sz="2400" b="1" smtClean="0"/>
          </a:p>
          <a:p>
            <a:pPr algn="l" rtl="0">
              <a:buFontTx/>
              <a:buNone/>
            </a:pPr>
            <a:endParaRPr lang="en-US" sz="2400" b="1" smtClean="0"/>
          </a:p>
          <a:p>
            <a:pPr algn="l" rtl="0">
              <a:buFontTx/>
              <a:buNone/>
            </a:pPr>
            <a:r>
              <a:rPr lang="en-US" sz="2400" b="1" smtClean="0"/>
              <a:t>void BinaryTree::InorderTraversal(node* temp)</a:t>
            </a:r>
          </a:p>
          <a:p>
            <a:pPr algn="l" rtl="0">
              <a:buFontTx/>
              <a:buNone/>
            </a:pPr>
            <a:r>
              <a:rPr lang="en-US" sz="2400" b="1" smtClean="0"/>
              <a:t>{</a:t>
            </a:r>
          </a:p>
          <a:p>
            <a:pPr algn="l" rtl="0">
              <a:buFontTx/>
              <a:buNone/>
            </a:pPr>
            <a:r>
              <a:rPr lang="en-US" sz="2400" b="1" smtClean="0"/>
              <a:t>	if(temp!=NULL)</a:t>
            </a:r>
          </a:p>
          <a:p>
            <a:pPr algn="l" rtl="0">
              <a:buFontTx/>
              <a:buNone/>
            </a:pPr>
            <a:r>
              <a:rPr lang="en-US" sz="2400" b="1" smtClean="0"/>
              <a:t>   {</a:t>
            </a:r>
          </a:p>
          <a:p>
            <a:pPr algn="l" rtl="0">
              <a:buFontTx/>
              <a:buNone/>
            </a:pPr>
            <a:r>
              <a:rPr lang="en-US" sz="2400" b="1" smtClean="0"/>
              <a:t>   		InorderTraversal(temp-&gt;LTree);</a:t>
            </a:r>
          </a:p>
          <a:p>
            <a:pPr algn="l" rtl="0">
              <a:buFontTx/>
              <a:buNone/>
            </a:pPr>
            <a:r>
              <a:rPr lang="en-US" sz="2400" b="1" smtClean="0"/>
              <a:t>      	cout&lt;&lt; temp-&gt;data;</a:t>
            </a:r>
          </a:p>
          <a:p>
            <a:pPr algn="l" rtl="0">
              <a:buFontTx/>
              <a:buNone/>
            </a:pPr>
            <a:r>
              <a:rPr lang="en-US" sz="2400" b="1" smtClean="0"/>
              <a:t>     	InorderTraversal(temp-&gt;RTree);</a:t>
            </a:r>
          </a:p>
          <a:p>
            <a:pPr algn="l" rtl="0">
              <a:buFontTx/>
              <a:buNone/>
            </a:pPr>
            <a:r>
              <a:rPr lang="en-US" sz="2400" b="1" smtClean="0"/>
              <a:t>   }</a:t>
            </a:r>
          </a:p>
          <a:p>
            <a:pPr algn="l" rtl="0">
              <a:buFontTx/>
              <a:buNone/>
            </a:pPr>
            <a:r>
              <a:rPr lang="en-US" sz="2400" b="1" smtClean="0"/>
              <a:t>}</a:t>
            </a:r>
            <a:endParaRPr lang="ur-PK" sz="24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Postorder Traversal Function</a:t>
            </a:r>
            <a:endParaRPr lang="ur-PK" smtClean="0"/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>
              <a:buFontTx/>
              <a:buNone/>
            </a:pPr>
            <a:r>
              <a:rPr lang="en-US" sz="2400" b="1" smtClean="0"/>
              <a:t>void BinaryTree::PostorderTraversal(node* temp)</a:t>
            </a:r>
          </a:p>
          <a:p>
            <a:pPr algn="l" rtl="0">
              <a:buFontTx/>
              <a:buNone/>
            </a:pPr>
            <a:r>
              <a:rPr lang="en-US" sz="2400" b="1" smtClean="0"/>
              <a:t>{</a:t>
            </a:r>
          </a:p>
          <a:p>
            <a:pPr algn="l" rtl="0">
              <a:buFontTx/>
              <a:buNone/>
            </a:pPr>
            <a:r>
              <a:rPr lang="en-US" sz="2400" b="1" smtClean="0"/>
              <a:t>	if(temp!=NULL)</a:t>
            </a:r>
          </a:p>
          <a:p>
            <a:pPr algn="l" rtl="0">
              <a:buFontTx/>
              <a:buNone/>
            </a:pPr>
            <a:r>
              <a:rPr lang="en-US" sz="2400" b="1" smtClean="0"/>
              <a:t>   {</a:t>
            </a:r>
          </a:p>
          <a:p>
            <a:pPr algn="l" rtl="0">
              <a:buFontTx/>
              <a:buNone/>
            </a:pPr>
            <a:r>
              <a:rPr lang="en-US" sz="2400" b="1" smtClean="0"/>
              <a:t>   		PostorderTraversal(temp-&gt;LTree);</a:t>
            </a:r>
          </a:p>
          <a:p>
            <a:pPr algn="l" rtl="0">
              <a:buFontTx/>
              <a:buNone/>
            </a:pPr>
            <a:r>
              <a:rPr lang="en-US" sz="2400" b="1" smtClean="0"/>
              <a:t>      	PostorderTraversal(temp-&gt;RTree);</a:t>
            </a:r>
          </a:p>
          <a:p>
            <a:pPr algn="l" rtl="0">
              <a:buFontTx/>
              <a:buNone/>
            </a:pPr>
            <a:r>
              <a:rPr lang="en-US" sz="2400" b="1" smtClean="0"/>
              <a:t>      	cout&lt;&lt; temp-&gt;data;</a:t>
            </a:r>
          </a:p>
          <a:p>
            <a:pPr algn="l" rtl="0">
              <a:buFontTx/>
              <a:buNone/>
            </a:pPr>
            <a:r>
              <a:rPr lang="en-US" sz="2400" b="1" smtClean="0"/>
              <a:t>   }</a:t>
            </a:r>
          </a:p>
          <a:p>
            <a:pPr algn="l" rtl="0">
              <a:buFontTx/>
              <a:buNone/>
            </a:pPr>
            <a:r>
              <a:rPr lang="en-US" sz="2400" b="1" smtClean="0"/>
              <a:t>}</a:t>
            </a:r>
            <a:endParaRPr lang="ur-PK" sz="24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Preorder Traversal Function</a:t>
            </a:r>
            <a:endParaRPr lang="ur-PK" smtClean="0"/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>
              <a:buFontTx/>
              <a:buNone/>
            </a:pPr>
            <a:r>
              <a:rPr lang="en-US" sz="2400" b="1" smtClean="0"/>
              <a:t>void BinaryTree::PreorderTraversal(node* temp)</a:t>
            </a:r>
          </a:p>
          <a:p>
            <a:pPr algn="l" rtl="0">
              <a:buFontTx/>
              <a:buNone/>
            </a:pPr>
            <a:r>
              <a:rPr lang="en-US" sz="2400" b="1" smtClean="0"/>
              <a:t>{</a:t>
            </a:r>
          </a:p>
          <a:p>
            <a:pPr algn="l" rtl="0">
              <a:buFontTx/>
              <a:buNone/>
            </a:pPr>
            <a:r>
              <a:rPr lang="en-US" sz="2400" b="1" smtClean="0"/>
              <a:t>    if(temp!=NULL)</a:t>
            </a:r>
          </a:p>
          <a:p>
            <a:pPr algn="l" rtl="0">
              <a:buFontTx/>
              <a:buNone/>
            </a:pPr>
            <a:r>
              <a:rPr lang="en-US" sz="2400" b="1" smtClean="0"/>
              <a:t>   {</a:t>
            </a:r>
          </a:p>
          <a:p>
            <a:pPr algn="l" rtl="0">
              <a:buFontTx/>
              <a:buNone/>
            </a:pPr>
            <a:r>
              <a:rPr lang="en-US" sz="2400" b="1" smtClean="0"/>
              <a:t>   		cout&lt;&lt;temp-&gt;data;</a:t>
            </a:r>
          </a:p>
          <a:p>
            <a:pPr algn="l" rtl="0">
              <a:buFontTx/>
              <a:buNone/>
            </a:pPr>
            <a:r>
              <a:rPr lang="en-US" sz="2400" b="1" smtClean="0"/>
              <a:t>      	PreorderTraversal(temp-&gt;LTree);</a:t>
            </a:r>
          </a:p>
          <a:p>
            <a:pPr algn="l" rtl="0">
              <a:buFontTx/>
              <a:buNone/>
            </a:pPr>
            <a:r>
              <a:rPr lang="en-US" sz="2400" b="1" smtClean="0"/>
              <a:t>      	PreorderTraversal(temp-&gt;RTree);</a:t>
            </a:r>
          </a:p>
          <a:p>
            <a:pPr algn="l" rtl="0">
              <a:buFontTx/>
              <a:buNone/>
            </a:pPr>
            <a:r>
              <a:rPr lang="en-US" sz="2400" b="1" smtClean="0"/>
              <a:t>   }</a:t>
            </a:r>
          </a:p>
          <a:p>
            <a:pPr algn="l" rtl="0">
              <a:buFontTx/>
              <a:buNone/>
            </a:pPr>
            <a:r>
              <a:rPr lang="en-US" sz="2400" b="1" smtClean="0"/>
              <a:t>}</a:t>
            </a:r>
            <a:endParaRPr lang="ur-PK" sz="24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Searching in Binary Search Tree</a:t>
            </a:r>
            <a:endParaRPr lang="ur-PK" smtClean="0"/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sz="2400" b="1" smtClean="0"/>
              <a:t>Three steps of searching</a:t>
            </a:r>
          </a:p>
          <a:p>
            <a:pPr lvl="1" algn="l" rtl="0"/>
            <a:r>
              <a:rPr lang="en-US" sz="2000" b="1" smtClean="0"/>
              <a:t>The item which is to be searched is compared with the root node. If the item is equal to the root, then we are done.</a:t>
            </a:r>
          </a:p>
          <a:p>
            <a:pPr lvl="1" algn="l" rtl="0"/>
            <a:r>
              <a:rPr lang="en-US" sz="2000" b="1" smtClean="0"/>
              <a:t>If its less than the root node then we search in the left sub-tree.</a:t>
            </a:r>
          </a:p>
          <a:p>
            <a:pPr lvl="1" algn="l" rtl="0"/>
            <a:r>
              <a:rPr lang="en-US" sz="2000" b="1" smtClean="0"/>
              <a:t>If its more than the root node then we search in the right sub-tree.</a:t>
            </a:r>
          </a:p>
          <a:p>
            <a:pPr algn="l" rtl="0"/>
            <a:endParaRPr lang="en-US" sz="2400" b="1" smtClean="0"/>
          </a:p>
          <a:p>
            <a:pPr algn="l" rtl="0"/>
            <a:r>
              <a:rPr lang="en-US" sz="2400" b="1" smtClean="0"/>
              <a:t>The above process will continue till the item is found or you reached end of the tree. </a:t>
            </a:r>
            <a:endParaRPr lang="ur-PK" sz="24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905000" y="228600"/>
          <a:ext cx="5410200" cy="4156075"/>
        </p:xfrm>
        <a:graphic>
          <a:graphicData uri="http://schemas.openxmlformats.org/presentationml/2006/ole">
            <p:oleObj spid="_x0000_s3074" name="Bitmap Image" r:id="rId3" imgW="3780952" imgH="2905531" progId="PBrush">
              <p:embed/>
            </p:oleObj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1905000" y="4343400"/>
          <a:ext cx="5410200" cy="2413000"/>
        </p:xfrm>
        <a:graphic>
          <a:graphicData uri="http://schemas.openxmlformats.org/presentationml/2006/ole">
            <p:oleObj spid="_x0000_s3075" name="Bitmap Image" r:id="rId4" imgW="3696216" imgH="1647619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Search Function</a:t>
            </a:r>
            <a:endParaRPr lang="ur-PK" smtClean="0"/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algn="l" rtl="0">
              <a:buFontTx/>
              <a:buNone/>
            </a:pPr>
            <a:r>
              <a:rPr lang="en-US" sz="2400" b="1" smtClean="0"/>
              <a:t>void BinaryTree::Search(node* temp, int num)</a:t>
            </a:r>
          </a:p>
          <a:p>
            <a:pPr algn="l" rtl="0">
              <a:buFontTx/>
              <a:buNone/>
            </a:pPr>
            <a:r>
              <a:rPr lang="en-US" sz="2400" b="1" smtClean="0"/>
              <a:t>{</a:t>
            </a:r>
          </a:p>
          <a:p>
            <a:pPr algn="l" rtl="0">
              <a:buFontTx/>
              <a:buNone/>
            </a:pPr>
            <a:r>
              <a:rPr lang="en-US" sz="2400" b="1" smtClean="0"/>
              <a:t>	if(temp==NULL)</a:t>
            </a:r>
          </a:p>
          <a:p>
            <a:pPr algn="l" rtl="0">
              <a:buFontTx/>
              <a:buNone/>
            </a:pPr>
            <a:r>
              <a:rPr lang="en-US" sz="2400" b="1" smtClean="0"/>
              <a:t>   		cout&lt;&lt;“Number not found";</a:t>
            </a:r>
          </a:p>
          <a:p>
            <a:pPr algn="l" rtl="0">
              <a:buFontTx/>
              <a:buNone/>
            </a:pPr>
            <a:r>
              <a:rPr lang="en-US" sz="2400" b="1" smtClean="0"/>
              <a:t>   else	if(temp-&gt;data == num)</a:t>
            </a:r>
          </a:p>
          <a:p>
            <a:pPr algn="l" rtl="0">
              <a:buFontTx/>
              <a:buNone/>
            </a:pPr>
            <a:r>
              <a:rPr lang="en-US" sz="2400" b="1" smtClean="0"/>
              <a:t>      		cout&lt;&lt;"Number found";</a:t>
            </a:r>
          </a:p>
          <a:p>
            <a:pPr algn="l" rtl="0">
              <a:buFontTx/>
              <a:buNone/>
            </a:pPr>
            <a:r>
              <a:rPr lang="en-US" sz="2400" b="1" smtClean="0"/>
              <a:t>   else if(temp-&gt;data &gt; num)</a:t>
            </a:r>
          </a:p>
          <a:p>
            <a:pPr algn="l" rtl="0">
              <a:buFontTx/>
              <a:buNone/>
            </a:pPr>
            <a:r>
              <a:rPr lang="en-US" sz="2400" b="1" smtClean="0"/>
              <a:t>          		Search(temp-&gt;LTree, num);</a:t>
            </a:r>
          </a:p>
          <a:p>
            <a:pPr algn="l" rtl="0">
              <a:buFontTx/>
              <a:buNone/>
            </a:pPr>
            <a:r>
              <a:rPr lang="en-US" sz="2400" b="1" smtClean="0"/>
              <a:t>   else if(temp-&gt;data &lt; num)</a:t>
            </a:r>
          </a:p>
          <a:p>
            <a:pPr algn="l" rtl="0">
              <a:buFontTx/>
              <a:buNone/>
            </a:pPr>
            <a:r>
              <a:rPr lang="en-US" sz="2400" b="1" smtClean="0"/>
              <a:t>   			Search(temp-&gt;RTree, num);</a:t>
            </a:r>
          </a:p>
          <a:p>
            <a:pPr algn="l" rtl="0">
              <a:buFontTx/>
              <a:buNone/>
            </a:pPr>
            <a:r>
              <a:rPr lang="en-US" sz="2400" b="1" smtClean="0"/>
              <a:t>} </a:t>
            </a:r>
            <a:endParaRPr lang="ur-PK" sz="24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Insertion in BST</a:t>
            </a:r>
            <a:endParaRPr lang="ur-PK" smtClean="0"/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endParaRPr lang="en-US" sz="2400" b="1" smtClean="0"/>
          </a:p>
          <a:p>
            <a:pPr algn="l" rtl="0"/>
            <a:r>
              <a:rPr lang="en-US" sz="2400" b="1" smtClean="0"/>
              <a:t>Three steps of insertion</a:t>
            </a:r>
          </a:p>
          <a:p>
            <a:pPr lvl="1" algn="l" rtl="0"/>
            <a:r>
              <a:rPr lang="en-US" sz="2000" b="1" smtClean="0"/>
              <a:t>If the root of the tree is NULL then insert the first node and root points to that node.</a:t>
            </a:r>
          </a:p>
          <a:p>
            <a:pPr lvl="1" algn="l" rtl="0"/>
            <a:r>
              <a:rPr lang="en-US" sz="2000" b="1" smtClean="0"/>
              <a:t>If the inserted number is lesser than the root node then insert the node in the left sub-tree.</a:t>
            </a:r>
          </a:p>
          <a:p>
            <a:pPr lvl="1" algn="l" rtl="0"/>
            <a:r>
              <a:rPr lang="en-US" sz="2000" b="1" smtClean="0"/>
              <a:t>If the inserted number is greater than the root node then insert the node in the right sub-tree.</a:t>
            </a:r>
          </a:p>
          <a:p>
            <a:pPr lvl="1" algn="l" rtl="0"/>
            <a:endParaRPr lang="en-US" sz="20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3"/>
          </a:xfrm>
        </p:spPr>
        <p:txBody>
          <a:bodyPr/>
          <a:lstStyle/>
          <a:p>
            <a:r>
              <a:rPr lang="en-US" smtClean="0"/>
              <a:t>Insertion Function</a:t>
            </a:r>
            <a:endParaRPr lang="ur-PK" smtClean="0"/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algn="l" rtl="0">
              <a:buFontTx/>
              <a:buNone/>
            </a:pPr>
            <a:r>
              <a:rPr lang="en-US" sz="2000" b="1" smtClean="0"/>
              <a:t>node* BinaryTree::Insert(node* temp, int num)</a:t>
            </a:r>
          </a:p>
          <a:p>
            <a:pPr algn="l" rtl="0">
              <a:buFontTx/>
              <a:buNone/>
            </a:pPr>
            <a:r>
              <a:rPr lang="en-US" sz="2000" b="1" smtClean="0"/>
              <a:t>{</a:t>
            </a:r>
          </a:p>
          <a:p>
            <a:pPr algn="l" rtl="0">
              <a:buFontTx/>
              <a:buNone/>
            </a:pPr>
            <a:r>
              <a:rPr lang="en-US" sz="2000" b="1" smtClean="0"/>
              <a:t>   	if ( temp == NULL )</a:t>
            </a:r>
          </a:p>
          <a:p>
            <a:pPr algn="l" rtl="0">
              <a:buFontTx/>
              <a:buNone/>
            </a:pPr>
            <a:r>
              <a:rPr lang="en-US" sz="2000" b="1" smtClean="0"/>
              <a:t>   	{</a:t>
            </a:r>
          </a:p>
          <a:p>
            <a:pPr algn="l" rtl="0">
              <a:buFontTx/>
              <a:buNone/>
            </a:pPr>
            <a:r>
              <a:rPr lang="en-US" sz="2000" b="1" smtClean="0"/>
              <a:t>   		temp = new node;</a:t>
            </a:r>
          </a:p>
          <a:p>
            <a:pPr algn="l" rtl="0">
              <a:buFontTx/>
              <a:buNone/>
            </a:pPr>
            <a:r>
              <a:rPr lang="en-US" sz="2000" b="1" smtClean="0"/>
              <a:t>   		temp-&gt;data= num;</a:t>
            </a:r>
          </a:p>
          <a:p>
            <a:pPr algn="l" rtl="0">
              <a:buFontTx/>
              <a:buNone/>
            </a:pPr>
            <a:r>
              <a:rPr lang="en-US" sz="2000" b="1" smtClean="0"/>
              <a:t>      	temp-&gt;LTree= NULL;</a:t>
            </a:r>
          </a:p>
          <a:p>
            <a:pPr algn="l" rtl="0">
              <a:buFontTx/>
              <a:buNone/>
            </a:pPr>
            <a:r>
              <a:rPr lang="en-US" sz="2000" b="1" smtClean="0"/>
              <a:t>      	temp-&gt;RTree=NULL;</a:t>
            </a:r>
          </a:p>
          <a:p>
            <a:pPr algn="l" rtl="0">
              <a:buFontTx/>
              <a:buNone/>
            </a:pPr>
            <a:r>
              <a:rPr lang="en-US" sz="2000" b="1" smtClean="0"/>
              <a:t>   	}</a:t>
            </a:r>
          </a:p>
          <a:p>
            <a:pPr algn="l" rtl="0">
              <a:buFontTx/>
              <a:buNone/>
            </a:pPr>
            <a:r>
              <a:rPr lang="en-US" sz="2000" b="1" smtClean="0"/>
              <a:t>   	else if(num &lt; temp-&gt;data)</a:t>
            </a:r>
          </a:p>
          <a:p>
            <a:pPr algn="l" rtl="0">
              <a:buFontTx/>
              <a:buNone/>
            </a:pPr>
            <a:r>
              <a:rPr lang="en-US" sz="2000" b="1" smtClean="0"/>
              <a:t>      	temp-&gt;LTree = Insert(temp-&gt;LTree, num);</a:t>
            </a:r>
          </a:p>
          <a:p>
            <a:pPr algn="l" rtl="0">
              <a:buFontTx/>
              <a:buNone/>
            </a:pPr>
            <a:r>
              <a:rPr lang="en-US" sz="2000" b="1" smtClean="0"/>
              <a:t>   	else if( num &gt;= temp-&gt;data)</a:t>
            </a:r>
          </a:p>
          <a:p>
            <a:pPr algn="l" rtl="0">
              <a:buFontTx/>
              <a:buNone/>
            </a:pPr>
            <a:r>
              <a:rPr lang="en-US" sz="2000" b="1" smtClean="0"/>
              <a:t>      	temp-&gt;RTree = Insert(temp-&gt;RTree,num);</a:t>
            </a:r>
          </a:p>
          <a:p>
            <a:pPr algn="l" rtl="0">
              <a:buFontTx/>
              <a:buNone/>
            </a:pPr>
            <a:r>
              <a:rPr lang="en-US" sz="2000" b="1" smtClean="0"/>
              <a:t>   	return temp;</a:t>
            </a:r>
          </a:p>
          <a:p>
            <a:pPr algn="l" rtl="0">
              <a:buFontTx/>
              <a:buNone/>
            </a:pPr>
            <a:r>
              <a:rPr lang="en-US" sz="2000" b="1" smtClean="0"/>
              <a:t>}</a:t>
            </a:r>
          </a:p>
          <a:p>
            <a:pPr algn="l" rtl="0">
              <a:buFontTx/>
              <a:buNone/>
            </a:pPr>
            <a:endParaRPr lang="ur-PK" sz="20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Deletion in BST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smtClean="0"/>
              <a:t>When we delete a node, we need to consider how we take care of the children of the deleted node.</a:t>
            </a:r>
          </a:p>
          <a:p>
            <a:pPr lvl="1" algn="l" rtl="0"/>
            <a:r>
              <a:rPr lang="en-US" smtClean="0"/>
              <a:t>This has to be done such that the property of the </a:t>
            </a:r>
            <a:r>
              <a:rPr lang="en-US" smtClean="0">
                <a:solidFill>
                  <a:srgbClr val="00FF00"/>
                </a:solidFill>
              </a:rPr>
              <a:t>search tree</a:t>
            </a:r>
            <a:r>
              <a:rPr lang="en-US" smtClean="0"/>
              <a:t> is maintained.</a:t>
            </a:r>
          </a:p>
          <a:p>
            <a:pPr algn="l" rtl="0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US" smtClean="0"/>
              <a:t>Deletion in BST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buFont typeface="Monotype Sorts" pitchFamily="2" charset="2"/>
              <a:buNone/>
            </a:pPr>
            <a:r>
              <a:rPr lang="en-US" sz="2400" b="1" smtClean="0"/>
              <a:t>Three cases:</a:t>
            </a:r>
          </a:p>
          <a:p>
            <a:pPr algn="l" rtl="0">
              <a:buFont typeface="Monotype Sorts" pitchFamily="2" charset="2"/>
              <a:buNone/>
            </a:pPr>
            <a:r>
              <a:rPr lang="en-US" sz="2400" b="1" smtClean="0"/>
              <a:t>(1) The node is a leaf</a:t>
            </a:r>
          </a:p>
          <a:p>
            <a:pPr lvl="1" algn="l" rtl="0"/>
            <a:r>
              <a:rPr lang="en-US" sz="2000" b="1" smtClean="0"/>
              <a:t>Delete it immediately</a:t>
            </a:r>
          </a:p>
          <a:p>
            <a:pPr algn="l" rtl="0">
              <a:buFont typeface="Monotype Sorts" pitchFamily="2" charset="2"/>
              <a:buNone/>
            </a:pPr>
            <a:r>
              <a:rPr lang="en-US" sz="2400" b="1" smtClean="0"/>
              <a:t>(2) The node has one child</a:t>
            </a:r>
          </a:p>
          <a:p>
            <a:pPr lvl="1" algn="l" rtl="0"/>
            <a:r>
              <a:rPr lang="en-US" sz="2000" b="1" smtClean="0"/>
              <a:t>Adjust a pointer from the parent to bypass that node</a:t>
            </a:r>
          </a:p>
        </p:txBody>
      </p:sp>
      <p:pic>
        <p:nvPicPr>
          <p:cNvPr id="71684" name="Picture 4" descr="fig4_24"/>
          <p:cNvPicPr>
            <a:picLocks noChangeAspect="1" noChangeArrowheads="1"/>
          </p:cNvPicPr>
          <p:nvPr/>
        </p:nvPicPr>
        <p:blipFill>
          <a:blip r:embed="rId2" cstate="print">
            <a:lum bright="-20000" contrast="80000"/>
          </a:blip>
          <a:srcRect/>
          <a:stretch>
            <a:fillRect/>
          </a:stretch>
        </p:blipFill>
        <p:spPr bwMode="auto">
          <a:xfrm>
            <a:off x="838200" y="3733800"/>
            <a:ext cx="7239000" cy="310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Deletion in BST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848600" cy="5029200"/>
          </a:xfrm>
        </p:spPr>
        <p:txBody>
          <a:bodyPr/>
          <a:lstStyle/>
          <a:p>
            <a:pPr algn="l" rtl="0"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b="1" smtClean="0"/>
              <a:t>(3) The node has 2 children</a:t>
            </a:r>
          </a:p>
          <a:p>
            <a:pPr lvl="1" algn="l" rtl="0">
              <a:lnSpc>
                <a:spcPct val="90000"/>
              </a:lnSpc>
            </a:pPr>
            <a:r>
              <a:rPr lang="en-US" sz="2000" b="1" smtClean="0"/>
              <a:t>Replace the key of that node with the minimum element at the right subtree </a:t>
            </a:r>
          </a:p>
          <a:p>
            <a:pPr lvl="1" algn="l" rtl="0">
              <a:lnSpc>
                <a:spcPct val="90000"/>
              </a:lnSpc>
            </a:pPr>
            <a:r>
              <a:rPr lang="en-US" sz="2000" b="1" smtClean="0"/>
              <a:t>Delete the minimum element </a:t>
            </a:r>
          </a:p>
          <a:p>
            <a:pPr lvl="2" algn="l" rtl="0">
              <a:lnSpc>
                <a:spcPct val="90000"/>
              </a:lnSpc>
            </a:pPr>
            <a:r>
              <a:rPr lang="en-US" sz="1800" b="1" smtClean="0"/>
              <a:t>Has either no child or only right child because if it has a left child, that left child would be smaller and would have been chosen. So invoke case 1 or 2.</a:t>
            </a:r>
          </a:p>
          <a:p>
            <a:pPr lvl="1" algn="l" rtl="0">
              <a:lnSpc>
                <a:spcPct val="90000"/>
              </a:lnSpc>
            </a:pPr>
            <a:endParaRPr lang="en-US" sz="2000" b="1" smtClean="0"/>
          </a:p>
          <a:p>
            <a:pPr lvl="1" algn="l" rtl="0">
              <a:lnSpc>
                <a:spcPct val="90000"/>
              </a:lnSpc>
            </a:pPr>
            <a:endParaRPr lang="en-US" sz="2000" b="1" smtClean="0"/>
          </a:p>
          <a:p>
            <a:pPr lvl="1" algn="l" rtl="0">
              <a:lnSpc>
                <a:spcPct val="90000"/>
              </a:lnSpc>
            </a:pPr>
            <a:endParaRPr lang="en-US" sz="2000" b="1" smtClean="0"/>
          </a:p>
          <a:p>
            <a:pPr lvl="1" algn="l" rtl="0">
              <a:lnSpc>
                <a:spcPct val="90000"/>
              </a:lnSpc>
            </a:pPr>
            <a:endParaRPr lang="en-US" sz="2000" b="1" smtClean="0"/>
          </a:p>
          <a:p>
            <a:pPr lvl="1" algn="l" rtl="0">
              <a:lnSpc>
                <a:spcPct val="90000"/>
              </a:lnSpc>
              <a:buFont typeface="Monotype Sorts" pitchFamily="2" charset="2"/>
              <a:buNone/>
            </a:pPr>
            <a:endParaRPr lang="en-US" sz="2000" b="1" smtClean="0"/>
          </a:p>
          <a:p>
            <a:pPr lvl="1" algn="l" rtl="0">
              <a:lnSpc>
                <a:spcPct val="90000"/>
              </a:lnSpc>
            </a:pPr>
            <a:endParaRPr lang="en-US" sz="2000" b="1" smtClean="0"/>
          </a:p>
          <a:p>
            <a:pPr lvl="1" algn="l" rtl="0">
              <a:lnSpc>
                <a:spcPct val="90000"/>
              </a:lnSpc>
            </a:pPr>
            <a:endParaRPr lang="en-US" sz="2000" b="1" smtClean="0"/>
          </a:p>
          <a:p>
            <a:pPr lvl="1" algn="l" rtl="0">
              <a:lnSpc>
                <a:spcPct val="90000"/>
              </a:lnSpc>
            </a:pPr>
            <a:endParaRPr lang="en-US" sz="2000" b="1" smtClean="0"/>
          </a:p>
          <a:p>
            <a:pPr lvl="1" algn="l" rtl="0">
              <a:lnSpc>
                <a:spcPct val="90000"/>
              </a:lnSpc>
              <a:buFontTx/>
              <a:buNone/>
            </a:pPr>
            <a:endParaRPr lang="en-US" sz="2000" b="1" smtClean="0"/>
          </a:p>
        </p:txBody>
      </p:sp>
      <p:pic>
        <p:nvPicPr>
          <p:cNvPr id="72708" name="Picture 4" descr="fig4_25"/>
          <p:cNvPicPr>
            <a:picLocks noChangeAspect="1" noChangeArrowheads="1"/>
          </p:cNvPicPr>
          <p:nvPr/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2057400" y="3657600"/>
            <a:ext cx="5181600" cy="294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09" name="Oval 5"/>
          <p:cNvSpPr>
            <a:spLocks noChangeArrowheads="1"/>
          </p:cNvSpPr>
          <p:nvPr/>
        </p:nvSpPr>
        <p:spPr bwMode="auto">
          <a:xfrm>
            <a:off x="2590800" y="4267200"/>
            <a:ext cx="304800" cy="304800"/>
          </a:xfrm>
          <a:prstGeom prst="ellips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72710" name="Oval 6"/>
          <p:cNvSpPr>
            <a:spLocks noChangeArrowheads="1"/>
          </p:cNvSpPr>
          <p:nvPr/>
        </p:nvSpPr>
        <p:spPr bwMode="auto">
          <a:xfrm>
            <a:off x="5867400" y="5410200"/>
            <a:ext cx="304800" cy="304800"/>
          </a:xfrm>
          <a:prstGeom prst="ellips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/>
          <a:lstStyle/>
          <a:p>
            <a:r>
              <a:rPr lang="en-US" smtClean="0"/>
              <a:t>Deletion Code</a:t>
            </a:r>
            <a:endParaRPr lang="ur-PK" smtClean="0"/>
          </a:p>
        </p:txBody>
      </p:sp>
      <p:sp>
        <p:nvSpPr>
          <p:cNvPr id="73731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686800" cy="5440363"/>
          </a:xfrm>
        </p:spPr>
        <p:txBody>
          <a:bodyPr/>
          <a:lstStyle/>
          <a:p>
            <a:pPr algn="l" rtl="0">
              <a:buFontTx/>
              <a:buNone/>
            </a:pPr>
            <a:r>
              <a:rPr lang="en-US" sz="2000" b="1" smtClean="0"/>
              <a:t>void BTree::DeleteNode(node* temp, int num)</a:t>
            </a:r>
          </a:p>
          <a:p>
            <a:pPr algn="l" rtl="0">
              <a:buFontTx/>
              <a:buNone/>
            </a:pPr>
            <a:r>
              <a:rPr lang="en-US" sz="2000" b="1" smtClean="0"/>
              <a:t>{	if (temp==NULL)</a:t>
            </a:r>
          </a:p>
          <a:p>
            <a:pPr algn="l" rtl="0">
              <a:buFontTx/>
              <a:buNone/>
            </a:pPr>
            <a:r>
              <a:rPr lang="en-US" sz="2000" b="1" smtClean="0"/>
              <a:t>   	cout&lt;&lt;"Number not Found";</a:t>
            </a:r>
          </a:p>
          <a:p>
            <a:pPr algn="l" rtl="0">
              <a:buFontTx/>
              <a:buNone/>
            </a:pPr>
            <a:r>
              <a:rPr lang="en-US" sz="2000" b="1" smtClean="0"/>
              <a:t>   else if((temp-&gt;data == num))</a:t>
            </a:r>
          </a:p>
          <a:p>
            <a:pPr algn="l" rtl="0">
              <a:buFontTx/>
              <a:buNone/>
            </a:pPr>
            <a:r>
              <a:rPr lang="en-US" sz="2000" b="1" smtClean="0"/>
              <a:t>   {      node *parent, *min ;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   int number;</a:t>
            </a:r>
          </a:p>
          <a:p>
            <a:pPr algn="l" rtl="0">
              <a:buFontTx/>
              <a:buNone/>
            </a:pPr>
            <a:r>
              <a:rPr lang="en-US" sz="2000" b="1" smtClean="0"/>
              <a:t>     </a:t>
            </a:r>
            <a:r>
              <a:rPr lang="en-US" sz="2000" b="1" smtClean="0">
                <a:solidFill>
                  <a:srgbClr val="FF0000"/>
                </a:solidFill>
              </a:rPr>
              <a:t>// if number is found at a leaf node</a:t>
            </a:r>
          </a:p>
          <a:p>
            <a:pPr algn="l" rtl="0">
              <a:buFontTx/>
              <a:buNone/>
            </a:pPr>
            <a:r>
              <a:rPr lang="en-US" sz="2000" b="1" smtClean="0">
                <a:solidFill>
                  <a:srgbClr val="FF0000"/>
                </a:solidFill>
              </a:rPr>
              <a:t> </a:t>
            </a:r>
            <a:r>
              <a:rPr lang="en-US" sz="2000" b="1" smtClean="0"/>
              <a:t>    if((temp-&gt;LTree == NULL) &amp;&amp; (temp-&gt;RTree == NULL))</a:t>
            </a:r>
          </a:p>
          <a:p>
            <a:pPr algn="l" rtl="0">
              <a:buFontTx/>
              <a:buNone/>
            </a:pPr>
            <a:r>
              <a:rPr lang="en-US" sz="2000" b="1" smtClean="0"/>
              <a:t>     {	</a:t>
            </a:r>
          </a:p>
          <a:p>
            <a:pPr algn="l" rtl="0">
              <a:buFontTx/>
              <a:buNone/>
            </a:pPr>
            <a:r>
              <a:rPr lang="en-US" sz="2000" b="1" smtClean="0"/>
              <a:t>		parent=GetParent(root, temp-&gt;data, root);  </a:t>
            </a:r>
            <a:r>
              <a:rPr lang="en-US" sz="1600" b="1" smtClean="0">
                <a:solidFill>
                  <a:srgbClr val="FF0000"/>
                </a:solidFill>
              </a:rPr>
              <a:t>//will return parent node</a:t>
            </a:r>
          </a:p>
          <a:p>
            <a:pPr algn="l" rtl="0">
              <a:buFontTx/>
              <a:buNone/>
            </a:pPr>
            <a:r>
              <a:rPr lang="en-US" sz="2000" b="1" smtClean="0"/>
              <a:t>     	if(parent-&gt;LTree == temp)</a:t>
            </a:r>
          </a:p>
          <a:p>
            <a:pPr algn="l" rtl="0">
              <a:buFontTx/>
              <a:buNone/>
            </a:pPr>
            <a:r>
              <a:rPr lang="en-US" sz="2000" b="1" smtClean="0"/>
              <a:t>     		parent-&gt;LTree = NULL;</a:t>
            </a:r>
          </a:p>
          <a:p>
            <a:pPr algn="l" rtl="0">
              <a:buFontTx/>
              <a:buNone/>
            </a:pPr>
            <a:r>
              <a:rPr lang="en-US" sz="2000" b="1" smtClean="0"/>
              <a:t>     	else if (parent-&gt;RTree == temp)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  		parent-&gt;RTree = NULL;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       delete temp;</a:t>
            </a:r>
          </a:p>
          <a:p>
            <a:pPr algn="l" rtl="0">
              <a:buFontTx/>
              <a:buNone/>
            </a:pPr>
            <a:r>
              <a:rPr lang="en-US" sz="2000" b="1" smtClean="0"/>
              <a:t>     }</a:t>
            </a:r>
            <a:endParaRPr lang="ur-PK" sz="20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686800" cy="6126163"/>
          </a:xfrm>
        </p:spPr>
        <p:txBody>
          <a:bodyPr/>
          <a:lstStyle/>
          <a:p>
            <a:pPr algn="l" rtl="0">
              <a:buFontTx/>
              <a:buNone/>
            </a:pPr>
            <a:r>
              <a:rPr lang="en-US" sz="1600" b="1" smtClean="0">
                <a:solidFill>
                  <a:srgbClr val="FF0000"/>
                </a:solidFill>
              </a:rPr>
              <a:t>// if node to be deleted has one child</a:t>
            </a:r>
          </a:p>
          <a:p>
            <a:pPr algn="l" rtl="0">
              <a:buFontTx/>
              <a:buNone/>
            </a:pPr>
            <a:r>
              <a:rPr lang="en-US" sz="2000" b="1" smtClean="0"/>
              <a:t>     else if(((temp-&gt;LTree == NULL) &amp;&amp; (temp-&gt;RTree != NULL)) || ((temp-&gt;LTree != NULL) &amp;&amp; (temp-&gt;RTree == NULL)))</a:t>
            </a:r>
          </a:p>
          <a:p>
            <a:pPr algn="l" rtl="0">
              <a:buFontTx/>
              <a:buNone/>
            </a:pPr>
            <a:r>
              <a:rPr lang="en-US" sz="2000" b="1" smtClean="0"/>
              <a:t>     {</a:t>
            </a:r>
          </a:p>
          <a:p>
            <a:pPr algn="l" rtl="0">
              <a:buFontTx/>
              <a:buNone/>
            </a:pPr>
            <a:r>
              <a:rPr lang="en-US" sz="2000" b="1" smtClean="0"/>
              <a:t>     	parent = GetParent(root, temp-&gt;data, root); </a:t>
            </a:r>
            <a:r>
              <a:rPr lang="en-US" sz="1600" b="1" smtClean="0">
                <a:solidFill>
                  <a:srgbClr val="FF0000"/>
                </a:solidFill>
              </a:rPr>
              <a:t>//will return parent node</a:t>
            </a:r>
          </a:p>
          <a:p>
            <a:pPr algn="l" rtl="0">
              <a:buFontTx/>
              <a:buNone/>
            </a:pPr>
            <a:r>
              <a:rPr lang="en-US" sz="2000" b="1" smtClean="0"/>
              <a:t>		if(temp-&gt;LTree != NULL){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     		if(parent-&gt;LTree == temp)</a:t>
            </a:r>
          </a:p>
          <a:p>
            <a:pPr algn="l" rtl="0">
              <a:buFontTx/>
              <a:buNone/>
            </a:pPr>
            <a:r>
              <a:rPr lang="en-US" sz="2000" b="1" smtClean="0"/>
              <a:t>     			parent-&gt;LTree = temp-&gt;LTree;</a:t>
            </a:r>
          </a:p>
          <a:p>
            <a:pPr algn="l" rtl="0">
              <a:buFontTx/>
              <a:buNone/>
            </a:pPr>
            <a:r>
              <a:rPr lang="en-US" sz="2000" b="1" smtClean="0"/>
              <a:t>     	   	else if (parent-&gt;RTree == temp)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  			parent-&gt;RTree = temp-&gt;LTree;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 	 }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  	else if(temp-&gt;RTree != NULL){  </a:t>
            </a:r>
          </a:p>
          <a:p>
            <a:pPr algn="l" rtl="0">
              <a:buFontTx/>
              <a:buNone/>
            </a:pPr>
            <a:r>
              <a:rPr lang="en-US" sz="2000" b="1" smtClean="0"/>
              <a:t>			if(parent-&gt;LTree == temp)</a:t>
            </a:r>
          </a:p>
          <a:p>
            <a:pPr algn="l" rtl="0">
              <a:buFontTx/>
              <a:buNone/>
            </a:pPr>
            <a:r>
              <a:rPr lang="en-US" sz="2000" b="1" smtClean="0"/>
              <a:t>     			parent-&gt;LTree = temp-&gt;RTree;</a:t>
            </a:r>
          </a:p>
          <a:p>
            <a:pPr algn="l" rtl="0">
              <a:buFontTx/>
              <a:buNone/>
            </a:pPr>
            <a:r>
              <a:rPr lang="en-US" sz="2000" b="1" smtClean="0"/>
              <a:t>     	   	else if (parent-&gt;RTree == temp)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  			parent-&gt;RTree = temp-&gt;RTree;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  	}</a:t>
            </a:r>
          </a:p>
          <a:p>
            <a:pPr algn="l" rtl="0">
              <a:buFontTx/>
              <a:buNone/>
            </a:pPr>
            <a:r>
              <a:rPr lang="en-US" sz="2000" b="1" smtClean="0"/>
              <a:t>		delete temp;</a:t>
            </a:r>
          </a:p>
          <a:p>
            <a:pPr algn="l" rtl="0">
              <a:buFontTx/>
              <a:buNone/>
            </a:pPr>
            <a:r>
              <a:rPr lang="en-US" sz="2000" b="1" smtClean="0"/>
              <a:t>     }</a:t>
            </a:r>
            <a:endParaRPr lang="ur-PK" sz="2000" b="1" smtClean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705600"/>
          </a:xfrm>
        </p:spPr>
        <p:txBody>
          <a:bodyPr/>
          <a:lstStyle/>
          <a:p>
            <a:pPr algn="l" rtl="0">
              <a:buFontTx/>
              <a:buNone/>
            </a:pPr>
            <a:r>
              <a:rPr lang="en-US" sz="2000" b="1" smtClean="0">
                <a:solidFill>
                  <a:srgbClr val="FF0000"/>
                </a:solidFill>
              </a:rPr>
              <a:t>//if node to be deleted has two children</a:t>
            </a:r>
          </a:p>
          <a:p>
            <a:pPr algn="l" rtl="0">
              <a:buFontTx/>
              <a:buNone/>
            </a:pPr>
            <a:r>
              <a:rPr lang="en-US" sz="2000" b="1" smtClean="0"/>
              <a:t>else if((temp-&gt;LTree != NULL) &amp;&amp; (temp-&gt;RTree != NULL))</a:t>
            </a:r>
          </a:p>
          <a:p>
            <a:pPr algn="l" rtl="0">
              <a:buFontTx/>
              <a:buNone/>
            </a:pPr>
            <a:r>
              <a:rPr lang="en-US" sz="2000" b="1" smtClean="0"/>
              <a:t>     {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min = FindMin(temp-&gt;RTree);  </a:t>
            </a:r>
            <a:r>
              <a:rPr lang="en-US" sz="1600" b="1" smtClean="0">
                <a:solidFill>
                  <a:srgbClr val="FF0000"/>
                </a:solidFill>
              </a:rPr>
              <a:t>//will return the min. no. found in RTree</a:t>
            </a:r>
          </a:p>
          <a:p>
            <a:pPr algn="l" rtl="0">
              <a:buFontTx/>
              <a:buNone/>
            </a:pPr>
            <a:r>
              <a:rPr lang="en-US" sz="2000" b="1" smtClean="0"/>
              <a:t>	  number = min-&gt;data;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DeleteNode(temp-&gt;RTree, min-&gt;data);  </a:t>
            </a:r>
            <a:r>
              <a:rPr lang="en-US" sz="1600" b="1" smtClean="0">
                <a:solidFill>
                  <a:srgbClr val="FF0000"/>
                </a:solidFill>
              </a:rPr>
              <a:t>//calling to itself recursively</a:t>
            </a:r>
          </a:p>
          <a:p>
            <a:pPr algn="l" rtl="0">
              <a:buFontTx/>
              <a:buNone/>
            </a:pPr>
            <a:r>
              <a:rPr lang="en-US" sz="2000" b="1" smtClean="0"/>
              <a:t>       temp-&gt;data= number;</a:t>
            </a:r>
          </a:p>
          <a:p>
            <a:pPr algn="l" rtl="0">
              <a:buFontTx/>
              <a:buNone/>
            </a:pPr>
            <a:r>
              <a:rPr lang="en-US" sz="2000" b="1" smtClean="0"/>
              <a:t>	 }</a:t>
            </a:r>
          </a:p>
          <a:p>
            <a:pPr algn="l" rtl="0">
              <a:buFontTx/>
              <a:buNone/>
            </a:pPr>
            <a:r>
              <a:rPr lang="en-US" sz="2000" b="1" smtClean="0"/>
              <a:t>   }</a:t>
            </a:r>
          </a:p>
          <a:p>
            <a:pPr algn="l" rtl="0">
              <a:buFontTx/>
              <a:buNone/>
            </a:pPr>
            <a:endParaRPr lang="en-US" sz="2000" b="1" smtClean="0"/>
          </a:p>
          <a:p>
            <a:pPr algn="l" rtl="0">
              <a:buFontTx/>
              <a:buNone/>
            </a:pPr>
            <a:endParaRPr lang="en-US" sz="2000" b="1" smtClean="0"/>
          </a:p>
          <a:p>
            <a:pPr algn="l" rtl="0">
              <a:buFontTx/>
              <a:buNone/>
            </a:pPr>
            <a:r>
              <a:rPr lang="en-US" sz="2000" b="1" smtClean="0"/>
              <a:t>   else if (num &lt; temp-&gt;data)</a:t>
            </a:r>
          </a:p>
          <a:p>
            <a:pPr algn="l" rtl="0">
              <a:buFontTx/>
              <a:buNone/>
            </a:pPr>
            <a:r>
              <a:rPr lang="en-US" sz="2000" b="1" smtClean="0"/>
              <a:t>   	DeleteNode(temp-&gt;LTree, num);   </a:t>
            </a:r>
            <a:r>
              <a:rPr lang="en-US" sz="1600" b="1" smtClean="0">
                <a:solidFill>
                  <a:srgbClr val="FF0000"/>
                </a:solidFill>
              </a:rPr>
              <a:t>//calling to itself recursively</a:t>
            </a:r>
            <a:endParaRPr lang="en-US" sz="1600" b="1" smtClean="0"/>
          </a:p>
          <a:p>
            <a:pPr algn="l" rtl="0">
              <a:buFontTx/>
              <a:buNone/>
            </a:pPr>
            <a:r>
              <a:rPr lang="en-US" sz="2000" b="1" smtClean="0"/>
              <a:t>   else if (num &gt; temp-&gt;data)</a:t>
            </a:r>
          </a:p>
          <a:p>
            <a:pPr algn="l" rtl="0">
              <a:buFontTx/>
              <a:buNone/>
            </a:pPr>
            <a:r>
              <a:rPr lang="en-US" sz="2000" b="1" smtClean="0"/>
              <a:t>   	DeleteNode(temp-&gt;RTree, num); </a:t>
            </a:r>
            <a:r>
              <a:rPr lang="en-US" sz="1600" b="1" smtClean="0">
                <a:solidFill>
                  <a:srgbClr val="FF0000"/>
                </a:solidFill>
              </a:rPr>
              <a:t>//calling to itself recursively</a:t>
            </a:r>
            <a:endParaRPr lang="en-US" sz="1600" b="1" smtClean="0"/>
          </a:p>
          <a:p>
            <a:pPr algn="l" rtl="0">
              <a:buFontTx/>
              <a:buNone/>
            </a:pPr>
            <a:r>
              <a:rPr lang="en-US" sz="2000" b="1" smtClean="0"/>
              <a:t>}</a:t>
            </a:r>
            <a:endParaRPr lang="ur-PK" sz="2000" b="1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2446</Words>
  <Application>Microsoft Office PowerPoint</Application>
  <PresentationFormat>On-screen Show (4:3)</PresentationFormat>
  <Paragraphs>727</Paragraphs>
  <Slides>73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Office Theme</vt:lpstr>
      <vt:lpstr>Equation</vt:lpstr>
      <vt:lpstr>Bitmap Image</vt:lpstr>
      <vt:lpstr>Data Structure</vt:lpstr>
      <vt:lpstr>Introduction</vt:lpstr>
      <vt:lpstr>Introduction</vt:lpstr>
      <vt:lpstr>Introduction</vt:lpstr>
      <vt:lpstr>Tree Definition</vt:lpstr>
      <vt:lpstr>Slide 6</vt:lpstr>
      <vt:lpstr>Tree Terminologies</vt:lpstr>
      <vt:lpstr>Tree Terminologies</vt:lpstr>
      <vt:lpstr>Tree Terminologies</vt:lpstr>
      <vt:lpstr>Tree Terminologies</vt:lpstr>
      <vt:lpstr>Tree Terminologies</vt:lpstr>
      <vt:lpstr>Binary Trees</vt:lpstr>
      <vt:lpstr>A Binary Tree</vt:lpstr>
      <vt:lpstr>Binary Tree</vt:lpstr>
      <vt:lpstr>Notation</vt:lpstr>
      <vt:lpstr>Notation</vt:lpstr>
      <vt:lpstr>Notation</vt:lpstr>
      <vt:lpstr>Notation</vt:lpstr>
      <vt:lpstr>Notation</vt:lpstr>
      <vt:lpstr>Notation</vt:lpstr>
      <vt:lpstr>Notation</vt:lpstr>
      <vt:lpstr>Notation</vt:lpstr>
      <vt:lpstr>Notation</vt:lpstr>
      <vt:lpstr>Notation</vt:lpstr>
      <vt:lpstr>Notation</vt:lpstr>
      <vt:lpstr>Notation</vt:lpstr>
      <vt:lpstr>Binary Trees</vt:lpstr>
      <vt:lpstr>Strictly Binary Tree</vt:lpstr>
      <vt:lpstr>Complete Binary Tree</vt:lpstr>
      <vt:lpstr>Dynamic Implementation of Binary Tree</vt:lpstr>
      <vt:lpstr>Structure Definition of Binary Tree Using Dynamic Implementation</vt:lpstr>
      <vt:lpstr>Operations on Binary Tree</vt:lpstr>
      <vt:lpstr>Operations on Binary Tree</vt:lpstr>
      <vt:lpstr>Example: Expression Trees</vt:lpstr>
      <vt:lpstr>Traversal of a Binary Tree</vt:lpstr>
      <vt:lpstr>Preorder Traversal </vt:lpstr>
      <vt:lpstr>Inorder Traversal</vt:lpstr>
      <vt:lpstr>Postorder Traversal</vt:lpstr>
      <vt:lpstr>Traversal Exercise</vt:lpstr>
      <vt:lpstr>Binary Search Tree</vt:lpstr>
      <vt:lpstr>Binary Search Tree</vt:lpstr>
      <vt:lpstr>Examples</vt:lpstr>
      <vt:lpstr>Example 2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Binary Tree Implementation</vt:lpstr>
      <vt:lpstr>Inorder Traversal Function</vt:lpstr>
      <vt:lpstr>Postorder Traversal Function</vt:lpstr>
      <vt:lpstr>Preorder Traversal Function</vt:lpstr>
      <vt:lpstr>Searching in Binary Search Tree</vt:lpstr>
      <vt:lpstr>Slide 64</vt:lpstr>
      <vt:lpstr>Search Function</vt:lpstr>
      <vt:lpstr>Insertion in BST</vt:lpstr>
      <vt:lpstr>Insertion Function</vt:lpstr>
      <vt:lpstr>Deletion in BST</vt:lpstr>
      <vt:lpstr>Deletion in BST</vt:lpstr>
      <vt:lpstr>Deletion in BST</vt:lpstr>
      <vt:lpstr>Deletion Code</vt:lpstr>
      <vt:lpstr>Slide 72</vt:lpstr>
      <vt:lpstr>Slide 73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Ayesha</dc:creator>
  <cp:lastModifiedBy>Ayesha</cp:lastModifiedBy>
  <cp:revision>13</cp:revision>
  <dcterms:created xsi:type="dcterms:W3CDTF">2012-01-11T18:33:25Z</dcterms:created>
  <dcterms:modified xsi:type="dcterms:W3CDTF">2013-01-07T17:05:44Z</dcterms:modified>
</cp:coreProperties>
</file>