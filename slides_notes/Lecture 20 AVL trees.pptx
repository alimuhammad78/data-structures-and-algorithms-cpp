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06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87B0B0-4C2C-4A46-AD1E-19E3ADEF7E61}" type="datetimeFigureOut">
              <a:rPr lang="en-US" smtClean="0"/>
              <a:pPr/>
              <a:t>1/18/2013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D4C71E-E959-48F4-A0C5-CC8AB402DF3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AB3E0B-28CF-4D49-9253-3012DB84A5A6}" type="slidenum">
              <a:rPr lang="en-US"/>
              <a:pPr/>
              <a:t>5</a:t>
            </a:fld>
            <a:endParaRPr lang="en-US"/>
          </a:p>
        </p:txBody>
      </p:sp>
      <p:sp>
        <p:nvSpPr>
          <p:cNvPr id="48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9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4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6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AVL Trees</a:t>
            </a:r>
          </a:p>
        </p:txBody>
      </p:sp>
      <p:sp>
        <p:nvSpPr>
          <p:cNvPr id="48333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with the BST </a:t>
            </a:r>
          </a:p>
        </p:txBody>
      </p:sp>
      <p:sp>
        <p:nvSpPr>
          <p:cNvPr id="485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Insert the nodes 1,2,3,4,5,6,7 in BST</a:t>
            </a:r>
          </a:p>
          <a:p>
            <a:r>
              <a:rPr lang="en-US"/>
              <a:t>Then search an element</a:t>
            </a:r>
          </a:p>
          <a:p>
            <a:r>
              <a:rPr lang="en-US"/>
              <a:t>How many operations the search will perform</a:t>
            </a:r>
          </a:p>
          <a:p>
            <a:r>
              <a:rPr lang="en-US"/>
              <a:t>Where are the advantages of BST?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5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5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5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5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5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5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5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5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379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Balanced Trees</a:t>
            </a:r>
          </a:p>
        </p:txBody>
      </p:sp>
      <p:sp>
        <p:nvSpPr>
          <p:cNvPr id="486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700"/>
              <a:t>Ordered binary trees are fairly easy to implement.</a:t>
            </a:r>
          </a:p>
          <a:p>
            <a:r>
              <a:rPr lang="en-US" sz="2700"/>
              <a:t>But, they can have one drawback</a:t>
            </a:r>
          </a:p>
          <a:p>
            <a:r>
              <a:rPr lang="en-US" sz="2700"/>
              <a:t>Even an ordered binary tree can degrade into a linear list if the insertion routine receives elements in ascending (or nearly ascending) order.</a:t>
            </a:r>
          </a:p>
          <a:p>
            <a:pPr>
              <a:buFontTx/>
              <a:buNone/>
            </a:pPr>
            <a:endParaRPr lang="en-US" sz="2700"/>
          </a:p>
          <a:p>
            <a:pPr>
              <a:buFontTx/>
              <a:buNone/>
            </a:pPr>
            <a:r>
              <a:rPr lang="en-US" sz="2700"/>
              <a:t>					1, 2, 3, 4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867400" y="4038600"/>
            <a:ext cx="2590800" cy="2514600"/>
            <a:chOff x="3696" y="2352"/>
            <a:chExt cx="1632" cy="1584"/>
          </a:xfrm>
        </p:grpSpPr>
        <p:sp>
          <p:nvSpPr>
            <p:cNvPr id="486405" name="Oval 5"/>
            <p:cNvSpPr>
              <a:spLocks noChangeArrowheads="1"/>
            </p:cNvSpPr>
            <p:nvPr/>
          </p:nvSpPr>
          <p:spPr bwMode="auto">
            <a:xfrm>
              <a:off x="3696" y="2352"/>
              <a:ext cx="48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charset="0"/>
                </a:rPr>
                <a:t>1</a:t>
              </a:r>
            </a:p>
          </p:txBody>
        </p:sp>
        <p:sp>
          <p:nvSpPr>
            <p:cNvPr id="486406" name="Oval 6"/>
            <p:cNvSpPr>
              <a:spLocks noChangeArrowheads="1"/>
            </p:cNvSpPr>
            <p:nvPr/>
          </p:nvSpPr>
          <p:spPr bwMode="auto">
            <a:xfrm>
              <a:off x="4032" y="2736"/>
              <a:ext cx="48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charset="0"/>
                </a:rPr>
                <a:t>2</a:t>
              </a:r>
            </a:p>
          </p:txBody>
        </p:sp>
        <p:sp>
          <p:nvSpPr>
            <p:cNvPr id="486407" name="Oval 7"/>
            <p:cNvSpPr>
              <a:spLocks noChangeArrowheads="1"/>
            </p:cNvSpPr>
            <p:nvPr/>
          </p:nvSpPr>
          <p:spPr bwMode="auto">
            <a:xfrm>
              <a:off x="4416" y="3168"/>
              <a:ext cx="48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charset="0"/>
                </a:rPr>
                <a:t>3</a:t>
              </a:r>
            </a:p>
          </p:txBody>
        </p:sp>
        <p:sp>
          <p:nvSpPr>
            <p:cNvPr id="486408" name="Oval 8"/>
            <p:cNvSpPr>
              <a:spLocks noChangeArrowheads="1"/>
            </p:cNvSpPr>
            <p:nvPr/>
          </p:nvSpPr>
          <p:spPr bwMode="auto">
            <a:xfrm>
              <a:off x="4848" y="3648"/>
              <a:ext cx="48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ahoma" charset="0"/>
                </a:rPr>
                <a:t>4</a:t>
              </a:r>
            </a:p>
          </p:txBody>
        </p:sp>
        <p:sp>
          <p:nvSpPr>
            <p:cNvPr id="486409" name="Line 9"/>
            <p:cNvSpPr>
              <a:spLocks noChangeShapeType="1"/>
            </p:cNvSpPr>
            <p:nvPr/>
          </p:nvSpPr>
          <p:spPr bwMode="auto">
            <a:xfrm>
              <a:off x="4032" y="2592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86410" name="Line 10"/>
            <p:cNvSpPr>
              <a:spLocks noChangeShapeType="1"/>
            </p:cNvSpPr>
            <p:nvPr/>
          </p:nvSpPr>
          <p:spPr bwMode="auto">
            <a:xfrm>
              <a:off x="4368" y="3024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86411" name="Line 11"/>
            <p:cNvSpPr>
              <a:spLocks noChangeShapeType="1"/>
            </p:cNvSpPr>
            <p:nvPr/>
          </p:nvSpPr>
          <p:spPr bwMode="auto">
            <a:xfrm>
              <a:off x="4752" y="3456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6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86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86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86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03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Balanced trees</a:t>
            </a:r>
          </a:p>
        </p:txBody>
      </p:sp>
      <p:sp>
        <p:nvSpPr>
          <p:cNvPr id="487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Several methods have been developed to prevent trees from becoming skewed. </a:t>
            </a:r>
          </a:p>
          <a:p>
            <a:r>
              <a:rPr lang="en-US"/>
              <a:t>Some of the most powerful is called AVL trees. </a:t>
            </a:r>
          </a:p>
          <a:p>
            <a:r>
              <a:rPr lang="en-US"/>
              <a:t>Their name is derived from the scientists who first studied them:  Adelson-Velskii and Landis (1962)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7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87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87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7427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AVL Trees</a:t>
            </a:r>
          </a:p>
        </p:txBody>
      </p:sp>
      <p:sp>
        <p:nvSpPr>
          <p:cNvPr id="488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balanced binary search tree</a:t>
            </a:r>
          </a:p>
          <a:p>
            <a:pPr lvl="1"/>
            <a:r>
              <a:rPr lang="en-US"/>
              <a:t>Oldest form of balanced binary tree</a:t>
            </a:r>
          </a:p>
          <a:p>
            <a:pPr lvl="1"/>
            <a:r>
              <a:rPr lang="en-US"/>
              <a:t>Avoids skewing by rebalancing when needed</a:t>
            </a:r>
          </a:p>
          <a:p>
            <a:pPr lvl="1"/>
            <a:r>
              <a:rPr lang="en-US"/>
              <a:t>Self-balancing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8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8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88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88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8451" grpId="0" build="p" bldLvl="3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153400" cy="1143000"/>
          </a:xfrm>
        </p:spPr>
        <p:txBody>
          <a:bodyPr/>
          <a:lstStyle/>
          <a:p>
            <a:r>
              <a:rPr lang="en-US" sz="3600"/>
              <a:t>AVL Tree (Balanced Binary Search Tree)</a:t>
            </a:r>
          </a:p>
        </p:txBody>
      </p:sp>
      <p:sp>
        <p:nvSpPr>
          <p:cNvPr id="490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7772400" cy="4114800"/>
          </a:xfrm>
        </p:spPr>
        <p:txBody>
          <a:bodyPr/>
          <a:lstStyle/>
          <a:p>
            <a:endParaRPr lang="en-US" sz="2700"/>
          </a:p>
          <a:p>
            <a:r>
              <a:rPr lang="en-US" sz="2700"/>
              <a:t>It is a binary search tree in which the </a:t>
            </a:r>
            <a:r>
              <a:rPr lang="en-US" sz="2700" b="1"/>
              <a:t>height of the two sub-trees of every node never differ by more than 1</a:t>
            </a:r>
            <a:r>
              <a:rPr lang="en-US" sz="2700"/>
              <a:t>.</a:t>
            </a:r>
          </a:p>
          <a:p>
            <a:r>
              <a:rPr lang="en-US" sz="2700"/>
              <a:t>Balance = height(right subtree) – height(left </a:t>
            </a:r>
          </a:p>
          <a:p>
            <a:pPr>
              <a:buFontTx/>
              <a:buNone/>
            </a:pPr>
            <a:r>
              <a:rPr lang="en-US" sz="2700"/>
              <a:t>                     subtree)</a:t>
            </a:r>
          </a:p>
          <a:p>
            <a:pPr>
              <a:buFontTx/>
              <a:buNone/>
            </a:pPr>
            <a:endParaRPr lang="en-US" sz="2700" b="1"/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4191000" y="4114800"/>
            <a:ext cx="1752600" cy="1905000"/>
            <a:chOff x="864" y="1680"/>
            <a:chExt cx="1104" cy="1200"/>
          </a:xfrm>
        </p:grpSpPr>
        <p:sp>
          <p:nvSpPr>
            <p:cNvPr id="490530" name="Oval 34"/>
            <p:cNvSpPr>
              <a:spLocks noChangeArrowheads="1"/>
            </p:cNvSpPr>
            <p:nvPr/>
          </p:nvSpPr>
          <p:spPr bwMode="auto">
            <a:xfrm>
              <a:off x="1344" y="2544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490531" name="Oval 35"/>
            <p:cNvSpPr>
              <a:spLocks noChangeArrowheads="1"/>
            </p:cNvSpPr>
            <p:nvPr/>
          </p:nvSpPr>
          <p:spPr bwMode="auto">
            <a:xfrm>
              <a:off x="1344" y="1680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490532" name="Line 36"/>
            <p:cNvSpPr>
              <a:spLocks noChangeShapeType="1"/>
            </p:cNvSpPr>
            <p:nvPr/>
          </p:nvSpPr>
          <p:spPr bwMode="auto">
            <a:xfrm flipH="1">
              <a:off x="960" y="2304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0533" name="Line 37"/>
            <p:cNvSpPr>
              <a:spLocks noChangeShapeType="1"/>
            </p:cNvSpPr>
            <p:nvPr/>
          </p:nvSpPr>
          <p:spPr bwMode="auto">
            <a:xfrm>
              <a:off x="1344" y="2352"/>
              <a:ext cx="109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0534" name="Oval 38"/>
            <p:cNvSpPr>
              <a:spLocks noChangeArrowheads="1"/>
            </p:cNvSpPr>
            <p:nvPr/>
          </p:nvSpPr>
          <p:spPr bwMode="auto">
            <a:xfrm>
              <a:off x="1104" y="2160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90535" name="Oval 39"/>
            <p:cNvSpPr>
              <a:spLocks noChangeArrowheads="1"/>
            </p:cNvSpPr>
            <p:nvPr/>
          </p:nvSpPr>
          <p:spPr bwMode="auto">
            <a:xfrm>
              <a:off x="1728" y="2160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490536" name="Line 40"/>
            <p:cNvSpPr>
              <a:spLocks noChangeShapeType="1"/>
            </p:cNvSpPr>
            <p:nvPr/>
          </p:nvSpPr>
          <p:spPr bwMode="auto">
            <a:xfrm flipH="1">
              <a:off x="1248" y="187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0537" name="Line 41"/>
            <p:cNvSpPr>
              <a:spLocks noChangeShapeType="1"/>
            </p:cNvSpPr>
            <p:nvPr/>
          </p:nvSpPr>
          <p:spPr bwMode="auto">
            <a:xfrm>
              <a:off x="1632" y="1872"/>
              <a:ext cx="16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0538" name="Oval 42"/>
            <p:cNvSpPr>
              <a:spLocks noChangeArrowheads="1"/>
            </p:cNvSpPr>
            <p:nvPr/>
          </p:nvSpPr>
          <p:spPr bwMode="auto">
            <a:xfrm>
              <a:off x="864" y="2592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1</a:t>
              </a:r>
            </a:p>
          </p:txBody>
        </p:sp>
      </p:grpSp>
      <p:sp>
        <p:nvSpPr>
          <p:cNvPr id="490539" name="Text Box 43"/>
          <p:cNvSpPr txBox="1">
            <a:spLocks noChangeArrowheads="1"/>
          </p:cNvSpPr>
          <p:nvPr/>
        </p:nvSpPr>
        <p:spPr bwMode="auto">
          <a:xfrm>
            <a:off x="6019800" y="49530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490540" name="Text Box 44"/>
          <p:cNvSpPr txBox="1">
            <a:spLocks noChangeArrowheads="1"/>
          </p:cNvSpPr>
          <p:nvPr/>
        </p:nvSpPr>
        <p:spPr bwMode="auto">
          <a:xfrm>
            <a:off x="5029200" y="3733800"/>
            <a:ext cx="53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-1</a:t>
            </a:r>
          </a:p>
        </p:txBody>
      </p:sp>
      <p:sp>
        <p:nvSpPr>
          <p:cNvPr id="490541" name="Text Box 45"/>
          <p:cNvSpPr txBox="1">
            <a:spLocks noChangeArrowheads="1"/>
          </p:cNvSpPr>
          <p:nvPr/>
        </p:nvSpPr>
        <p:spPr bwMode="auto">
          <a:xfrm>
            <a:off x="4267200" y="48006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490542" name="Text Box 46"/>
          <p:cNvSpPr txBox="1">
            <a:spLocks noChangeArrowheads="1"/>
          </p:cNvSpPr>
          <p:nvPr/>
        </p:nvSpPr>
        <p:spPr bwMode="auto">
          <a:xfrm>
            <a:off x="5486400" y="56388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490543" name="Text Box 47"/>
          <p:cNvSpPr txBox="1">
            <a:spLocks noChangeArrowheads="1"/>
          </p:cNvSpPr>
          <p:nvPr/>
        </p:nvSpPr>
        <p:spPr bwMode="auto">
          <a:xfrm>
            <a:off x="3810000" y="56388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FF3300"/>
                </a:solidFill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90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90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499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530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3600" b="1"/>
              <a:t>What about these trees?</a:t>
            </a:r>
            <a:endParaRPr lang="en-US" sz="3600"/>
          </a:p>
          <a:p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143000" y="2590800"/>
            <a:ext cx="6616700" cy="2409825"/>
            <a:chOff x="960" y="2400"/>
            <a:chExt cx="4168" cy="1518"/>
          </a:xfrm>
        </p:grpSpPr>
        <p:sp>
          <p:nvSpPr>
            <p:cNvPr id="530437" name="Oval 5"/>
            <p:cNvSpPr>
              <a:spLocks noChangeArrowheads="1"/>
            </p:cNvSpPr>
            <p:nvPr/>
          </p:nvSpPr>
          <p:spPr bwMode="auto">
            <a:xfrm>
              <a:off x="1488" y="3552"/>
              <a:ext cx="190" cy="18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2000">
                <a:latin typeface="Times New Roman" pitchFamily="18" charset="0"/>
              </a:endParaRPr>
            </a:p>
          </p:txBody>
        </p:sp>
        <p:sp>
          <p:nvSpPr>
            <p:cNvPr id="530438" name="Text Box 6"/>
            <p:cNvSpPr txBox="1">
              <a:spLocks noChangeArrowheads="1"/>
            </p:cNvSpPr>
            <p:nvPr/>
          </p:nvSpPr>
          <p:spPr bwMode="auto">
            <a:xfrm>
              <a:off x="1484" y="3543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b="1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530439" name="Oval 7"/>
            <p:cNvSpPr>
              <a:spLocks noChangeArrowheads="1"/>
            </p:cNvSpPr>
            <p:nvPr/>
          </p:nvSpPr>
          <p:spPr bwMode="auto">
            <a:xfrm>
              <a:off x="1645" y="2400"/>
              <a:ext cx="248" cy="18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530440" name="Oval 8"/>
            <p:cNvSpPr>
              <a:spLocks noChangeArrowheads="1"/>
            </p:cNvSpPr>
            <p:nvPr/>
          </p:nvSpPr>
          <p:spPr bwMode="auto">
            <a:xfrm>
              <a:off x="2304" y="2766"/>
              <a:ext cx="280" cy="2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530441" name="Oval 9"/>
            <p:cNvSpPr>
              <a:spLocks noChangeArrowheads="1"/>
            </p:cNvSpPr>
            <p:nvPr/>
          </p:nvSpPr>
          <p:spPr bwMode="auto">
            <a:xfrm>
              <a:off x="1296" y="2766"/>
              <a:ext cx="249" cy="18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30442" name="Line 10"/>
            <p:cNvSpPr>
              <a:spLocks noChangeShapeType="1"/>
            </p:cNvSpPr>
            <p:nvPr/>
          </p:nvSpPr>
          <p:spPr bwMode="auto">
            <a:xfrm>
              <a:off x="1893" y="2537"/>
              <a:ext cx="467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0443" name="Line 11"/>
            <p:cNvSpPr>
              <a:spLocks noChangeShapeType="1"/>
            </p:cNvSpPr>
            <p:nvPr/>
          </p:nvSpPr>
          <p:spPr bwMode="auto">
            <a:xfrm flipH="1">
              <a:off x="1496" y="2537"/>
              <a:ext cx="149" cy="2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0444" name="Line 12"/>
            <p:cNvSpPr>
              <a:spLocks noChangeShapeType="1"/>
            </p:cNvSpPr>
            <p:nvPr/>
          </p:nvSpPr>
          <p:spPr bwMode="auto">
            <a:xfrm>
              <a:off x="1520" y="2949"/>
              <a:ext cx="224" cy="2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0445" name="Line 13"/>
            <p:cNvSpPr>
              <a:spLocks noChangeShapeType="1"/>
            </p:cNvSpPr>
            <p:nvPr/>
          </p:nvSpPr>
          <p:spPr bwMode="auto">
            <a:xfrm flipH="1">
              <a:off x="1128" y="2894"/>
              <a:ext cx="168" cy="2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0446" name="Line 14"/>
            <p:cNvSpPr>
              <a:spLocks noChangeShapeType="1"/>
            </p:cNvSpPr>
            <p:nvPr/>
          </p:nvSpPr>
          <p:spPr bwMode="auto">
            <a:xfrm flipH="1">
              <a:off x="1632" y="3312"/>
              <a:ext cx="112" cy="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0447" name="Oval 15"/>
            <p:cNvSpPr>
              <a:spLocks noChangeArrowheads="1"/>
            </p:cNvSpPr>
            <p:nvPr/>
          </p:nvSpPr>
          <p:spPr bwMode="auto">
            <a:xfrm>
              <a:off x="960" y="3120"/>
              <a:ext cx="249" cy="18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530448" name="Oval 16"/>
            <p:cNvSpPr>
              <a:spLocks noChangeArrowheads="1"/>
            </p:cNvSpPr>
            <p:nvPr/>
          </p:nvSpPr>
          <p:spPr bwMode="auto">
            <a:xfrm>
              <a:off x="1632" y="3168"/>
              <a:ext cx="249" cy="18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530449" name="Line 17"/>
            <p:cNvSpPr>
              <a:spLocks noChangeShapeType="1"/>
            </p:cNvSpPr>
            <p:nvPr/>
          </p:nvSpPr>
          <p:spPr bwMode="auto">
            <a:xfrm flipH="1">
              <a:off x="2208" y="2950"/>
              <a:ext cx="112" cy="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0450" name="Oval 18"/>
            <p:cNvSpPr>
              <a:spLocks noChangeArrowheads="1"/>
            </p:cNvSpPr>
            <p:nvPr/>
          </p:nvSpPr>
          <p:spPr bwMode="auto">
            <a:xfrm>
              <a:off x="4032" y="3696"/>
              <a:ext cx="190" cy="18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2000">
                <a:latin typeface="Times New Roman" pitchFamily="18" charset="0"/>
              </a:endParaRPr>
            </a:p>
          </p:txBody>
        </p:sp>
        <p:sp>
          <p:nvSpPr>
            <p:cNvPr id="530451" name="Text Box 19"/>
            <p:cNvSpPr txBox="1">
              <a:spLocks noChangeArrowheads="1"/>
            </p:cNvSpPr>
            <p:nvPr/>
          </p:nvSpPr>
          <p:spPr bwMode="auto">
            <a:xfrm>
              <a:off x="4028" y="3687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b="1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530452" name="Oval 20"/>
            <p:cNvSpPr>
              <a:spLocks noChangeArrowheads="1"/>
            </p:cNvSpPr>
            <p:nvPr/>
          </p:nvSpPr>
          <p:spPr bwMode="auto">
            <a:xfrm>
              <a:off x="4189" y="2544"/>
              <a:ext cx="248" cy="18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530453" name="Oval 21"/>
            <p:cNvSpPr>
              <a:spLocks noChangeArrowheads="1"/>
            </p:cNvSpPr>
            <p:nvPr/>
          </p:nvSpPr>
          <p:spPr bwMode="auto">
            <a:xfrm>
              <a:off x="4848" y="2910"/>
              <a:ext cx="280" cy="2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530454" name="Oval 22"/>
            <p:cNvSpPr>
              <a:spLocks noChangeArrowheads="1"/>
            </p:cNvSpPr>
            <p:nvPr/>
          </p:nvSpPr>
          <p:spPr bwMode="auto">
            <a:xfrm>
              <a:off x="3840" y="2910"/>
              <a:ext cx="249" cy="18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30455" name="Line 23"/>
            <p:cNvSpPr>
              <a:spLocks noChangeShapeType="1"/>
            </p:cNvSpPr>
            <p:nvPr/>
          </p:nvSpPr>
          <p:spPr bwMode="auto">
            <a:xfrm>
              <a:off x="4437" y="2681"/>
              <a:ext cx="467" cy="2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0456" name="Line 24"/>
            <p:cNvSpPr>
              <a:spLocks noChangeShapeType="1"/>
            </p:cNvSpPr>
            <p:nvPr/>
          </p:nvSpPr>
          <p:spPr bwMode="auto">
            <a:xfrm flipH="1">
              <a:off x="4040" y="2681"/>
              <a:ext cx="149" cy="2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0457" name="Line 25"/>
            <p:cNvSpPr>
              <a:spLocks noChangeShapeType="1"/>
            </p:cNvSpPr>
            <p:nvPr/>
          </p:nvSpPr>
          <p:spPr bwMode="auto">
            <a:xfrm>
              <a:off x="4064" y="3093"/>
              <a:ext cx="224" cy="2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0458" name="Line 26"/>
            <p:cNvSpPr>
              <a:spLocks noChangeShapeType="1"/>
            </p:cNvSpPr>
            <p:nvPr/>
          </p:nvSpPr>
          <p:spPr bwMode="auto">
            <a:xfrm flipH="1">
              <a:off x="3672" y="3038"/>
              <a:ext cx="168" cy="2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0459" name="Line 27"/>
            <p:cNvSpPr>
              <a:spLocks noChangeShapeType="1"/>
            </p:cNvSpPr>
            <p:nvPr/>
          </p:nvSpPr>
          <p:spPr bwMode="auto">
            <a:xfrm flipH="1">
              <a:off x="4176" y="3456"/>
              <a:ext cx="112" cy="2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0460" name="Oval 28"/>
            <p:cNvSpPr>
              <a:spLocks noChangeArrowheads="1"/>
            </p:cNvSpPr>
            <p:nvPr/>
          </p:nvSpPr>
          <p:spPr bwMode="auto">
            <a:xfrm>
              <a:off x="3504" y="3264"/>
              <a:ext cx="249" cy="18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530461" name="Oval 29"/>
            <p:cNvSpPr>
              <a:spLocks noChangeArrowheads="1"/>
            </p:cNvSpPr>
            <p:nvPr/>
          </p:nvSpPr>
          <p:spPr bwMode="auto">
            <a:xfrm>
              <a:off x="4176" y="3312"/>
              <a:ext cx="249" cy="18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530462" name="Line 30"/>
            <p:cNvSpPr>
              <a:spLocks noChangeShapeType="1"/>
            </p:cNvSpPr>
            <p:nvPr/>
          </p:nvSpPr>
          <p:spPr bwMode="auto">
            <a:xfrm>
              <a:off x="4400" y="3477"/>
              <a:ext cx="224" cy="2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0463" name="Oval 31"/>
            <p:cNvSpPr>
              <a:spLocks noChangeArrowheads="1"/>
            </p:cNvSpPr>
            <p:nvPr/>
          </p:nvSpPr>
          <p:spPr bwMode="auto">
            <a:xfrm>
              <a:off x="4512" y="3696"/>
              <a:ext cx="249" cy="18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530464" name="Oval 32"/>
            <p:cNvSpPr>
              <a:spLocks noChangeArrowheads="1"/>
            </p:cNvSpPr>
            <p:nvPr/>
          </p:nvSpPr>
          <p:spPr bwMode="auto">
            <a:xfrm>
              <a:off x="2016" y="3216"/>
              <a:ext cx="280" cy="2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latin typeface="Times New Roman" pitchFamily="18" charset="0"/>
                </a:rPr>
                <a:t>7</a:t>
              </a:r>
            </a:p>
          </p:txBody>
        </p:sp>
      </p:grpSp>
      <p:sp>
        <p:nvSpPr>
          <p:cNvPr id="530465" name="Text Box 33"/>
          <p:cNvSpPr txBox="1">
            <a:spLocks noChangeArrowheads="1"/>
          </p:cNvSpPr>
          <p:nvPr/>
        </p:nvSpPr>
        <p:spPr bwMode="auto">
          <a:xfrm>
            <a:off x="457200" y="5181600"/>
            <a:ext cx="838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	Balanced				Left-heavy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>
          <a:xfrm>
            <a:off x="754063" y="503238"/>
            <a:ext cx="7856537" cy="685800"/>
          </a:xfrm>
        </p:spPr>
        <p:txBody>
          <a:bodyPr>
            <a:normAutofit fontScale="90000"/>
          </a:bodyPr>
          <a:lstStyle/>
          <a:p>
            <a:r>
              <a:rPr lang="en-US"/>
              <a:t>Building an AVL Tree</a:t>
            </a:r>
          </a:p>
        </p:txBody>
      </p:sp>
      <p:sp>
        <p:nvSpPr>
          <p:cNvPr id="491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10600" cy="5181600"/>
          </a:xfrm>
        </p:spPr>
        <p:txBody>
          <a:bodyPr/>
          <a:lstStyle/>
          <a:p>
            <a:r>
              <a:rPr lang="en-US" sz="2800"/>
              <a:t>New node can be inserted into the right or left subtree as appropriate.</a:t>
            </a:r>
          </a:p>
          <a:p>
            <a:r>
              <a:rPr lang="en-US" sz="2800"/>
              <a:t>New node can be inserted without changing the height of the subtree, in which case neither the height nor the balance of the root will be changed.</a:t>
            </a:r>
          </a:p>
          <a:p>
            <a:r>
              <a:rPr lang="en-US" sz="2800"/>
              <a:t>The only case that can cause difficulty occurs when the new node is added to a subtree of the root that is strictly taller than the other subtree, and the height is increased.</a:t>
            </a:r>
          </a:p>
          <a:p>
            <a:r>
              <a:rPr lang="en-US" sz="2800"/>
              <a:t> This would cause one subtree to have height 2 more than the other, destroying the AVL tree.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91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91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91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91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23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an AVL Tree</a:t>
            </a:r>
          </a:p>
        </p:txBody>
      </p:sp>
      <p:sp>
        <p:nvSpPr>
          <p:cNvPr id="492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Balance/Height information can be kept at the node.</a:t>
            </a:r>
          </a:p>
          <a:p>
            <a:r>
              <a:rPr lang="en-US" sz="2800"/>
              <a:t>When we do insertion, we need to update all the balancing information for the nodes on the path back to the root.</a:t>
            </a:r>
          </a:p>
          <a:p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92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92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47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Rebalance</a:t>
            </a:r>
          </a:p>
        </p:txBody>
      </p:sp>
      <p:sp>
        <p:nvSpPr>
          <p:cNvPr id="493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Rotate around a pivot node</a:t>
            </a:r>
          </a:p>
          <a:p>
            <a:pPr lvl="1"/>
            <a:r>
              <a:rPr lang="en-US"/>
              <a:t>The node at the greatest level whose subtrees are unbalanced</a:t>
            </a:r>
          </a:p>
        </p:txBody>
      </p:sp>
      <p:sp>
        <p:nvSpPr>
          <p:cNvPr id="493572" name="Text Box 4"/>
          <p:cNvSpPr txBox="1">
            <a:spLocks noChangeArrowheads="1"/>
          </p:cNvSpPr>
          <p:nvPr/>
        </p:nvSpPr>
        <p:spPr bwMode="auto">
          <a:xfrm>
            <a:off x="2438400" y="3886200"/>
            <a:ext cx="552450" cy="485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Font typeface="Symbol" pitchFamily="18" charset="2"/>
              <a:buNone/>
            </a:pPr>
            <a:r>
              <a:rPr lang="en-US" sz="2400" b="1"/>
              <a:t>30</a:t>
            </a:r>
          </a:p>
        </p:txBody>
      </p:sp>
      <p:sp>
        <p:nvSpPr>
          <p:cNvPr id="493573" name="Text Box 5"/>
          <p:cNvSpPr txBox="1">
            <a:spLocks noChangeArrowheads="1"/>
          </p:cNvSpPr>
          <p:nvPr/>
        </p:nvSpPr>
        <p:spPr bwMode="auto">
          <a:xfrm>
            <a:off x="1371600" y="5562600"/>
            <a:ext cx="552450" cy="485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Font typeface="Symbol" pitchFamily="18" charset="2"/>
              <a:buNone/>
            </a:pPr>
            <a:r>
              <a:rPr lang="en-US" sz="2400" b="1"/>
              <a:t>10</a:t>
            </a:r>
          </a:p>
        </p:txBody>
      </p:sp>
      <p:sp>
        <p:nvSpPr>
          <p:cNvPr id="493574" name="Text Box 6"/>
          <p:cNvSpPr txBox="1">
            <a:spLocks noChangeArrowheads="1"/>
          </p:cNvSpPr>
          <p:nvPr/>
        </p:nvSpPr>
        <p:spPr bwMode="auto">
          <a:xfrm>
            <a:off x="1905000" y="4724400"/>
            <a:ext cx="552450" cy="485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Font typeface="Symbol" pitchFamily="18" charset="2"/>
              <a:buNone/>
            </a:pPr>
            <a:r>
              <a:rPr lang="en-US" sz="2400" b="1"/>
              <a:t>20</a:t>
            </a:r>
          </a:p>
        </p:txBody>
      </p:sp>
      <p:sp>
        <p:nvSpPr>
          <p:cNvPr id="493575" name="Line 7"/>
          <p:cNvSpPr>
            <a:spLocks noChangeShapeType="1"/>
          </p:cNvSpPr>
          <p:nvPr/>
        </p:nvSpPr>
        <p:spPr bwMode="auto">
          <a:xfrm flipH="1">
            <a:off x="2209800" y="4419600"/>
            <a:ext cx="4572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3576" name="Line 8"/>
          <p:cNvSpPr>
            <a:spLocks noChangeShapeType="1"/>
          </p:cNvSpPr>
          <p:nvPr/>
        </p:nvSpPr>
        <p:spPr bwMode="auto">
          <a:xfrm flipH="1">
            <a:off x="1676400" y="5257800"/>
            <a:ext cx="4572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3577" name="Text Box 9"/>
          <p:cNvSpPr txBox="1">
            <a:spLocks noChangeArrowheads="1"/>
          </p:cNvSpPr>
          <p:nvPr/>
        </p:nvSpPr>
        <p:spPr bwMode="auto">
          <a:xfrm>
            <a:off x="5562600" y="4038600"/>
            <a:ext cx="552450" cy="485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Font typeface="Symbol" pitchFamily="18" charset="2"/>
              <a:buNone/>
            </a:pPr>
            <a:r>
              <a:rPr lang="en-US" sz="2400" b="1"/>
              <a:t>20</a:t>
            </a:r>
          </a:p>
        </p:txBody>
      </p:sp>
      <p:sp>
        <p:nvSpPr>
          <p:cNvPr id="493578" name="Text Box 10"/>
          <p:cNvSpPr txBox="1">
            <a:spLocks noChangeArrowheads="1"/>
          </p:cNvSpPr>
          <p:nvPr/>
        </p:nvSpPr>
        <p:spPr bwMode="auto">
          <a:xfrm>
            <a:off x="6172200" y="4876800"/>
            <a:ext cx="552450" cy="485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Font typeface="Symbol" pitchFamily="18" charset="2"/>
              <a:buNone/>
            </a:pPr>
            <a:r>
              <a:rPr lang="en-US" sz="2400" b="1"/>
              <a:t>30</a:t>
            </a:r>
          </a:p>
        </p:txBody>
      </p:sp>
      <p:sp>
        <p:nvSpPr>
          <p:cNvPr id="493579" name="Text Box 11"/>
          <p:cNvSpPr txBox="1">
            <a:spLocks noChangeArrowheads="1"/>
          </p:cNvSpPr>
          <p:nvPr/>
        </p:nvSpPr>
        <p:spPr bwMode="auto">
          <a:xfrm>
            <a:off x="5029200" y="4876800"/>
            <a:ext cx="552450" cy="485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Font typeface="Symbol" pitchFamily="18" charset="2"/>
              <a:buNone/>
            </a:pPr>
            <a:r>
              <a:rPr lang="en-US" sz="2400" b="1"/>
              <a:t>10</a:t>
            </a:r>
          </a:p>
        </p:txBody>
      </p:sp>
      <p:sp>
        <p:nvSpPr>
          <p:cNvPr id="493580" name="Line 12"/>
          <p:cNvSpPr>
            <a:spLocks noChangeShapeType="1"/>
          </p:cNvSpPr>
          <p:nvPr/>
        </p:nvSpPr>
        <p:spPr bwMode="auto">
          <a:xfrm flipH="1">
            <a:off x="5334000" y="4572000"/>
            <a:ext cx="4572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3581" name="Line 13"/>
          <p:cNvSpPr>
            <a:spLocks noChangeShapeType="1"/>
          </p:cNvSpPr>
          <p:nvPr/>
        </p:nvSpPr>
        <p:spPr bwMode="auto">
          <a:xfrm>
            <a:off x="5943600" y="4572000"/>
            <a:ext cx="4572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3582" name="Text Box 14"/>
          <p:cNvSpPr txBox="1">
            <a:spLocks noChangeArrowheads="1"/>
          </p:cNvSpPr>
          <p:nvPr/>
        </p:nvSpPr>
        <p:spPr bwMode="auto">
          <a:xfrm>
            <a:off x="838200" y="3810000"/>
            <a:ext cx="1352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1"/>
              </a:buClr>
              <a:buFont typeface="Symbol" pitchFamily="18" charset="2"/>
              <a:buNone/>
            </a:pPr>
            <a:r>
              <a:rPr lang="en-US" b="1"/>
              <a:t>Pivot node</a:t>
            </a:r>
          </a:p>
        </p:txBody>
      </p:sp>
      <p:sp>
        <p:nvSpPr>
          <p:cNvPr id="493583" name="Freeform 15"/>
          <p:cNvSpPr>
            <a:spLocks/>
          </p:cNvSpPr>
          <p:nvPr/>
        </p:nvSpPr>
        <p:spPr bwMode="auto">
          <a:xfrm>
            <a:off x="2057400" y="3505200"/>
            <a:ext cx="14478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0"/>
              </a:cxn>
              <a:cxn ang="0">
                <a:pos x="912" y="624"/>
              </a:cxn>
            </a:cxnLst>
            <a:rect l="0" t="0" r="r" b="b"/>
            <a:pathLst>
              <a:path w="912" h="624">
                <a:moveTo>
                  <a:pt x="0" y="624"/>
                </a:moveTo>
                <a:cubicBezTo>
                  <a:pt x="140" y="312"/>
                  <a:pt x="280" y="0"/>
                  <a:pt x="432" y="0"/>
                </a:cubicBezTo>
                <a:cubicBezTo>
                  <a:pt x="584" y="0"/>
                  <a:pt x="748" y="312"/>
                  <a:pt x="912" y="624"/>
                </a:cubicBezTo>
              </a:path>
            </a:pathLst>
          </a:custGeom>
          <a:noFill/>
          <a:ln w="28575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Freeform 2"/>
          <p:cNvSpPr>
            <a:spLocks/>
          </p:cNvSpPr>
          <p:nvPr/>
        </p:nvSpPr>
        <p:spPr bwMode="auto">
          <a:xfrm>
            <a:off x="5791200" y="1219200"/>
            <a:ext cx="14478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0"/>
              </a:cxn>
              <a:cxn ang="0">
                <a:pos x="912" y="624"/>
              </a:cxn>
            </a:cxnLst>
            <a:rect l="0" t="0" r="r" b="b"/>
            <a:pathLst>
              <a:path w="912" h="624">
                <a:moveTo>
                  <a:pt x="0" y="624"/>
                </a:moveTo>
                <a:cubicBezTo>
                  <a:pt x="140" y="312"/>
                  <a:pt x="280" y="0"/>
                  <a:pt x="432" y="0"/>
                </a:cubicBezTo>
                <a:cubicBezTo>
                  <a:pt x="584" y="0"/>
                  <a:pt x="748" y="312"/>
                  <a:pt x="912" y="624"/>
                </a:cubicBezTo>
              </a:path>
            </a:pathLst>
          </a:custGeom>
          <a:solidFill>
            <a:schemeClr val="bg1"/>
          </a:solidFill>
          <a:ln w="28575" cap="flat" cmpd="sng">
            <a:solidFill>
              <a:schemeClr val="tx2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Single Rotation Example</a:t>
            </a:r>
            <a:br>
              <a:rPr lang="en-US"/>
            </a:br>
            <a:r>
              <a:rPr lang="en-US"/>
              <a:t>Add 60</a:t>
            </a:r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4772025" cy="44989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Imbalance at node 20</a:t>
            </a:r>
          </a:p>
          <a:p>
            <a:pPr lvl="1">
              <a:lnSpc>
                <a:spcPct val="90000"/>
              </a:lnSpc>
            </a:pPr>
            <a:r>
              <a:rPr lang="en-US"/>
              <a:t>Rotate left about the pivot node, 20</a:t>
            </a:r>
          </a:p>
          <a:p>
            <a:pPr lvl="1">
              <a:lnSpc>
                <a:spcPct val="90000"/>
              </a:lnSpc>
            </a:pPr>
            <a:r>
              <a:rPr lang="en-US"/>
              <a:t>If the pivot node’s child on the heavy side has a child, reattach to pivot node after rotation as a child.</a:t>
            </a:r>
          </a:p>
        </p:txBody>
      </p:sp>
      <p:sp>
        <p:nvSpPr>
          <p:cNvPr id="494597" name="Text Box 5"/>
          <p:cNvSpPr txBox="1">
            <a:spLocks noChangeArrowheads="1"/>
          </p:cNvSpPr>
          <p:nvPr/>
        </p:nvSpPr>
        <p:spPr bwMode="auto">
          <a:xfrm flipH="1">
            <a:off x="6858000" y="2514600"/>
            <a:ext cx="552450" cy="485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Font typeface="Symbol" pitchFamily="18" charset="2"/>
              <a:buNone/>
            </a:pPr>
            <a:r>
              <a:rPr lang="en-US" sz="2400" b="1"/>
              <a:t>40</a:t>
            </a:r>
          </a:p>
        </p:txBody>
      </p:sp>
      <p:sp>
        <p:nvSpPr>
          <p:cNvPr id="494598" name="Text Box 6"/>
          <p:cNvSpPr txBox="1">
            <a:spLocks noChangeArrowheads="1"/>
          </p:cNvSpPr>
          <p:nvPr/>
        </p:nvSpPr>
        <p:spPr bwMode="auto">
          <a:xfrm flipH="1">
            <a:off x="7391400" y="3352800"/>
            <a:ext cx="552450" cy="485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Font typeface="Symbol" pitchFamily="18" charset="2"/>
              <a:buNone/>
            </a:pPr>
            <a:r>
              <a:rPr lang="en-US" sz="2400" b="1"/>
              <a:t>50</a:t>
            </a:r>
          </a:p>
        </p:txBody>
      </p:sp>
      <p:sp>
        <p:nvSpPr>
          <p:cNvPr id="494599" name="Line 7"/>
          <p:cNvSpPr>
            <a:spLocks noChangeShapeType="1"/>
          </p:cNvSpPr>
          <p:nvPr/>
        </p:nvSpPr>
        <p:spPr bwMode="auto">
          <a:xfrm>
            <a:off x="7181850" y="3048000"/>
            <a:ext cx="4572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4600" name="Text Box 8"/>
          <p:cNvSpPr txBox="1">
            <a:spLocks noChangeArrowheads="1"/>
          </p:cNvSpPr>
          <p:nvPr/>
        </p:nvSpPr>
        <p:spPr bwMode="auto">
          <a:xfrm>
            <a:off x="6248400" y="1676400"/>
            <a:ext cx="552450" cy="485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Font typeface="Symbol" pitchFamily="18" charset="2"/>
              <a:buNone/>
            </a:pPr>
            <a:r>
              <a:rPr lang="en-US" sz="2400" b="1"/>
              <a:t>20</a:t>
            </a:r>
          </a:p>
        </p:txBody>
      </p:sp>
      <p:sp>
        <p:nvSpPr>
          <p:cNvPr id="494601" name="Text Box 9"/>
          <p:cNvSpPr txBox="1">
            <a:spLocks noChangeArrowheads="1"/>
          </p:cNvSpPr>
          <p:nvPr/>
        </p:nvSpPr>
        <p:spPr bwMode="auto">
          <a:xfrm>
            <a:off x="6629400" y="3352800"/>
            <a:ext cx="552450" cy="485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Font typeface="Symbol" pitchFamily="18" charset="2"/>
              <a:buNone/>
            </a:pPr>
            <a:r>
              <a:rPr lang="en-US" sz="2400" b="1"/>
              <a:t>30</a:t>
            </a:r>
          </a:p>
        </p:txBody>
      </p:sp>
      <p:sp>
        <p:nvSpPr>
          <p:cNvPr id="494602" name="Text Box 10"/>
          <p:cNvSpPr txBox="1">
            <a:spLocks noChangeArrowheads="1"/>
          </p:cNvSpPr>
          <p:nvPr/>
        </p:nvSpPr>
        <p:spPr bwMode="auto">
          <a:xfrm>
            <a:off x="5715000" y="2514600"/>
            <a:ext cx="552450" cy="485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Font typeface="Symbol" pitchFamily="18" charset="2"/>
              <a:buNone/>
            </a:pPr>
            <a:r>
              <a:rPr lang="en-US" sz="2400" b="1"/>
              <a:t>10</a:t>
            </a:r>
          </a:p>
        </p:txBody>
      </p:sp>
      <p:sp>
        <p:nvSpPr>
          <p:cNvPr id="494603" name="Line 11"/>
          <p:cNvSpPr>
            <a:spLocks noChangeShapeType="1"/>
          </p:cNvSpPr>
          <p:nvPr/>
        </p:nvSpPr>
        <p:spPr bwMode="auto">
          <a:xfrm flipH="1">
            <a:off x="6019800" y="2209800"/>
            <a:ext cx="4572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4604" name="Line 12"/>
          <p:cNvSpPr>
            <a:spLocks noChangeShapeType="1"/>
          </p:cNvSpPr>
          <p:nvPr/>
        </p:nvSpPr>
        <p:spPr bwMode="auto">
          <a:xfrm flipH="1">
            <a:off x="6858000" y="3048000"/>
            <a:ext cx="2286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94605" name="Line 13"/>
          <p:cNvSpPr>
            <a:spLocks noChangeShapeType="1"/>
          </p:cNvSpPr>
          <p:nvPr/>
        </p:nvSpPr>
        <p:spPr bwMode="auto">
          <a:xfrm>
            <a:off x="6629400" y="2209800"/>
            <a:ext cx="4572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94606" name="Text Box 14"/>
          <p:cNvSpPr txBox="1">
            <a:spLocks noChangeArrowheads="1"/>
          </p:cNvSpPr>
          <p:nvPr/>
        </p:nvSpPr>
        <p:spPr bwMode="auto">
          <a:xfrm flipH="1">
            <a:off x="7924800" y="4191000"/>
            <a:ext cx="552450" cy="485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Font typeface="Symbol" pitchFamily="18" charset="2"/>
              <a:buNone/>
            </a:pPr>
            <a:r>
              <a:rPr lang="en-US" sz="2400" b="1"/>
              <a:t>60</a:t>
            </a:r>
          </a:p>
        </p:txBody>
      </p:sp>
      <p:sp>
        <p:nvSpPr>
          <p:cNvPr id="494607" name="Line 15"/>
          <p:cNvSpPr>
            <a:spLocks noChangeShapeType="1"/>
          </p:cNvSpPr>
          <p:nvPr/>
        </p:nvSpPr>
        <p:spPr bwMode="auto">
          <a:xfrm>
            <a:off x="7696200" y="3886200"/>
            <a:ext cx="4572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4876800" y="2895600"/>
            <a:ext cx="3505200" cy="3305175"/>
            <a:chOff x="3072" y="1824"/>
            <a:chExt cx="2208" cy="2082"/>
          </a:xfrm>
        </p:grpSpPr>
        <p:grpSp>
          <p:nvGrpSpPr>
            <p:cNvPr id="3" name="Group 17"/>
            <p:cNvGrpSpPr>
              <a:grpSpLocks/>
            </p:cNvGrpSpPr>
            <p:nvPr/>
          </p:nvGrpSpPr>
          <p:grpSpPr bwMode="auto">
            <a:xfrm>
              <a:off x="3072" y="2544"/>
              <a:ext cx="1740" cy="1362"/>
              <a:chOff x="1248" y="2208"/>
              <a:chExt cx="1740" cy="1362"/>
            </a:xfrm>
          </p:grpSpPr>
          <p:sp>
            <p:nvSpPr>
              <p:cNvPr id="494610" name="Text Box 18"/>
              <p:cNvSpPr txBox="1">
                <a:spLocks noChangeArrowheads="1"/>
              </p:cNvSpPr>
              <p:nvPr/>
            </p:nvSpPr>
            <p:spPr bwMode="auto">
              <a:xfrm flipH="1">
                <a:off x="1248" y="3264"/>
                <a:ext cx="348" cy="30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20000"/>
                  </a:spcBef>
                  <a:buClr>
                    <a:schemeClr val="tx1"/>
                  </a:buClr>
                  <a:buFont typeface="Symbol" pitchFamily="18" charset="2"/>
                  <a:buNone/>
                </a:pPr>
                <a:r>
                  <a:rPr lang="en-US" sz="2400" b="1"/>
                  <a:t>10</a:t>
                </a:r>
              </a:p>
            </p:txBody>
          </p:sp>
          <p:sp>
            <p:nvSpPr>
              <p:cNvPr id="494611" name="Line 19"/>
              <p:cNvSpPr>
                <a:spLocks noChangeShapeType="1"/>
              </p:cNvSpPr>
              <p:nvPr/>
            </p:nvSpPr>
            <p:spPr bwMode="auto">
              <a:xfrm>
                <a:off x="1872" y="3072"/>
                <a:ext cx="288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94612" name="Text Box 20"/>
              <p:cNvSpPr txBox="1">
                <a:spLocks noChangeArrowheads="1"/>
              </p:cNvSpPr>
              <p:nvPr/>
            </p:nvSpPr>
            <p:spPr bwMode="auto">
              <a:xfrm flipH="1">
                <a:off x="2304" y="2736"/>
                <a:ext cx="348" cy="30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20000"/>
                  </a:spcBef>
                  <a:buClr>
                    <a:schemeClr val="tx1"/>
                  </a:buClr>
                  <a:buFont typeface="Symbol" pitchFamily="18" charset="2"/>
                  <a:buNone/>
                </a:pPr>
                <a:r>
                  <a:rPr lang="en-US" sz="2400" b="1"/>
                  <a:t>50</a:t>
                </a:r>
              </a:p>
            </p:txBody>
          </p:sp>
          <p:sp>
            <p:nvSpPr>
              <p:cNvPr id="494613" name="Text Box 21"/>
              <p:cNvSpPr txBox="1">
                <a:spLocks noChangeArrowheads="1"/>
              </p:cNvSpPr>
              <p:nvPr/>
            </p:nvSpPr>
            <p:spPr bwMode="auto">
              <a:xfrm flipH="1">
                <a:off x="2640" y="3264"/>
                <a:ext cx="348" cy="30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20000"/>
                  </a:spcBef>
                  <a:buClr>
                    <a:schemeClr val="tx1"/>
                  </a:buClr>
                  <a:buFont typeface="Symbol" pitchFamily="18" charset="2"/>
                  <a:buNone/>
                </a:pPr>
                <a:r>
                  <a:rPr lang="en-US" sz="2400" b="1"/>
                  <a:t>60</a:t>
                </a:r>
              </a:p>
            </p:txBody>
          </p:sp>
          <p:sp>
            <p:nvSpPr>
              <p:cNvPr id="494614" name="Line 22"/>
              <p:cNvSpPr>
                <a:spLocks noChangeShapeType="1"/>
              </p:cNvSpPr>
              <p:nvPr/>
            </p:nvSpPr>
            <p:spPr bwMode="auto">
              <a:xfrm>
                <a:off x="2508" y="3072"/>
                <a:ext cx="288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94615" name="Text Box 23"/>
              <p:cNvSpPr txBox="1">
                <a:spLocks noChangeArrowheads="1"/>
              </p:cNvSpPr>
              <p:nvPr/>
            </p:nvSpPr>
            <p:spPr bwMode="auto">
              <a:xfrm>
                <a:off x="1920" y="2208"/>
                <a:ext cx="348" cy="30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20000"/>
                  </a:spcBef>
                  <a:buClr>
                    <a:schemeClr val="tx1"/>
                  </a:buClr>
                  <a:buFont typeface="Symbol" pitchFamily="18" charset="2"/>
                  <a:buNone/>
                </a:pPr>
                <a:r>
                  <a:rPr lang="en-US" sz="2400" b="1"/>
                  <a:t>40</a:t>
                </a:r>
              </a:p>
            </p:txBody>
          </p:sp>
          <p:sp>
            <p:nvSpPr>
              <p:cNvPr id="494616" name="Text Box 24"/>
              <p:cNvSpPr txBox="1">
                <a:spLocks noChangeArrowheads="1"/>
              </p:cNvSpPr>
              <p:nvPr/>
            </p:nvSpPr>
            <p:spPr bwMode="auto">
              <a:xfrm>
                <a:off x="1968" y="3264"/>
                <a:ext cx="348" cy="30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20000"/>
                  </a:spcBef>
                  <a:buClr>
                    <a:schemeClr val="tx1"/>
                  </a:buClr>
                  <a:buFont typeface="Symbol" pitchFamily="18" charset="2"/>
                  <a:buNone/>
                </a:pPr>
                <a:r>
                  <a:rPr lang="en-US" sz="2400" b="1"/>
                  <a:t>30</a:t>
                </a:r>
              </a:p>
            </p:txBody>
          </p:sp>
          <p:sp>
            <p:nvSpPr>
              <p:cNvPr id="494617" name="Text Box 25"/>
              <p:cNvSpPr txBox="1">
                <a:spLocks noChangeArrowheads="1"/>
              </p:cNvSpPr>
              <p:nvPr/>
            </p:nvSpPr>
            <p:spPr bwMode="auto">
              <a:xfrm>
                <a:off x="1584" y="2736"/>
                <a:ext cx="348" cy="30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20000"/>
                  </a:spcBef>
                  <a:buClr>
                    <a:schemeClr val="tx1"/>
                  </a:buClr>
                  <a:buFont typeface="Symbol" pitchFamily="18" charset="2"/>
                  <a:buNone/>
                </a:pPr>
                <a:r>
                  <a:rPr lang="en-US" sz="2400" b="1"/>
                  <a:t>20</a:t>
                </a:r>
              </a:p>
            </p:txBody>
          </p:sp>
          <p:sp>
            <p:nvSpPr>
              <p:cNvPr id="494618" name="Line 26"/>
              <p:cNvSpPr>
                <a:spLocks noChangeShapeType="1"/>
              </p:cNvSpPr>
              <p:nvPr/>
            </p:nvSpPr>
            <p:spPr bwMode="auto">
              <a:xfrm flipH="1">
                <a:off x="1776" y="2544"/>
                <a:ext cx="288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94619" name="Line 27"/>
              <p:cNvSpPr>
                <a:spLocks noChangeShapeType="1"/>
              </p:cNvSpPr>
              <p:nvPr/>
            </p:nvSpPr>
            <p:spPr bwMode="auto">
              <a:xfrm flipH="1">
                <a:off x="1440" y="3072"/>
                <a:ext cx="288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94620" name="Line 28"/>
              <p:cNvSpPr>
                <a:spLocks noChangeShapeType="1"/>
              </p:cNvSpPr>
              <p:nvPr/>
            </p:nvSpPr>
            <p:spPr bwMode="auto">
              <a:xfrm>
                <a:off x="2160" y="2544"/>
                <a:ext cx="288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494621" name="Line 29"/>
            <p:cNvSpPr>
              <a:spLocks noChangeShapeType="1"/>
            </p:cNvSpPr>
            <p:nvPr/>
          </p:nvSpPr>
          <p:spPr bwMode="auto">
            <a:xfrm>
              <a:off x="3312" y="1824"/>
              <a:ext cx="1968" cy="15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Freeform 2"/>
          <p:cNvSpPr>
            <a:spLocks/>
          </p:cNvSpPr>
          <p:nvPr/>
        </p:nvSpPr>
        <p:spPr bwMode="auto">
          <a:xfrm>
            <a:off x="1905000" y="2286000"/>
            <a:ext cx="14478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432" y="0"/>
              </a:cxn>
              <a:cxn ang="0">
                <a:pos x="912" y="624"/>
              </a:cxn>
            </a:cxnLst>
            <a:rect l="0" t="0" r="r" b="b"/>
            <a:pathLst>
              <a:path w="912" h="624">
                <a:moveTo>
                  <a:pt x="0" y="624"/>
                </a:moveTo>
                <a:cubicBezTo>
                  <a:pt x="140" y="312"/>
                  <a:pt x="280" y="0"/>
                  <a:pt x="432" y="0"/>
                </a:cubicBezTo>
                <a:cubicBezTo>
                  <a:pt x="584" y="0"/>
                  <a:pt x="748" y="312"/>
                  <a:pt x="912" y="624"/>
                </a:cubicBezTo>
              </a:path>
            </a:pathLst>
          </a:custGeom>
          <a:noFill/>
          <a:ln w="28575" cap="flat" cmpd="sng">
            <a:solidFill>
              <a:schemeClr val="tx2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561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 of a Single Rotation Left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181600" y="2895600"/>
            <a:ext cx="2762250" cy="2162175"/>
            <a:chOff x="1248" y="2208"/>
            <a:chExt cx="1740" cy="1362"/>
          </a:xfrm>
        </p:grpSpPr>
        <p:sp>
          <p:nvSpPr>
            <p:cNvPr id="495621" name="Text Box 5"/>
            <p:cNvSpPr txBox="1">
              <a:spLocks noChangeArrowheads="1"/>
            </p:cNvSpPr>
            <p:nvPr/>
          </p:nvSpPr>
          <p:spPr bwMode="auto">
            <a:xfrm flipH="1">
              <a:off x="1248" y="3264"/>
              <a:ext cx="348" cy="30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20000"/>
                </a:spcBef>
                <a:buClr>
                  <a:schemeClr val="tx1"/>
                </a:buClr>
                <a:buFont typeface="Symbol" pitchFamily="18" charset="2"/>
                <a:buNone/>
              </a:pPr>
              <a:r>
                <a:rPr lang="en-US" sz="2400" b="1"/>
                <a:t>10</a:t>
              </a:r>
            </a:p>
          </p:txBody>
        </p:sp>
        <p:sp>
          <p:nvSpPr>
            <p:cNvPr id="495622" name="Line 6"/>
            <p:cNvSpPr>
              <a:spLocks noChangeShapeType="1"/>
            </p:cNvSpPr>
            <p:nvPr/>
          </p:nvSpPr>
          <p:spPr bwMode="auto">
            <a:xfrm>
              <a:off x="1872" y="3072"/>
              <a:ext cx="288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5623" name="Text Box 7"/>
            <p:cNvSpPr txBox="1">
              <a:spLocks noChangeArrowheads="1"/>
            </p:cNvSpPr>
            <p:nvPr/>
          </p:nvSpPr>
          <p:spPr bwMode="auto">
            <a:xfrm flipH="1">
              <a:off x="2304" y="2736"/>
              <a:ext cx="348" cy="30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20000"/>
                </a:spcBef>
                <a:buClr>
                  <a:schemeClr val="tx1"/>
                </a:buClr>
                <a:buFont typeface="Symbol" pitchFamily="18" charset="2"/>
                <a:buNone/>
              </a:pPr>
              <a:r>
                <a:rPr lang="en-US" sz="2400" b="1"/>
                <a:t>50</a:t>
              </a:r>
            </a:p>
          </p:txBody>
        </p:sp>
        <p:sp>
          <p:nvSpPr>
            <p:cNvPr id="495624" name="Text Box 8"/>
            <p:cNvSpPr txBox="1">
              <a:spLocks noChangeArrowheads="1"/>
            </p:cNvSpPr>
            <p:nvPr/>
          </p:nvSpPr>
          <p:spPr bwMode="auto">
            <a:xfrm flipH="1">
              <a:off x="2640" y="3264"/>
              <a:ext cx="348" cy="30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20000"/>
                </a:spcBef>
                <a:buClr>
                  <a:schemeClr val="tx1"/>
                </a:buClr>
                <a:buFont typeface="Symbol" pitchFamily="18" charset="2"/>
                <a:buNone/>
              </a:pPr>
              <a:r>
                <a:rPr lang="en-US" sz="2400" b="1"/>
                <a:t>60</a:t>
              </a:r>
            </a:p>
          </p:txBody>
        </p:sp>
        <p:sp>
          <p:nvSpPr>
            <p:cNvPr id="495625" name="Line 9"/>
            <p:cNvSpPr>
              <a:spLocks noChangeShapeType="1"/>
            </p:cNvSpPr>
            <p:nvPr/>
          </p:nvSpPr>
          <p:spPr bwMode="auto">
            <a:xfrm>
              <a:off x="2508" y="3072"/>
              <a:ext cx="288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5626" name="Text Box 10"/>
            <p:cNvSpPr txBox="1">
              <a:spLocks noChangeArrowheads="1"/>
            </p:cNvSpPr>
            <p:nvPr/>
          </p:nvSpPr>
          <p:spPr bwMode="auto">
            <a:xfrm>
              <a:off x="1920" y="2208"/>
              <a:ext cx="348" cy="30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20000"/>
                </a:spcBef>
                <a:buClr>
                  <a:schemeClr val="tx1"/>
                </a:buClr>
                <a:buFont typeface="Symbol" pitchFamily="18" charset="2"/>
                <a:buNone/>
              </a:pPr>
              <a:r>
                <a:rPr lang="en-US" sz="2400" b="1"/>
                <a:t>40</a:t>
              </a:r>
            </a:p>
          </p:txBody>
        </p:sp>
        <p:sp>
          <p:nvSpPr>
            <p:cNvPr id="495627" name="Text Box 11"/>
            <p:cNvSpPr txBox="1">
              <a:spLocks noChangeArrowheads="1"/>
            </p:cNvSpPr>
            <p:nvPr/>
          </p:nvSpPr>
          <p:spPr bwMode="auto">
            <a:xfrm>
              <a:off x="1968" y="3264"/>
              <a:ext cx="348" cy="30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20000"/>
                </a:spcBef>
                <a:buClr>
                  <a:schemeClr val="tx1"/>
                </a:buClr>
                <a:buFont typeface="Symbol" pitchFamily="18" charset="2"/>
                <a:buNone/>
              </a:pPr>
              <a:r>
                <a:rPr lang="en-US" sz="2400" b="1"/>
                <a:t>30</a:t>
              </a:r>
            </a:p>
          </p:txBody>
        </p:sp>
        <p:sp>
          <p:nvSpPr>
            <p:cNvPr id="495628" name="Text Box 12"/>
            <p:cNvSpPr txBox="1">
              <a:spLocks noChangeArrowheads="1"/>
            </p:cNvSpPr>
            <p:nvPr/>
          </p:nvSpPr>
          <p:spPr bwMode="auto">
            <a:xfrm>
              <a:off x="1584" y="2736"/>
              <a:ext cx="348" cy="30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20000"/>
                </a:spcBef>
                <a:buClr>
                  <a:schemeClr val="tx1"/>
                </a:buClr>
                <a:buFont typeface="Symbol" pitchFamily="18" charset="2"/>
                <a:buNone/>
              </a:pPr>
              <a:r>
                <a:rPr lang="en-US" sz="2400" b="1"/>
                <a:t>20</a:t>
              </a:r>
            </a:p>
          </p:txBody>
        </p:sp>
        <p:sp>
          <p:nvSpPr>
            <p:cNvPr id="495629" name="Line 13"/>
            <p:cNvSpPr>
              <a:spLocks noChangeShapeType="1"/>
            </p:cNvSpPr>
            <p:nvPr/>
          </p:nvSpPr>
          <p:spPr bwMode="auto">
            <a:xfrm flipH="1">
              <a:off x="1776" y="2544"/>
              <a:ext cx="288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5630" name="Line 14"/>
            <p:cNvSpPr>
              <a:spLocks noChangeShapeType="1"/>
            </p:cNvSpPr>
            <p:nvPr/>
          </p:nvSpPr>
          <p:spPr bwMode="auto">
            <a:xfrm flipH="1">
              <a:off x="1440" y="3072"/>
              <a:ext cx="288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5631" name="Line 15"/>
            <p:cNvSpPr>
              <a:spLocks noChangeShapeType="1"/>
            </p:cNvSpPr>
            <p:nvPr/>
          </p:nvSpPr>
          <p:spPr bwMode="auto">
            <a:xfrm>
              <a:off x="2160" y="2544"/>
              <a:ext cx="288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495632" name="Text Box 16"/>
          <p:cNvSpPr txBox="1">
            <a:spLocks noChangeArrowheads="1"/>
          </p:cNvSpPr>
          <p:nvPr/>
        </p:nvSpPr>
        <p:spPr bwMode="auto">
          <a:xfrm flipH="1">
            <a:off x="2895600" y="3581400"/>
            <a:ext cx="552450" cy="485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Font typeface="Symbol" pitchFamily="18" charset="2"/>
              <a:buNone/>
            </a:pPr>
            <a:r>
              <a:rPr lang="en-US" sz="2400" b="1"/>
              <a:t>40</a:t>
            </a:r>
          </a:p>
        </p:txBody>
      </p:sp>
      <p:sp>
        <p:nvSpPr>
          <p:cNvPr id="495633" name="Text Box 17"/>
          <p:cNvSpPr txBox="1">
            <a:spLocks noChangeArrowheads="1"/>
          </p:cNvSpPr>
          <p:nvPr/>
        </p:nvSpPr>
        <p:spPr bwMode="auto">
          <a:xfrm flipH="1">
            <a:off x="3429000" y="4419600"/>
            <a:ext cx="552450" cy="485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Font typeface="Symbol" pitchFamily="18" charset="2"/>
              <a:buNone/>
            </a:pPr>
            <a:r>
              <a:rPr lang="en-US" sz="2400" b="1"/>
              <a:t>50</a:t>
            </a:r>
          </a:p>
        </p:txBody>
      </p:sp>
      <p:sp>
        <p:nvSpPr>
          <p:cNvPr id="495634" name="Line 18"/>
          <p:cNvSpPr>
            <a:spLocks noChangeShapeType="1"/>
          </p:cNvSpPr>
          <p:nvPr/>
        </p:nvSpPr>
        <p:spPr bwMode="auto">
          <a:xfrm>
            <a:off x="3219450" y="4114800"/>
            <a:ext cx="4572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5635" name="Text Box 19"/>
          <p:cNvSpPr txBox="1">
            <a:spLocks noChangeArrowheads="1"/>
          </p:cNvSpPr>
          <p:nvPr/>
        </p:nvSpPr>
        <p:spPr bwMode="auto">
          <a:xfrm>
            <a:off x="2286000" y="2743200"/>
            <a:ext cx="552450" cy="485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Font typeface="Symbol" pitchFamily="18" charset="2"/>
              <a:buNone/>
            </a:pPr>
            <a:r>
              <a:rPr lang="en-US" sz="2400" b="1"/>
              <a:t>20</a:t>
            </a:r>
          </a:p>
        </p:txBody>
      </p:sp>
      <p:sp>
        <p:nvSpPr>
          <p:cNvPr id="495636" name="Text Box 20"/>
          <p:cNvSpPr txBox="1">
            <a:spLocks noChangeArrowheads="1"/>
          </p:cNvSpPr>
          <p:nvPr/>
        </p:nvSpPr>
        <p:spPr bwMode="auto">
          <a:xfrm>
            <a:off x="2362200" y="4419600"/>
            <a:ext cx="552450" cy="485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Font typeface="Symbol" pitchFamily="18" charset="2"/>
              <a:buNone/>
            </a:pPr>
            <a:r>
              <a:rPr lang="en-US" sz="2400" b="1"/>
              <a:t>30</a:t>
            </a:r>
          </a:p>
        </p:txBody>
      </p:sp>
      <p:sp>
        <p:nvSpPr>
          <p:cNvPr id="495637" name="Text Box 21"/>
          <p:cNvSpPr txBox="1">
            <a:spLocks noChangeArrowheads="1"/>
          </p:cNvSpPr>
          <p:nvPr/>
        </p:nvSpPr>
        <p:spPr bwMode="auto">
          <a:xfrm>
            <a:off x="1752600" y="3581400"/>
            <a:ext cx="552450" cy="485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Font typeface="Symbol" pitchFamily="18" charset="2"/>
              <a:buNone/>
            </a:pPr>
            <a:r>
              <a:rPr lang="en-US" sz="2400" b="1"/>
              <a:t>10</a:t>
            </a:r>
          </a:p>
        </p:txBody>
      </p:sp>
      <p:sp>
        <p:nvSpPr>
          <p:cNvPr id="495638" name="Line 22"/>
          <p:cNvSpPr>
            <a:spLocks noChangeShapeType="1"/>
          </p:cNvSpPr>
          <p:nvPr/>
        </p:nvSpPr>
        <p:spPr bwMode="auto">
          <a:xfrm flipH="1">
            <a:off x="2057400" y="3276600"/>
            <a:ext cx="4572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5639" name="Line 23"/>
          <p:cNvSpPr>
            <a:spLocks noChangeShapeType="1"/>
          </p:cNvSpPr>
          <p:nvPr/>
        </p:nvSpPr>
        <p:spPr bwMode="auto">
          <a:xfrm flipH="1">
            <a:off x="2667000" y="4114800"/>
            <a:ext cx="4572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95640" name="Line 24"/>
          <p:cNvSpPr>
            <a:spLocks noChangeShapeType="1"/>
          </p:cNvSpPr>
          <p:nvPr/>
        </p:nvSpPr>
        <p:spPr bwMode="auto">
          <a:xfrm>
            <a:off x="2667000" y="3276600"/>
            <a:ext cx="4572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95641" name="Text Box 25"/>
          <p:cNvSpPr txBox="1">
            <a:spLocks noChangeArrowheads="1"/>
          </p:cNvSpPr>
          <p:nvPr/>
        </p:nvSpPr>
        <p:spPr bwMode="auto">
          <a:xfrm flipH="1">
            <a:off x="3962400" y="5257800"/>
            <a:ext cx="552450" cy="485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Font typeface="Symbol" pitchFamily="18" charset="2"/>
              <a:buNone/>
            </a:pPr>
            <a:r>
              <a:rPr lang="en-US" sz="2400" b="1"/>
              <a:t>60</a:t>
            </a:r>
          </a:p>
        </p:txBody>
      </p:sp>
      <p:sp>
        <p:nvSpPr>
          <p:cNvPr id="495642" name="Line 26"/>
          <p:cNvSpPr>
            <a:spLocks noChangeShapeType="1"/>
          </p:cNvSpPr>
          <p:nvPr/>
        </p:nvSpPr>
        <p:spPr bwMode="auto">
          <a:xfrm>
            <a:off x="3733800" y="4953000"/>
            <a:ext cx="4572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>
          <a:xfrm>
            <a:off x="754063" y="427038"/>
            <a:ext cx="7856537" cy="685800"/>
          </a:xfrm>
        </p:spPr>
        <p:txBody>
          <a:bodyPr>
            <a:normAutofit fontScale="90000"/>
          </a:bodyPr>
          <a:lstStyle/>
          <a:p>
            <a:r>
              <a:rPr lang="en-US"/>
              <a:t>Building an AVL Tree</a:t>
            </a:r>
          </a:p>
        </p:txBody>
      </p:sp>
      <p:sp>
        <p:nvSpPr>
          <p:cNvPr id="496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066800"/>
            <a:ext cx="77724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sz="2400" b="1">
                <a:latin typeface="Times New Roman" pitchFamily="18" charset="0"/>
              </a:rPr>
              <a:t>Single Rotation</a:t>
            </a:r>
          </a:p>
          <a:p>
            <a:pPr>
              <a:buFontTx/>
              <a:buNone/>
            </a:pPr>
            <a:r>
              <a:rPr lang="en-US" sz="2400">
                <a:latin typeface="Times New Roman" pitchFamily="18" charset="0"/>
              </a:rPr>
              <a:t>Example:	insert 1, 2, 3, 4, 5, 6, 7</a:t>
            </a:r>
          </a:p>
          <a:p>
            <a:pPr>
              <a:buFontTx/>
              <a:buNone/>
            </a:pPr>
            <a:endParaRPr lang="en-US" sz="2400" b="1">
              <a:latin typeface="Times New Roman" pitchFamily="18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914400" y="2133600"/>
            <a:ext cx="1524000" cy="1600200"/>
            <a:chOff x="816" y="1488"/>
            <a:chExt cx="960" cy="1008"/>
          </a:xfrm>
        </p:grpSpPr>
        <p:sp>
          <p:nvSpPr>
            <p:cNvPr id="496645" name="Oval 5"/>
            <p:cNvSpPr>
              <a:spLocks noChangeArrowheads="1"/>
            </p:cNvSpPr>
            <p:nvPr/>
          </p:nvSpPr>
          <p:spPr bwMode="auto">
            <a:xfrm>
              <a:off x="816" y="148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496646" name="Oval 6"/>
            <p:cNvSpPr>
              <a:spLocks noChangeArrowheads="1"/>
            </p:cNvSpPr>
            <p:nvPr/>
          </p:nvSpPr>
          <p:spPr bwMode="auto">
            <a:xfrm>
              <a:off x="1200" y="182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96647" name="Oval 7"/>
            <p:cNvSpPr>
              <a:spLocks noChangeArrowheads="1"/>
            </p:cNvSpPr>
            <p:nvPr/>
          </p:nvSpPr>
          <p:spPr bwMode="auto">
            <a:xfrm>
              <a:off x="1488" y="2208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96648" name="Line 8"/>
            <p:cNvSpPr>
              <a:spLocks noChangeShapeType="1"/>
            </p:cNvSpPr>
            <p:nvPr/>
          </p:nvSpPr>
          <p:spPr bwMode="auto">
            <a:xfrm>
              <a:off x="1104" y="1680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6649" name="Line 9"/>
            <p:cNvSpPr>
              <a:spLocks noChangeShapeType="1"/>
            </p:cNvSpPr>
            <p:nvPr/>
          </p:nvSpPr>
          <p:spPr bwMode="auto">
            <a:xfrm>
              <a:off x="1440" y="2016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2209800" y="2286000"/>
            <a:ext cx="1143000" cy="457200"/>
            <a:chOff x="1632" y="1584"/>
            <a:chExt cx="720" cy="288"/>
          </a:xfrm>
        </p:grpSpPr>
        <p:sp>
          <p:nvSpPr>
            <p:cNvPr id="496651" name="Line 11"/>
            <p:cNvSpPr>
              <a:spLocks noChangeShapeType="1"/>
            </p:cNvSpPr>
            <p:nvPr/>
          </p:nvSpPr>
          <p:spPr bwMode="auto">
            <a:xfrm>
              <a:off x="1632" y="1872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6652" name="Text Box 12"/>
            <p:cNvSpPr txBox="1">
              <a:spLocks noChangeArrowheads="1"/>
            </p:cNvSpPr>
            <p:nvPr/>
          </p:nvSpPr>
          <p:spPr bwMode="auto">
            <a:xfrm>
              <a:off x="1632" y="1584"/>
              <a:ext cx="72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Rotate</a:t>
              </a:r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3657600" y="2057400"/>
            <a:ext cx="1524000" cy="1219200"/>
            <a:chOff x="2544" y="1440"/>
            <a:chExt cx="960" cy="768"/>
          </a:xfrm>
        </p:grpSpPr>
        <p:sp>
          <p:nvSpPr>
            <p:cNvPr id="496654" name="Oval 14"/>
            <p:cNvSpPr>
              <a:spLocks noChangeArrowheads="1"/>
            </p:cNvSpPr>
            <p:nvPr/>
          </p:nvSpPr>
          <p:spPr bwMode="auto">
            <a:xfrm>
              <a:off x="2784" y="1440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96655" name="Oval 15"/>
            <p:cNvSpPr>
              <a:spLocks noChangeArrowheads="1"/>
            </p:cNvSpPr>
            <p:nvPr/>
          </p:nvSpPr>
          <p:spPr bwMode="auto">
            <a:xfrm>
              <a:off x="2544" y="1920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496656" name="Oval 16"/>
            <p:cNvSpPr>
              <a:spLocks noChangeArrowheads="1"/>
            </p:cNvSpPr>
            <p:nvPr/>
          </p:nvSpPr>
          <p:spPr bwMode="auto">
            <a:xfrm>
              <a:off x="3168" y="1920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96657" name="Line 17"/>
            <p:cNvSpPr>
              <a:spLocks noChangeShapeType="1"/>
            </p:cNvSpPr>
            <p:nvPr/>
          </p:nvSpPr>
          <p:spPr bwMode="auto">
            <a:xfrm flipH="1">
              <a:off x="2640" y="163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6658" name="Line 18"/>
            <p:cNvSpPr>
              <a:spLocks noChangeShapeType="1"/>
            </p:cNvSpPr>
            <p:nvPr/>
          </p:nvSpPr>
          <p:spPr bwMode="auto">
            <a:xfrm>
              <a:off x="3120" y="1584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496659" name="Text Box 19"/>
          <p:cNvSpPr txBox="1">
            <a:spLocks noChangeArrowheads="1"/>
          </p:cNvSpPr>
          <p:nvPr/>
        </p:nvSpPr>
        <p:spPr bwMode="auto">
          <a:xfrm>
            <a:off x="5029200" y="22860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Insert 4, 5</a:t>
            </a:r>
          </a:p>
        </p:txBody>
      </p: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6477000" y="1905000"/>
            <a:ext cx="2057400" cy="2514600"/>
            <a:chOff x="4320" y="1344"/>
            <a:chExt cx="1296" cy="1584"/>
          </a:xfrm>
        </p:grpSpPr>
        <p:grpSp>
          <p:nvGrpSpPr>
            <p:cNvPr id="6" name="Group 21"/>
            <p:cNvGrpSpPr>
              <a:grpSpLocks/>
            </p:cNvGrpSpPr>
            <p:nvPr/>
          </p:nvGrpSpPr>
          <p:grpSpPr bwMode="auto">
            <a:xfrm>
              <a:off x="4320" y="1344"/>
              <a:ext cx="960" cy="768"/>
              <a:chOff x="2544" y="1440"/>
              <a:chExt cx="960" cy="768"/>
            </a:xfrm>
          </p:grpSpPr>
          <p:sp>
            <p:nvSpPr>
              <p:cNvPr id="496662" name="Oval 22"/>
              <p:cNvSpPr>
                <a:spLocks noChangeArrowheads="1"/>
              </p:cNvSpPr>
              <p:nvPr/>
            </p:nvSpPr>
            <p:spPr bwMode="auto">
              <a:xfrm>
                <a:off x="2784" y="1440"/>
                <a:ext cx="33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496663" name="Oval 23"/>
              <p:cNvSpPr>
                <a:spLocks noChangeArrowheads="1"/>
              </p:cNvSpPr>
              <p:nvPr/>
            </p:nvSpPr>
            <p:spPr bwMode="auto">
              <a:xfrm>
                <a:off x="2544" y="1920"/>
                <a:ext cx="33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496664" name="Oval 24"/>
              <p:cNvSpPr>
                <a:spLocks noChangeArrowheads="1"/>
              </p:cNvSpPr>
              <p:nvPr/>
            </p:nvSpPr>
            <p:spPr bwMode="auto">
              <a:xfrm>
                <a:off x="3168" y="1920"/>
                <a:ext cx="33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>
                    <a:latin typeface="Times New Roman" pitchFamily="18" charset="0"/>
                  </a:rPr>
                  <a:t>3</a:t>
                </a:r>
              </a:p>
            </p:txBody>
          </p:sp>
          <p:sp>
            <p:nvSpPr>
              <p:cNvPr id="496665" name="Line 25"/>
              <p:cNvSpPr>
                <a:spLocks noChangeShapeType="1"/>
              </p:cNvSpPr>
              <p:nvPr/>
            </p:nvSpPr>
            <p:spPr bwMode="auto">
              <a:xfrm flipH="1">
                <a:off x="2640" y="1632"/>
                <a:ext cx="144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6666" name="Line 26"/>
              <p:cNvSpPr>
                <a:spLocks noChangeShapeType="1"/>
              </p:cNvSpPr>
              <p:nvPr/>
            </p:nvSpPr>
            <p:spPr bwMode="auto">
              <a:xfrm>
                <a:off x="3120" y="1584"/>
                <a:ext cx="192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496667" name="Oval 27"/>
            <p:cNvSpPr>
              <a:spLocks noChangeArrowheads="1"/>
            </p:cNvSpPr>
            <p:nvPr/>
          </p:nvSpPr>
          <p:spPr bwMode="auto">
            <a:xfrm>
              <a:off x="5232" y="2208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496668" name="Oval 28"/>
            <p:cNvSpPr>
              <a:spLocks noChangeArrowheads="1"/>
            </p:cNvSpPr>
            <p:nvPr/>
          </p:nvSpPr>
          <p:spPr bwMode="auto">
            <a:xfrm>
              <a:off x="5376" y="2640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496669" name="Line 29"/>
            <p:cNvSpPr>
              <a:spLocks noChangeShapeType="1"/>
            </p:cNvSpPr>
            <p:nvPr/>
          </p:nvSpPr>
          <p:spPr bwMode="auto">
            <a:xfrm>
              <a:off x="5232" y="2064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6670" name="Line 30"/>
            <p:cNvSpPr>
              <a:spLocks noChangeShapeType="1"/>
            </p:cNvSpPr>
            <p:nvPr/>
          </p:nvSpPr>
          <p:spPr bwMode="auto">
            <a:xfrm>
              <a:off x="5424" y="2400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7" name="Group 31"/>
          <p:cNvGrpSpPr>
            <a:grpSpLocks/>
          </p:cNvGrpSpPr>
          <p:nvPr/>
        </p:nvGrpSpPr>
        <p:grpSpPr bwMode="auto">
          <a:xfrm>
            <a:off x="7620000" y="2209800"/>
            <a:ext cx="1143000" cy="457200"/>
            <a:chOff x="5040" y="1536"/>
            <a:chExt cx="720" cy="288"/>
          </a:xfrm>
        </p:grpSpPr>
        <p:sp>
          <p:nvSpPr>
            <p:cNvPr id="496672" name="Line 32"/>
            <p:cNvSpPr>
              <a:spLocks noChangeShapeType="1"/>
            </p:cNvSpPr>
            <p:nvPr/>
          </p:nvSpPr>
          <p:spPr bwMode="auto">
            <a:xfrm>
              <a:off x="5232" y="1824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6673" name="Text Box 33"/>
            <p:cNvSpPr txBox="1">
              <a:spLocks noChangeArrowheads="1"/>
            </p:cNvSpPr>
            <p:nvPr/>
          </p:nvSpPr>
          <p:spPr bwMode="auto">
            <a:xfrm>
              <a:off x="5040" y="1536"/>
              <a:ext cx="72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Rotate</a:t>
              </a:r>
            </a:p>
          </p:txBody>
        </p:sp>
      </p:grpSp>
      <p:grpSp>
        <p:nvGrpSpPr>
          <p:cNvPr id="8" name="Group 34"/>
          <p:cNvGrpSpPr>
            <a:grpSpLocks/>
          </p:cNvGrpSpPr>
          <p:nvPr/>
        </p:nvGrpSpPr>
        <p:grpSpPr bwMode="auto">
          <a:xfrm>
            <a:off x="457200" y="3962400"/>
            <a:ext cx="1905000" cy="1981200"/>
            <a:chOff x="528" y="2640"/>
            <a:chExt cx="1200" cy="1248"/>
          </a:xfrm>
        </p:grpSpPr>
        <p:grpSp>
          <p:nvGrpSpPr>
            <p:cNvPr id="9" name="Group 35"/>
            <p:cNvGrpSpPr>
              <a:grpSpLocks/>
            </p:cNvGrpSpPr>
            <p:nvPr/>
          </p:nvGrpSpPr>
          <p:grpSpPr bwMode="auto">
            <a:xfrm>
              <a:off x="528" y="2640"/>
              <a:ext cx="960" cy="768"/>
              <a:chOff x="2544" y="1440"/>
              <a:chExt cx="960" cy="768"/>
            </a:xfrm>
          </p:grpSpPr>
          <p:sp>
            <p:nvSpPr>
              <p:cNvPr id="496676" name="Oval 36"/>
              <p:cNvSpPr>
                <a:spLocks noChangeArrowheads="1"/>
              </p:cNvSpPr>
              <p:nvPr/>
            </p:nvSpPr>
            <p:spPr bwMode="auto">
              <a:xfrm>
                <a:off x="2784" y="1440"/>
                <a:ext cx="33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496677" name="Oval 37"/>
              <p:cNvSpPr>
                <a:spLocks noChangeArrowheads="1"/>
              </p:cNvSpPr>
              <p:nvPr/>
            </p:nvSpPr>
            <p:spPr bwMode="auto">
              <a:xfrm>
                <a:off x="2544" y="1920"/>
                <a:ext cx="33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496678" name="Oval 38"/>
              <p:cNvSpPr>
                <a:spLocks noChangeArrowheads="1"/>
              </p:cNvSpPr>
              <p:nvPr/>
            </p:nvSpPr>
            <p:spPr bwMode="auto">
              <a:xfrm>
                <a:off x="3168" y="1920"/>
                <a:ext cx="336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>
                    <a:latin typeface="Times New Roman" pitchFamily="18" charset="0"/>
                  </a:rPr>
                  <a:t>4</a:t>
                </a:r>
              </a:p>
            </p:txBody>
          </p:sp>
          <p:sp>
            <p:nvSpPr>
              <p:cNvPr id="496679" name="Line 39"/>
              <p:cNvSpPr>
                <a:spLocks noChangeShapeType="1"/>
              </p:cNvSpPr>
              <p:nvPr/>
            </p:nvSpPr>
            <p:spPr bwMode="auto">
              <a:xfrm flipH="1">
                <a:off x="2640" y="1632"/>
                <a:ext cx="144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96680" name="Line 40"/>
              <p:cNvSpPr>
                <a:spLocks noChangeShapeType="1"/>
              </p:cNvSpPr>
              <p:nvPr/>
            </p:nvSpPr>
            <p:spPr bwMode="auto">
              <a:xfrm>
                <a:off x="3120" y="1584"/>
                <a:ext cx="192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496681" name="Oval 41"/>
            <p:cNvSpPr>
              <a:spLocks noChangeArrowheads="1"/>
            </p:cNvSpPr>
            <p:nvPr/>
          </p:nvSpPr>
          <p:spPr bwMode="auto">
            <a:xfrm>
              <a:off x="912" y="3600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96682" name="Oval 42"/>
            <p:cNvSpPr>
              <a:spLocks noChangeArrowheads="1"/>
            </p:cNvSpPr>
            <p:nvPr/>
          </p:nvSpPr>
          <p:spPr bwMode="auto">
            <a:xfrm>
              <a:off x="1488" y="3600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496683" name="Line 43"/>
            <p:cNvSpPr>
              <a:spLocks noChangeShapeType="1"/>
            </p:cNvSpPr>
            <p:nvPr/>
          </p:nvSpPr>
          <p:spPr bwMode="auto">
            <a:xfrm flipH="1">
              <a:off x="1056" y="331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6684" name="Line 44"/>
            <p:cNvSpPr>
              <a:spLocks noChangeShapeType="1"/>
            </p:cNvSpPr>
            <p:nvPr/>
          </p:nvSpPr>
          <p:spPr bwMode="auto">
            <a:xfrm>
              <a:off x="1440" y="331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0" name="Group 45"/>
          <p:cNvGrpSpPr>
            <a:grpSpLocks/>
          </p:cNvGrpSpPr>
          <p:nvPr/>
        </p:nvGrpSpPr>
        <p:grpSpPr bwMode="auto">
          <a:xfrm>
            <a:off x="2362200" y="5715000"/>
            <a:ext cx="457200" cy="914400"/>
            <a:chOff x="1728" y="3744"/>
            <a:chExt cx="288" cy="576"/>
          </a:xfrm>
        </p:grpSpPr>
        <p:sp>
          <p:nvSpPr>
            <p:cNvPr id="496686" name="Oval 46"/>
            <p:cNvSpPr>
              <a:spLocks noChangeArrowheads="1"/>
            </p:cNvSpPr>
            <p:nvPr/>
          </p:nvSpPr>
          <p:spPr bwMode="auto">
            <a:xfrm>
              <a:off x="1776" y="4032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496687" name="Line 47"/>
            <p:cNvSpPr>
              <a:spLocks noChangeShapeType="1"/>
            </p:cNvSpPr>
            <p:nvPr/>
          </p:nvSpPr>
          <p:spPr bwMode="auto">
            <a:xfrm>
              <a:off x="1728" y="3744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1" name="Group 48"/>
          <p:cNvGrpSpPr>
            <a:grpSpLocks/>
          </p:cNvGrpSpPr>
          <p:nvPr/>
        </p:nvGrpSpPr>
        <p:grpSpPr bwMode="auto">
          <a:xfrm>
            <a:off x="2514600" y="5105400"/>
            <a:ext cx="1524000" cy="990600"/>
            <a:chOff x="1824" y="3360"/>
            <a:chExt cx="960" cy="624"/>
          </a:xfrm>
        </p:grpSpPr>
        <p:sp>
          <p:nvSpPr>
            <p:cNvPr id="496689" name="Text Box 49"/>
            <p:cNvSpPr txBox="1">
              <a:spLocks noChangeArrowheads="1"/>
            </p:cNvSpPr>
            <p:nvPr/>
          </p:nvSpPr>
          <p:spPr bwMode="auto">
            <a:xfrm>
              <a:off x="1824" y="3360"/>
              <a:ext cx="9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Insert 6</a:t>
              </a:r>
            </a:p>
          </p:txBody>
        </p:sp>
        <p:sp>
          <p:nvSpPr>
            <p:cNvPr id="496690" name="Line 50"/>
            <p:cNvSpPr>
              <a:spLocks noChangeShapeType="1"/>
            </p:cNvSpPr>
            <p:nvPr/>
          </p:nvSpPr>
          <p:spPr bwMode="auto">
            <a:xfrm flipH="1">
              <a:off x="2016" y="3648"/>
              <a:ext cx="96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1676400" y="3962400"/>
            <a:ext cx="1143000" cy="457200"/>
            <a:chOff x="1632" y="1584"/>
            <a:chExt cx="720" cy="288"/>
          </a:xfrm>
        </p:grpSpPr>
        <p:sp>
          <p:nvSpPr>
            <p:cNvPr id="496692" name="Line 52"/>
            <p:cNvSpPr>
              <a:spLocks noChangeShapeType="1"/>
            </p:cNvSpPr>
            <p:nvPr/>
          </p:nvSpPr>
          <p:spPr bwMode="auto">
            <a:xfrm>
              <a:off x="1632" y="1872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6693" name="Text Box 53"/>
            <p:cNvSpPr txBox="1">
              <a:spLocks noChangeArrowheads="1"/>
            </p:cNvSpPr>
            <p:nvPr/>
          </p:nvSpPr>
          <p:spPr bwMode="auto">
            <a:xfrm>
              <a:off x="1632" y="1584"/>
              <a:ext cx="72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Rotate</a:t>
              </a:r>
            </a:p>
          </p:txBody>
        </p:sp>
      </p:grpSp>
      <p:grpSp>
        <p:nvGrpSpPr>
          <p:cNvPr id="13" name="Group 54"/>
          <p:cNvGrpSpPr>
            <a:grpSpLocks/>
          </p:cNvGrpSpPr>
          <p:nvPr/>
        </p:nvGrpSpPr>
        <p:grpSpPr bwMode="auto">
          <a:xfrm>
            <a:off x="3581400" y="3962400"/>
            <a:ext cx="2133600" cy="1905000"/>
            <a:chOff x="2496" y="2640"/>
            <a:chExt cx="1344" cy="1200"/>
          </a:xfrm>
        </p:grpSpPr>
        <p:sp>
          <p:nvSpPr>
            <p:cNvPr id="496695" name="Oval 55"/>
            <p:cNvSpPr>
              <a:spLocks noChangeArrowheads="1"/>
            </p:cNvSpPr>
            <p:nvPr/>
          </p:nvSpPr>
          <p:spPr bwMode="auto">
            <a:xfrm>
              <a:off x="2976" y="3504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96696" name="Oval 56"/>
            <p:cNvSpPr>
              <a:spLocks noChangeArrowheads="1"/>
            </p:cNvSpPr>
            <p:nvPr/>
          </p:nvSpPr>
          <p:spPr bwMode="auto">
            <a:xfrm>
              <a:off x="2976" y="2640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496697" name="Line 57"/>
            <p:cNvSpPr>
              <a:spLocks noChangeShapeType="1"/>
            </p:cNvSpPr>
            <p:nvPr/>
          </p:nvSpPr>
          <p:spPr bwMode="auto">
            <a:xfrm flipH="1">
              <a:off x="2592" y="3264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6698" name="Line 58"/>
            <p:cNvSpPr>
              <a:spLocks noChangeShapeType="1"/>
            </p:cNvSpPr>
            <p:nvPr/>
          </p:nvSpPr>
          <p:spPr bwMode="auto">
            <a:xfrm>
              <a:off x="2976" y="3312"/>
              <a:ext cx="109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6699" name="Oval 59"/>
            <p:cNvSpPr>
              <a:spLocks noChangeArrowheads="1"/>
            </p:cNvSpPr>
            <p:nvPr/>
          </p:nvSpPr>
          <p:spPr bwMode="auto">
            <a:xfrm>
              <a:off x="2736" y="3120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96700" name="Oval 60"/>
            <p:cNvSpPr>
              <a:spLocks noChangeArrowheads="1"/>
            </p:cNvSpPr>
            <p:nvPr/>
          </p:nvSpPr>
          <p:spPr bwMode="auto">
            <a:xfrm>
              <a:off x="3312" y="3120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496701" name="Oval 61"/>
            <p:cNvSpPr>
              <a:spLocks noChangeArrowheads="1"/>
            </p:cNvSpPr>
            <p:nvPr/>
          </p:nvSpPr>
          <p:spPr bwMode="auto">
            <a:xfrm>
              <a:off x="3600" y="3552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496702" name="Line 62"/>
            <p:cNvSpPr>
              <a:spLocks noChangeShapeType="1"/>
            </p:cNvSpPr>
            <p:nvPr/>
          </p:nvSpPr>
          <p:spPr bwMode="auto">
            <a:xfrm flipH="1">
              <a:off x="2880" y="283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6703" name="Line 63"/>
            <p:cNvSpPr>
              <a:spLocks noChangeShapeType="1"/>
            </p:cNvSpPr>
            <p:nvPr/>
          </p:nvSpPr>
          <p:spPr bwMode="auto">
            <a:xfrm>
              <a:off x="3264" y="283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6704" name="Line 64"/>
            <p:cNvSpPr>
              <a:spLocks noChangeShapeType="1"/>
            </p:cNvSpPr>
            <p:nvPr/>
          </p:nvSpPr>
          <p:spPr bwMode="auto">
            <a:xfrm>
              <a:off x="3552" y="3264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6705" name="Oval 65"/>
            <p:cNvSpPr>
              <a:spLocks noChangeArrowheads="1"/>
            </p:cNvSpPr>
            <p:nvPr/>
          </p:nvSpPr>
          <p:spPr bwMode="auto">
            <a:xfrm>
              <a:off x="2496" y="3552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1</a:t>
              </a:r>
            </a:p>
          </p:txBody>
        </p:sp>
      </p:grpSp>
      <p:grpSp>
        <p:nvGrpSpPr>
          <p:cNvPr id="14" name="Group 66"/>
          <p:cNvGrpSpPr>
            <a:grpSpLocks/>
          </p:cNvGrpSpPr>
          <p:nvPr/>
        </p:nvGrpSpPr>
        <p:grpSpPr bwMode="auto">
          <a:xfrm>
            <a:off x="5715000" y="5715000"/>
            <a:ext cx="457200" cy="914400"/>
            <a:chOff x="3840" y="3744"/>
            <a:chExt cx="288" cy="576"/>
          </a:xfrm>
        </p:grpSpPr>
        <p:sp>
          <p:nvSpPr>
            <p:cNvPr id="496707" name="Oval 67"/>
            <p:cNvSpPr>
              <a:spLocks noChangeArrowheads="1"/>
            </p:cNvSpPr>
            <p:nvPr/>
          </p:nvSpPr>
          <p:spPr bwMode="auto">
            <a:xfrm>
              <a:off x="3888" y="4032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496708" name="Line 68"/>
            <p:cNvSpPr>
              <a:spLocks noChangeShapeType="1"/>
            </p:cNvSpPr>
            <p:nvPr/>
          </p:nvSpPr>
          <p:spPr bwMode="auto">
            <a:xfrm>
              <a:off x="3840" y="3744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496709" name="Text Box 69"/>
          <p:cNvSpPr txBox="1">
            <a:spLocks noChangeArrowheads="1"/>
          </p:cNvSpPr>
          <p:nvPr/>
        </p:nvSpPr>
        <p:spPr bwMode="auto">
          <a:xfrm>
            <a:off x="4495800" y="6172200"/>
            <a:ext cx="121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Insert 7</a:t>
            </a:r>
          </a:p>
        </p:txBody>
      </p:sp>
      <p:grpSp>
        <p:nvGrpSpPr>
          <p:cNvPr id="15" name="Group 70"/>
          <p:cNvGrpSpPr>
            <a:grpSpLocks/>
          </p:cNvGrpSpPr>
          <p:nvPr/>
        </p:nvGrpSpPr>
        <p:grpSpPr bwMode="auto">
          <a:xfrm>
            <a:off x="5410200" y="4495800"/>
            <a:ext cx="1143000" cy="457200"/>
            <a:chOff x="1632" y="1584"/>
            <a:chExt cx="720" cy="288"/>
          </a:xfrm>
        </p:grpSpPr>
        <p:sp>
          <p:nvSpPr>
            <p:cNvPr id="496711" name="Line 71"/>
            <p:cNvSpPr>
              <a:spLocks noChangeShapeType="1"/>
            </p:cNvSpPr>
            <p:nvPr/>
          </p:nvSpPr>
          <p:spPr bwMode="auto">
            <a:xfrm>
              <a:off x="1632" y="1872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6712" name="Text Box 72"/>
            <p:cNvSpPr txBox="1">
              <a:spLocks noChangeArrowheads="1"/>
            </p:cNvSpPr>
            <p:nvPr/>
          </p:nvSpPr>
          <p:spPr bwMode="auto">
            <a:xfrm>
              <a:off x="1632" y="1584"/>
              <a:ext cx="72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Rotate</a:t>
              </a:r>
            </a:p>
          </p:txBody>
        </p:sp>
      </p:grpSp>
      <p:grpSp>
        <p:nvGrpSpPr>
          <p:cNvPr id="16" name="Group 73"/>
          <p:cNvGrpSpPr>
            <a:grpSpLocks/>
          </p:cNvGrpSpPr>
          <p:nvPr/>
        </p:nvGrpSpPr>
        <p:grpSpPr bwMode="auto">
          <a:xfrm>
            <a:off x="6324600" y="3810000"/>
            <a:ext cx="2438400" cy="2438400"/>
            <a:chOff x="4224" y="2544"/>
            <a:chExt cx="1536" cy="1536"/>
          </a:xfrm>
        </p:grpSpPr>
        <p:sp>
          <p:nvSpPr>
            <p:cNvPr id="496714" name="Oval 74"/>
            <p:cNvSpPr>
              <a:spLocks noChangeArrowheads="1"/>
            </p:cNvSpPr>
            <p:nvPr/>
          </p:nvSpPr>
          <p:spPr bwMode="auto">
            <a:xfrm>
              <a:off x="4704" y="3408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96715" name="Oval 75"/>
            <p:cNvSpPr>
              <a:spLocks noChangeArrowheads="1"/>
            </p:cNvSpPr>
            <p:nvPr/>
          </p:nvSpPr>
          <p:spPr bwMode="auto">
            <a:xfrm>
              <a:off x="4704" y="2544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496716" name="Line 76"/>
            <p:cNvSpPr>
              <a:spLocks noChangeShapeType="1"/>
            </p:cNvSpPr>
            <p:nvPr/>
          </p:nvSpPr>
          <p:spPr bwMode="auto">
            <a:xfrm flipH="1">
              <a:off x="4320" y="3168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6717" name="Line 77"/>
            <p:cNvSpPr>
              <a:spLocks noChangeShapeType="1"/>
            </p:cNvSpPr>
            <p:nvPr/>
          </p:nvSpPr>
          <p:spPr bwMode="auto">
            <a:xfrm>
              <a:off x="4704" y="3216"/>
              <a:ext cx="109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6718" name="Oval 78"/>
            <p:cNvSpPr>
              <a:spLocks noChangeArrowheads="1"/>
            </p:cNvSpPr>
            <p:nvPr/>
          </p:nvSpPr>
          <p:spPr bwMode="auto">
            <a:xfrm>
              <a:off x="4464" y="3024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96719" name="Oval 79"/>
            <p:cNvSpPr>
              <a:spLocks noChangeArrowheads="1"/>
            </p:cNvSpPr>
            <p:nvPr/>
          </p:nvSpPr>
          <p:spPr bwMode="auto">
            <a:xfrm>
              <a:off x="4992" y="3696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496720" name="Oval 80"/>
            <p:cNvSpPr>
              <a:spLocks noChangeArrowheads="1"/>
            </p:cNvSpPr>
            <p:nvPr/>
          </p:nvSpPr>
          <p:spPr bwMode="auto">
            <a:xfrm>
              <a:off x="5232" y="3312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496721" name="Line 81"/>
            <p:cNvSpPr>
              <a:spLocks noChangeShapeType="1"/>
            </p:cNvSpPr>
            <p:nvPr/>
          </p:nvSpPr>
          <p:spPr bwMode="auto">
            <a:xfrm flipH="1">
              <a:off x="4608" y="2736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6722" name="Line 82"/>
            <p:cNvSpPr>
              <a:spLocks noChangeShapeType="1"/>
            </p:cNvSpPr>
            <p:nvPr/>
          </p:nvSpPr>
          <p:spPr bwMode="auto">
            <a:xfrm>
              <a:off x="4992" y="2736"/>
              <a:ext cx="28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6723" name="Oval 83"/>
            <p:cNvSpPr>
              <a:spLocks noChangeArrowheads="1"/>
            </p:cNvSpPr>
            <p:nvPr/>
          </p:nvSpPr>
          <p:spPr bwMode="auto">
            <a:xfrm>
              <a:off x="4224" y="3456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496724" name="Line 84"/>
            <p:cNvSpPr>
              <a:spLocks noChangeShapeType="1"/>
            </p:cNvSpPr>
            <p:nvPr/>
          </p:nvSpPr>
          <p:spPr bwMode="auto">
            <a:xfrm flipH="1">
              <a:off x="5136" y="3504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6725" name="Oval 85"/>
            <p:cNvSpPr>
              <a:spLocks noChangeArrowheads="1"/>
            </p:cNvSpPr>
            <p:nvPr/>
          </p:nvSpPr>
          <p:spPr bwMode="auto">
            <a:xfrm>
              <a:off x="5520" y="3792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496726" name="Line 86"/>
            <p:cNvSpPr>
              <a:spLocks noChangeShapeType="1"/>
            </p:cNvSpPr>
            <p:nvPr/>
          </p:nvSpPr>
          <p:spPr bwMode="auto">
            <a:xfrm>
              <a:off x="5472" y="3552"/>
              <a:ext cx="12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96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96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9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496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643" grpId="0" build="p" autoUpdateAnimBg="0"/>
      <p:bldP spid="496659" grpId="0" autoUpdateAnimBg="0"/>
      <p:bldP spid="496709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6096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US"/>
              <a:t>Example</a:t>
            </a:r>
          </a:p>
        </p:txBody>
      </p:sp>
      <p:sp>
        <p:nvSpPr>
          <p:cNvPr id="497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830388"/>
            <a:ext cx="7772400" cy="4141787"/>
          </a:xfrm>
        </p:spPr>
        <p:txBody>
          <a:bodyPr/>
          <a:lstStyle/>
          <a:p>
            <a:pPr>
              <a:buFontTx/>
              <a:buNone/>
            </a:pPr>
            <a:r>
              <a:rPr lang="en-US" sz="2400" b="1">
                <a:latin typeface="Times New Roman" pitchFamily="18" charset="0"/>
              </a:rPr>
              <a:t>Insertion/ Rotation</a:t>
            </a:r>
          </a:p>
          <a:p>
            <a:pPr>
              <a:buFontTx/>
              <a:buNone/>
            </a:pPr>
            <a:r>
              <a:rPr lang="en-US" sz="2400">
                <a:latin typeface="Times New Roman" pitchFamily="18" charset="0"/>
              </a:rPr>
              <a:t>Example:	Insert 3 in the following tree and make it AVL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752600" y="2971800"/>
            <a:ext cx="1752600" cy="1905000"/>
            <a:chOff x="864" y="1680"/>
            <a:chExt cx="1104" cy="1200"/>
          </a:xfrm>
        </p:grpSpPr>
        <p:sp>
          <p:nvSpPr>
            <p:cNvPr id="497669" name="Oval 5"/>
            <p:cNvSpPr>
              <a:spLocks noChangeArrowheads="1"/>
            </p:cNvSpPr>
            <p:nvPr/>
          </p:nvSpPr>
          <p:spPr bwMode="auto">
            <a:xfrm>
              <a:off x="1344" y="2544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497670" name="Oval 6"/>
            <p:cNvSpPr>
              <a:spLocks noChangeArrowheads="1"/>
            </p:cNvSpPr>
            <p:nvPr/>
          </p:nvSpPr>
          <p:spPr bwMode="auto">
            <a:xfrm>
              <a:off x="1344" y="1680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497671" name="Line 7"/>
            <p:cNvSpPr>
              <a:spLocks noChangeShapeType="1"/>
            </p:cNvSpPr>
            <p:nvPr/>
          </p:nvSpPr>
          <p:spPr bwMode="auto">
            <a:xfrm flipH="1">
              <a:off x="960" y="2304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7672" name="Line 8"/>
            <p:cNvSpPr>
              <a:spLocks noChangeShapeType="1"/>
            </p:cNvSpPr>
            <p:nvPr/>
          </p:nvSpPr>
          <p:spPr bwMode="auto">
            <a:xfrm>
              <a:off x="1344" y="2352"/>
              <a:ext cx="109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7673" name="Oval 9"/>
            <p:cNvSpPr>
              <a:spLocks noChangeArrowheads="1"/>
            </p:cNvSpPr>
            <p:nvPr/>
          </p:nvSpPr>
          <p:spPr bwMode="auto">
            <a:xfrm>
              <a:off x="1104" y="2160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97674" name="Oval 10"/>
            <p:cNvSpPr>
              <a:spLocks noChangeArrowheads="1"/>
            </p:cNvSpPr>
            <p:nvPr/>
          </p:nvSpPr>
          <p:spPr bwMode="auto">
            <a:xfrm>
              <a:off x="1728" y="2160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497675" name="Line 11"/>
            <p:cNvSpPr>
              <a:spLocks noChangeShapeType="1"/>
            </p:cNvSpPr>
            <p:nvPr/>
          </p:nvSpPr>
          <p:spPr bwMode="auto">
            <a:xfrm flipH="1">
              <a:off x="1248" y="1872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7676" name="Line 12"/>
            <p:cNvSpPr>
              <a:spLocks noChangeShapeType="1"/>
            </p:cNvSpPr>
            <p:nvPr/>
          </p:nvSpPr>
          <p:spPr bwMode="auto">
            <a:xfrm>
              <a:off x="1632" y="1872"/>
              <a:ext cx="16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7677" name="Oval 13"/>
            <p:cNvSpPr>
              <a:spLocks noChangeArrowheads="1"/>
            </p:cNvSpPr>
            <p:nvPr/>
          </p:nvSpPr>
          <p:spPr bwMode="auto">
            <a:xfrm>
              <a:off x="864" y="2592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97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97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67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US"/>
              <a:t>Example</a:t>
            </a:r>
          </a:p>
        </p:txBody>
      </p:sp>
      <p:sp>
        <p:nvSpPr>
          <p:cNvPr id="498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990600"/>
            <a:ext cx="77724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sz="2400" b="1">
                <a:latin typeface="Times New Roman" pitchFamily="18" charset="0"/>
              </a:rPr>
              <a:t>Insertion/ Rotation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>
                <a:latin typeface="Times New Roman" pitchFamily="18" charset="0"/>
              </a:rPr>
              <a:t>Example:	Insert keys 8 through 15 in reverse order in the 		following tree and make it an AVL	</a:t>
            </a:r>
          </a:p>
          <a:p>
            <a:pPr>
              <a:buFontTx/>
              <a:buNone/>
            </a:pPr>
            <a:endParaRPr lang="en-US" sz="2400" b="1">
              <a:latin typeface="Times New Roman" pitchFamily="18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38200" y="1905000"/>
            <a:ext cx="2438400" cy="2438400"/>
            <a:chOff x="576" y="1488"/>
            <a:chExt cx="1536" cy="1536"/>
          </a:xfrm>
        </p:grpSpPr>
        <p:sp>
          <p:nvSpPr>
            <p:cNvPr id="498693" name="Oval 5"/>
            <p:cNvSpPr>
              <a:spLocks noChangeArrowheads="1"/>
            </p:cNvSpPr>
            <p:nvPr/>
          </p:nvSpPr>
          <p:spPr bwMode="auto">
            <a:xfrm>
              <a:off x="1056" y="2352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98694" name="Oval 6"/>
            <p:cNvSpPr>
              <a:spLocks noChangeArrowheads="1"/>
            </p:cNvSpPr>
            <p:nvPr/>
          </p:nvSpPr>
          <p:spPr bwMode="auto">
            <a:xfrm>
              <a:off x="1056" y="1488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498695" name="Line 7"/>
            <p:cNvSpPr>
              <a:spLocks noChangeShapeType="1"/>
            </p:cNvSpPr>
            <p:nvPr/>
          </p:nvSpPr>
          <p:spPr bwMode="auto">
            <a:xfrm flipH="1">
              <a:off x="672" y="211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8696" name="Line 8"/>
            <p:cNvSpPr>
              <a:spLocks noChangeShapeType="1"/>
            </p:cNvSpPr>
            <p:nvPr/>
          </p:nvSpPr>
          <p:spPr bwMode="auto">
            <a:xfrm>
              <a:off x="1056" y="2160"/>
              <a:ext cx="109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8697" name="Oval 9"/>
            <p:cNvSpPr>
              <a:spLocks noChangeArrowheads="1"/>
            </p:cNvSpPr>
            <p:nvPr/>
          </p:nvSpPr>
          <p:spPr bwMode="auto">
            <a:xfrm>
              <a:off x="816" y="1968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98698" name="Oval 10"/>
            <p:cNvSpPr>
              <a:spLocks noChangeArrowheads="1"/>
            </p:cNvSpPr>
            <p:nvPr/>
          </p:nvSpPr>
          <p:spPr bwMode="auto">
            <a:xfrm>
              <a:off x="1344" y="2640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498699" name="Oval 11"/>
            <p:cNvSpPr>
              <a:spLocks noChangeArrowheads="1"/>
            </p:cNvSpPr>
            <p:nvPr/>
          </p:nvSpPr>
          <p:spPr bwMode="auto">
            <a:xfrm>
              <a:off x="1584" y="2256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498700" name="Line 12"/>
            <p:cNvSpPr>
              <a:spLocks noChangeShapeType="1"/>
            </p:cNvSpPr>
            <p:nvPr/>
          </p:nvSpPr>
          <p:spPr bwMode="auto">
            <a:xfrm flipH="1">
              <a:off x="960" y="1680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8701" name="Line 13"/>
            <p:cNvSpPr>
              <a:spLocks noChangeShapeType="1"/>
            </p:cNvSpPr>
            <p:nvPr/>
          </p:nvSpPr>
          <p:spPr bwMode="auto">
            <a:xfrm>
              <a:off x="1344" y="1680"/>
              <a:ext cx="28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8702" name="Oval 14"/>
            <p:cNvSpPr>
              <a:spLocks noChangeArrowheads="1"/>
            </p:cNvSpPr>
            <p:nvPr/>
          </p:nvSpPr>
          <p:spPr bwMode="auto">
            <a:xfrm>
              <a:off x="576" y="2400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498703" name="Line 15"/>
            <p:cNvSpPr>
              <a:spLocks noChangeShapeType="1"/>
            </p:cNvSpPr>
            <p:nvPr/>
          </p:nvSpPr>
          <p:spPr bwMode="auto">
            <a:xfrm flipH="1">
              <a:off x="1488" y="2448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8704" name="Oval 16"/>
            <p:cNvSpPr>
              <a:spLocks noChangeArrowheads="1"/>
            </p:cNvSpPr>
            <p:nvPr/>
          </p:nvSpPr>
          <p:spPr bwMode="auto">
            <a:xfrm>
              <a:off x="1872" y="2736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498705" name="Line 17"/>
            <p:cNvSpPr>
              <a:spLocks noChangeShapeType="1"/>
            </p:cNvSpPr>
            <p:nvPr/>
          </p:nvSpPr>
          <p:spPr bwMode="auto">
            <a:xfrm>
              <a:off x="1824" y="2496"/>
              <a:ext cx="12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3200400" y="4114800"/>
            <a:ext cx="2209800" cy="1004888"/>
            <a:chOff x="2064" y="2880"/>
            <a:chExt cx="1392" cy="633"/>
          </a:xfrm>
        </p:grpSpPr>
        <p:sp>
          <p:nvSpPr>
            <p:cNvPr id="498707" name="Text Box 19"/>
            <p:cNvSpPr txBox="1">
              <a:spLocks noChangeArrowheads="1"/>
            </p:cNvSpPr>
            <p:nvPr/>
          </p:nvSpPr>
          <p:spPr bwMode="auto">
            <a:xfrm>
              <a:off x="2352" y="2880"/>
              <a:ext cx="1104" cy="6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Insert 15 </a:t>
              </a:r>
            </a:p>
            <a:p>
              <a:pPr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No Problem</a:t>
              </a:r>
            </a:p>
          </p:txBody>
        </p:sp>
        <p:sp>
          <p:nvSpPr>
            <p:cNvPr id="498708" name="Oval 20"/>
            <p:cNvSpPr>
              <a:spLocks noChangeArrowheads="1"/>
            </p:cNvSpPr>
            <p:nvPr/>
          </p:nvSpPr>
          <p:spPr bwMode="auto">
            <a:xfrm>
              <a:off x="2112" y="3216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15</a:t>
              </a:r>
            </a:p>
          </p:txBody>
        </p:sp>
        <p:sp>
          <p:nvSpPr>
            <p:cNvPr id="498709" name="Line 21"/>
            <p:cNvSpPr>
              <a:spLocks noChangeShapeType="1"/>
            </p:cNvSpPr>
            <p:nvPr/>
          </p:nvSpPr>
          <p:spPr bwMode="auto">
            <a:xfrm>
              <a:off x="2064" y="2976"/>
              <a:ext cx="12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1447800" y="5029200"/>
            <a:ext cx="1828800" cy="990600"/>
            <a:chOff x="960" y="3456"/>
            <a:chExt cx="1152" cy="624"/>
          </a:xfrm>
        </p:grpSpPr>
        <p:sp>
          <p:nvSpPr>
            <p:cNvPr id="498711" name="Line 23"/>
            <p:cNvSpPr>
              <a:spLocks noChangeShapeType="1"/>
            </p:cNvSpPr>
            <p:nvPr/>
          </p:nvSpPr>
          <p:spPr bwMode="auto">
            <a:xfrm flipH="1">
              <a:off x="2016" y="3456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8712" name="Oval 24"/>
            <p:cNvSpPr>
              <a:spLocks noChangeArrowheads="1"/>
            </p:cNvSpPr>
            <p:nvPr/>
          </p:nvSpPr>
          <p:spPr bwMode="auto">
            <a:xfrm>
              <a:off x="1872" y="3792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14</a:t>
              </a:r>
            </a:p>
          </p:txBody>
        </p:sp>
        <p:sp>
          <p:nvSpPr>
            <p:cNvPr id="498713" name="Text Box 25"/>
            <p:cNvSpPr txBox="1">
              <a:spLocks noChangeArrowheads="1"/>
            </p:cNvSpPr>
            <p:nvPr/>
          </p:nvSpPr>
          <p:spPr bwMode="auto">
            <a:xfrm>
              <a:off x="960" y="3744"/>
              <a:ext cx="8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Insert 14</a:t>
              </a:r>
            </a:p>
          </p:txBody>
        </p:sp>
      </p:grp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3429000" y="3505200"/>
            <a:ext cx="1143000" cy="457200"/>
            <a:chOff x="1632" y="1584"/>
            <a:chExt cx="720" cy="288"/>
          </a:xfrm>
        </p:grpSpPr>
        <p:sp>
          <p:nvSpPr>
            <p:cNvPr id="498715" name="Line 27"/>
            <p:cNvSpPr>
              <a:spLocks noChangeShapeType="1"/>
            </p:cNvSpPr>
            <p:nvPr/>
          </p:nvSpPr>
          <p:spPr bwMode="auto">
            <a:xfrm>
              <a:off x="1632" y="1872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8716" name="Text Box 28"/>
            <p:cNvSpPr txBox="1">
              <a:spLocks noChangeArrowheads="1"/>
            </p:cNvSpPr>
            <p:nvPr/>
          </p:nvSpPr>
          <p:spPr bwMode="auto">
            <a:xfrm>
              <a:off x="1632" y="1584"/>
              <a:ext cx="72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Rotate</a:t>
              </a:r>
            </a:p>
          </p:txBody>
        </p:sp>
      </p:grp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5867400" y="2133600"/>
            <a:ext cx="2514600" cy="3886200"/>
            <a:chOff x="3792" y="1584"/>
            <a:chExt cx="1584" cy="2448"/>
          </a:xfrm>
        </p:grpSpPr>
        <p:sp>
          <p:nvSpPr>
            <p:cNvPr id="498718" name="Oval 30"/>
            <p:cNvSpPr>
              <a:spLocks noChangeArrowheads="1"/>
            </p:cNvSpPr>
            <p:nvPr/>
          </p:nvSpPr>
          <p:spPr bwMode="auto">
            <a:xfrm>
              <a:off x="4272" y="2448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98719" name="Oval 31"/>
            <p:cNvSpPr>
              <a:spLocks noChangeArrowheads="1"/>
            </p:cNvSpPr>
            <p:nvPr/>
          </p:nvSpPr>
          <p:spPr bwMode="auto">
            <a:xfrm>
              <a:off x="4272" y="1584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498720" name="Line 32"/>
            <p:cNvSpPr>
              <a:spLocks noChangeShapeType="1"/>
            </p:cNvSpPr>
            <p:nvPr/>
          </p:nvSpPr>
          <p:spPr bwMode="auto">
            <a:xfrm flipH="1">
              <a:off x="3888" y="2208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8721" name="Line 33"/>
            <p:cNvSpPr>
              <a:spLocks noChangeShapeType="1"/>
            </p:cNvSpPr>
            <p:nvPr/>
          </p:nvSpPr>
          <p:spPr bwMode="auto">
            <a:xfrm>
              <a:off x="4272" y="2256"/>
              <a:ext cx="109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8722" name="Oval 34"/>
            <p:cNvSpPr>
              <a:spLocks noChangeArrowheads="1"/>
            </p:cNvSpPr>
            <p:nvPr/>
          </p:nvSpPr>
          <p:spPr bwMode="auto">
            <a:xfrm>
              <a:off x="4032" y="2064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98723" name="Oval 35"/>
            <p:cNvSpPr>
              <a:spLocks noChangeArrowheads="1"/>
            </p:cNvSpPr>
            <p:nvPr/>
          </p:nvSpPr>
          <p:spPr bwMode="auto">
            <a:xfrm>
              <a:off x="4560" y="2736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498724" name="Oval 36"/>
            <p:cNvSpPr>
              <a:spLocks noChangeArrowheads="1"/>
            </p:cNvSpPr>
            <p:nvPr/>
          </p:nvSpPr>
          <p:spPr bwMode="auto">
            <a:xfrm>
              <a:off x="4800" y="2352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498725" name="Line 37"/>
            <p:cNvSpPr>
              <a:spLocks noChangeShapeType="1"/>
            </p:cNvSpPr>
            <p:nvPr/>
          </p:nvSpPr>
          <p:spPr bwMode="auto">
            <a:xfrm flipH="1">
              <a:off x="4176" y="1776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8726" name="Line 38"/>
            <p:cNvSpPr>
              <a:spLocks noChangeShapeType="1"/>
            </p:cNvSpPr>
            <p:nvPr/>
          </p:nvSpPr>
          <p:spPr bwMode="auto">
            <a:xfrm>
              <a:off x="4560" y="1776"/>
              <a:ext cx="28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8727" name="Oval 39"/>
            <p:cNvSpPr>
              <a:spLocks noChangeArrowheads="1"/>
            </p:cNvSpPr>
            <p:nvPr/>
          </p:nvSpPr>
          <p:spPr bwMode="auto">
            <a:xfrm>
              <a:off x="3792" y="2496"/>
              <a:ext cx="336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498728" name="Line 40"/>
            <p:cNvSpPr>
              <a:spLocks noChangeShapeType="1"/>
            </p:cNvSpPr>
            <p:nvPr/>
          </p:nvSpPr>
          <p:spPr bwMode="auto">
            <a:xfrm flipH="1">
              <a:off x="4704" y="2544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8729" name="Oval 41"/>
            <p:cNvSpPr>
              <a:spLocks noChangeArrowheads="1"/>
            </p:cNvSpPr>
            <p:nvPr/>
          </p:nvSpPr>
          <p:spPr bwMode="auto">
            <a:xfrm>
              <a:off x="5088" y="2832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15</a:t>
              </a:r>
            </a:p>
          </p:txBody>
        </p:sp>
        <p:sp>
          <p:nvSpPr>
            <p:cNvPr id="498730" name="Line 42"/>
            <p:cNvSpPr>
              <a:spLocks noChangeShapeType="1"/>
            </p:cNvSpPr>
            <p:nvPr/>
          </p:nvSpPr>
          <p:spPr bwMode="auto">
            <a:xfrm>
              <a:off x="5040" y="2592"/>
              <a:ext cx="12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8731" name="Line 43"/>
            <p:cNvSpPr>
              <a:spLocks noChangeShapeType="1"/>
            </p:cNvSpPr>
            <p:nvPr/>
          </p:nvSpPr>
          <p:spPr bwMode="auto">
            <a:xfrm>
              <a:off x="5136" y="3504"/>
              <a:ext cx="9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98732" name="Oval 44"/>
            <p:cNvSpPr>
              <a:spLocks noChangeArrowheads="1"/>
            </p:cNvSpPr>
            <p:nvPr/>
          </p:nvSpPr>
          <p:spPr bwMode="auto">
            <a:xfrm>
              <a:off x="5136" y="3744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14</a:t>
              </a:r>
            </a:p>
          </p:txBody>
        </p:sp>
        <p:sp>
          <p:nvSpPr>
            <p:cNvPr id="498733" name="Oval 45"/>
            <p:cNvSpPr>
              <a:spLocks noChangeArrowheads="1"/>
            </p:cNvSpPr>
            <p:nvPr/>
          </p:nvSpPr>
          <p:spPr bwMode="auto">
            <a:xfrm>
              <a:off x="4896" y="3264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498734" name="Line 46"/>
            <p:cNvSpPr>
              <a:spLocks noChangeShapeType="1"/>
            </p:cNvSpPr>
            <p:nvPr/>
          </p:nvSpPr>
          <p:spPr bwMode="auto">
            <a:xfrm flipH="1">
              <a:off x="5040" y="3072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498735" name="Text Box 47"/>
          <p:cNvSpPr txBox="1">
            <a:spLocks noChangeArrowheads="1"/>
          </p:cNvSpPr>
          <p:nvPr/>
        </p:nvSpPr>
        <p:spPr bwMode="auto">
          <a:xfrm>
            <a:off x="2895600" y="6019800"/>
            <a:ext cx="624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The Rotation has not fixed the height imbalance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98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98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498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1" grpId="0" build="p" autoUpdateAnimBg="0"/>
      <p:bldP spid="49873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274638"/>
            <a:ext cx="7489825" cy="762000"/>
          </a:xfrm>
        </p:spPr>
        <p:txBody>
          <a:bodyPr/>
          <a:lstStyle/>
          <a:p>
            <a:r>
              <a:rPr lang="en-US"/>
              <a:t>AVL</a:t>
            </a:r>
          </a:p>
        </p:txBody>
      </p:sp>
      <p:sp>
        <p:nvSpPr>
          <p:cNvPr id="517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7772400" cy="4787900"/>
          </a:xfrm>
        </p:spPr>
        <p:txBody>
          <a:bodyPr>
            <a:normAutofit lnSpcReduction="10000"/>
          </a:bodyPr>
          <a:lstStyle/>
          <a:p>
            <a:r>
              <a:rPr lang="en-US" sz="2400"/>
              <a:t>AVL Trees</a:t>
            </a:r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pPr>
              <a:buFontTx/>
              <a:buNone/>
            </a:pPr>
            <a:r>
              <a:rPr lang="en-US" sz="2200">
                <a:solidFill>
                  <a:schemeClr val="bg2"/>
                </a:solidFill>
              </a:rPr>
              <a:t>	</a:t>
            </a:r>
            <a:r>
              <a:rPr lang="en-US" sz="2200"/>
              <a:t>Are these AVL trees?  If not, where is the imbalance?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143000" y="2209800"/>
            <a:ext cx="2590800" cy="2981325"/>
            <a:chOff x="672" y="1392"/>
            <a:chExt cx="1632" cy="1878"/>
          </a:xfrm>
        </p:grpSpPr>
        <p:sp>
          <p:nvSpPr>
            <p:cNvPr id="517125" name="Text Box 5"/>
            <p:cNvSpPr txBox="1">
              <a:spLocks noChangeArrowheads="1"/>
            </p:cNvSpPr>
            <p:nvPr/>
          </p:nvSpPr>
          <p:spPr bwMode="auto">
            <a:xfrm>
              <a:off x="1488" y="1392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sz="2400"/>
                <a:t>45</a:t>
              </a:r>
            </a:p>
          </p:txBody>
        </p:sp>
        <p:sp>
          <p:nvSpPr>
            <p:cNvPr id="517126" name="Text Box 6"/>
            <p:cNvSpPr txBox="1">
              <a:spLocks noChangeArrowheads="1"/>
            </p:cNvSpPr>
            <p:nvPr/>
          </p:nvSpPr>
          <p:spPr bwMode="auto">
            <a:xfrm>
              <a:off x="672" y="2400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sz="2400"/>
                <a:t>10</a:t>
              </a:r>
            </a:p>
          </p:txBody>
        </p:sp>
        <p:sp>
          <p:nvSpPr>
            <p:cNvPr id="517127" name="Text Box 7"/>
            <p:cNvSpPr txBox="1">
              <a:spLocks noChangeArrowheads="1"/>
            </p:cNvSpPr>
            <p:nvPr/>
          </p:nvSpPr>
          <p:spPr bwMode="auto">
            <a:xfrm>
              <a:off x="960" y="1872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sz="2400"/>
                <a:t>20</a:t>
              </a:r>
            </a:p>
          </p:txBody>
        </p:sp>
        <p:sp>
          <p:nvSpPr>
            <p:cNvPr id="517128" name="Text Box 8"/>
            <p:cNvSpPr txBox="1">
              <a:spLocks noChangeArrowheads="1"/>
            </p:cNvSpPr>
            <p:nvPr/>
          </p:nvSpPr>
          <p:spPr bwMode="auto">
            <a:xfrm>
              <a:off x="1968" y="1872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sz="2400"/>
                <a:t>70</a:t>
              </a:r>
            </a:p>
          </p:txBody>
        </p:sp>
        <p:sp>
          <p:nvSpPr>
            <p:cNvPr id="517129" name="Line 9"/>
            <p:cNvSpPr>
              <a:spLocks noChangeShapeType="1"/>
            </p:cNvSpPr>
            <p:nvPr/>
          </p:nvSpPr>
          <p:spPr bwMode="auto">
            <a:xfrm flipH="1">
              <a:off x="1152" y="1680"/>
              <a:ext cx="4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7130" name="Line 10"/>
            <p:cNvSpPr>
              <a:spLocks noChangeShapeType="1"/>
            </p:cNvSpPr>
            <p:nvPr/>
          </p:nvSpPr>
          <p:spPr bwMode="auto">
            <a:xfrm>
              <a:off x="1632" y="1680"/>
              <a:ext cx="52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7131" name="Line 11"/>
            <p:cNvSpPr>
              <a:spLocks noChangeShapeType="1"/>
            </p:cNvSpPr>
            <p:nvPr/>
          </p:nvSpPr>
          <p:spPr bwMode="auto">
            <a:xfrm flipH="1">
              <a:off x="816" y="2160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7132" name="Text Box 12"/>
            <p:cNvSpPr txBox="1">
              <a:spLocks noChangeArrowheads="1"/>
            </p:cNvSpPr>
            <p:nvPr/>
          </p:nvSpPr>
          <p:spPr bwMode="auto">
            <a:xfrm>
              <a:off x="1248" y="2400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sz="2400"/>
                <a:t>30</a:t>
              </a:r>
            </a:p>
          </p:txBody>
        </p:sp>
        <p:sp>
          <p:nvSpPr>
            <p:cNvPr id="517133" name="Text Box 13"/>
            <p:cNvSpPr txBox="1">
              <a:spLocks noChangeArrowheads="1"/>
            </p:cNvSpPr>
            <p:nvPr/>
          </p:nvSpPr>
          <p:spPr bwMode="auto">
            <a:xfrm>
              <a:off x="1584" y="2976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sz="2400"/>
                <a:t>50</a:t>
              </a:r>
            </a:p>
          </p:txBody>
        </p:sp>
        <p:sp>
          <p:nvSpPr>
            <p:cNvPr id="517134" name="Text Box 14"/>
            <p:cNvSpPr txBox="1">
              <a:spLocks noChangeArrowheads="1"/>
            </p:cNvSpPr>
            <p:nvPr/>
          </p:nvSpPr>
          <p:spPr bwMode="auto">
            <a:xfrm>
              <a:off x="1824" y="2400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sz="2400"/>
                <a:t>60</a:t>
              </a:r>
            </a:p>
          </p:txBody>
        </p:sp>
        <p:sp>
          <p:nvSpPr>
            <p:cNvPr id="517135" name="Line 15"/>
            <p:cNvSpPr>
              <a:spLocks noChangeShapeType="1"/>
            </p:cNvSpPr>
            <p:nvPr/>
          </p:nvSpPr>
          <p:spPr bwMode="auto">
            <a:xfrm flipH="1">
              <a:off x="1968" y="2160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7136" name="Line 16"/>
            <p:cNvSpPr>
              <a:spLocks noChangeShapeType="1"/>
            </p:cNvSpPr>
            <p:nvPr/>
          </p:nvSpPr>
          <p:spPr bwMode="auto">
            <a:xfrm flipH="1">
              <a:off x="1776" y="2688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7137" name="Line 17"/>
            <p:cNvSpPr>
              <a:spLocks noChangeShapeType="1"/>
            </p:cNvSpPr>
            <p:nvPr/>
          </p:nvSpPr>
          <p:spPr bwMode="auto">
            <a:xfrm>
              <a:off x="1104" y="2160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4876800" y="2209800"/>
            <a:ext cx="3124200" cy="2981325"/>
            <a:chOff x="3072" y="1392"/>
            <a:chExt cx="1968" cy="1878"/>
          </a:xfrm>
        </p:grpSpPr>
        <p:sp>
          <p:nvSpPr>
            <p:cNvPr id="517139" name="Text Box 19"/>
            <p:cNvSpPr txBox="1">
              <a:spLocks noChangeArrowheads="1"/>
            </p:cNvSpPr>
            <p:nvPr/>
          </p:nvSpPr>
          <p:spPr bwMode="auto">
            <a:xfrm>
              <a:off x="3888" y="1392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sz="2400"/>
                <a:t>10</a:t>
              </a:r>
            </a:p>
          </p:txBody>
        </p:sp>
        <p:sp>
          <p:nvSpPr>
            <p:cNvPr id="517140" name="Text Box 20"/>
            <p:cNvSpPr txBox="1">
              <a:spLocks noChangeArrowheads="1"/>
            </p:cNvSpPr>
            <p:nvPr/>
          </p:nvSpPr>
          <p:spPr bwMode="auto">
            <a:xfrm>
              <a:off x="3072" y="2400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sz="2400"/>
                <a:t>3</a:t>
              </a:r>
            </a:p>
          </p:txBody>
        </p:sp>
        <p:sp>
          <p:nvSpPr>
            <p:cNvPr id="517141" name="Text Box 21"/>
            <p:cNvSpPr txBox="1">
              <a:spLocks noChangeArrowheads="1"/>
            </p:cNvSpPr>
            <p:nvPr/>
          </p:nvSpPr>
          <p:spPr bwMode="auto">
            <a:xfrm>
              <a:off x="3360" y="1872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sz="2400"/>
                <a:t>7</a:t>
              </a:r>
            </a:p>
          </p:txBody>
        </p:sp>
        <p:sp>
          <p:nvSpPr>
            <p:cNvPr id="517142" name="Text Box 22"/>
            <p:cNvSpPr txBox="1">
              <a:spLocks noChangeArrowheads="1"/>
            </p:cNvSpPr>
            <p:nvPr/>
          </p:nvSpPr>
          <p:spPr bwMode="auto">
            <a:xfrm>
              <a:off x="4368" y="1872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sz="2400"/>
                <a:t>15</a:t>
              </a:r>
            </a:p>
          </p:txBody>
        </p:sp>
        <p:sp>
          <p:nvSpPr>
            <p:cNvPr id="517143" name="Line 23"/>
            <p:cNvSpPr>
              <a:spLocks noChangeShapeType="1"/>
            </p:cNvSpPr>
            <p:nvPr/>
          </p:nvSpPr>
          <p:spPr bwMode="auto">
            <a:xfrm flipH="1">
              <a:off x="3552" y="1680"/>
              <a:ext cx="4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7144" name="Line 24"/>
            <p:cNvSpPr>
              <a:spLocks noChangeShapeType="1"/>
            </p:cNvSpPr>
            <p:nvPr/>
          </p:nvSpPr>
          <p:spPr bwMode="auto">
            <a:xfrm>
              <a:off x="4032" y="1680"/>
              <a:ext cx="52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7145" name="Line 25"/>
            <p:cNvSpPr>
              <a:spLocks noChangeShapeType="1"/>
            </p:cNvSpPr>
            <p:nvPr/>
          </p:nvSpPr>
          <p:spPr bwMode="auto">
            <a:xfrm flipH="1">
              <a:off x="3216" y="2160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7146" name="Text Box 26"/>
            <p:cNvSpPr txBox="1">
              <a:spLocks noChangeArrowheads="1"/>
            </p:cNvSpPr>
            <p:nvPr/>
          </p:nvSpPr>
          <p:spPr bwMode="auto">
            <a:xfrm>
              <a:off x="3648" y="2400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sz="2400"/>
                <a:t>9</a:t>
              </a:r>
            </a:p>
          </p:txBody>
        </p:sp>
        <p:sp>
          <p:nvSpPr>
            <p:cNvPr id="517147" name="Text Box 27"/>
            <p:cNvSpPr txBox="1">
              <a:spLocks noChangeArrowheads="1"/>
            </p:cNvSpPr>
            <p:nvPr/>
          </p:nvSpPr>
          <p:spPr bwMode="auto">
            <a:xfrm>
              <a:off x="3984" y="2976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sz="2400"/>
                <a:t>11</a:t>
              </a:r>
            </a:p>
          </p:txBody>
        </p:sp>
        <p:sp>
          <p:nvSpPr>
            <p:cNvPr id="517148" name="Text Box 28"/>
            <p:cNvSpPr txBox="1">
              <a:spLocks noChangeArrowheads="1"/>
            </p:cNvSpPr>
            <p:nvPr/>
          </p:nvSpPr>
          <p:spPr bwMode="auto">
            <a:xfrm>
              <a:off x="4224" y="2400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sz="2400"/>
                <a:t>13</a:t>
              </a:r>
            </a:p>
          </p:txBody>
        </p:sp>
        <p:sp>
          <p:nvSpPr>
            <p:cNvPr id="517149" name="Line 29"/>
            <p:cNvSpPr>
              <a:spLocks noChangeShapeType="1"/>
            </p:cNvSpPr>
            <p:nvPr/>
          </p:nvSpPr>
          <p:spPr bwMode="auto">
            <a:xfrm flipH="1">
              <a:off x="4368" y="2160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7150" name="Line 30"/>
            <p:cNvSpPr>
              <a:spLocks noChangeShapeType="1"/>
            </p:cNvSpPr>
            <p:nvPr/>
          </p:nvSpPr>
          <p:spPr bwMode="auto">
            <a:xfrm flipH="1">
              <a:off x="4176" y="2688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7151" name="Line 31"/>
            <p:cNvSpPr>
              <a:spLocks noChangeShapeType="1"/>
            </p:cNvSpPr>
            <p:nvPr/>
          </p:nvSpPr>
          <p:spPr bwMode="auto">
            <a:xfrm>
              <a:off x="3504" y="2160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7152" name="Text Box 32"/>
            <p:cNvSpPr txBox="1">
              <a:spLocks noChangeArrowheads="1"/>
            </p:cNvSpPr>
            <p:nvPr/>
          </p:nvSpPr>
          <p:spPr bwMode="auto">
            <a:xfrm>
              <a:off x="4704" y="2400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sz="2400"/>
                <a:t>30</a:t>
              </a:r>
            </a:p>
          </p:txBody>
        </p:sp>
        <p:sp>
          <p:nvSpPr>
            <p:cNvPr id="517153" name="Line 33"/>
            <p:cNvSpPr>
              <a:spLocks noChangeShapeType="1"/>
            </p:cNvSpPr>
            <p:nvPr/>
          </p:nvSpPr>
          <p:spPr bwMode="auto">
            <a:xfrm>
              <a:off x="4560" y="2160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33400"/>
            <a:ext cx="7772400" cy="763588"/>
          </a:xfrm>
        </p:spPr>
        <p:txBody>
          <a:bodyPr>
            <a:normAutofit fontScale="90000"/>
          </a:bodyPr>
          <a:lstStyle/>
          <a:p>
            <a:r>
              <a:rPr lang="en-US" sz="4000">
                <a:solidFill>
                  <a:srgbClr val="008080"/>
                </a:solidFill>
              </a:rPr>
              <a:t>   </a:t>
            </a:r>
            <a:r>
              <a:rPr lang="en-US" sz="4000"/>
              <a:t>AVL Trees Deletions</a:t>
            </a:r>
            <a:r>
              <a:rPr lang="en-US" sz="3200"/>
              <a:t/>
            </a:r>
            <a:br>
              <a:rPr lang="en-US" sz="3200"/>
            </a:br>
            <a:endParaRPr lang="en-US" sz="3200"/>
          </a:p>
        </p:txBody>
      </p:sp>
      <p:sp>
        <p:nvSpPr>
          <p:cNvPr id="518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7772400" cy="4787900"/>
          </a:xfrm>
        </p:spPr>
        <p:txBody>
          <a:bodyPr/>
          <a:lstStyle/>
          <a:p>
            <a:r>
              <a:rPr lang="en-US"/>
              <a:t>As with deletion from a binary search tree, a node is deleted from an AVL tree using the standard inorder successor (predecessor) logic for binary search trees.</a:t>
            </a:r>
          </a:p>
        </p:txBody>
      </p:sp>
      <p:graphicFrame>
        <p:nvGraphicFramePr>
          <p:cNvPr id="518148" name="Object 4"/>
          <p:cNvGraphicFramePr>
            <a:graphicFrameLocks noChangeAspect="1"/>
          </p:cNvGraphicFramePr>
          <p:nvPr/>
        </p:nvGraphicFramePr>
        <p:xfrm>
          <a:off x="533400" y="4114800"/>
          <a:ext cx="3171825" cy="1981200"/>
        </p:xfrm>
        <a:graphic>
          <a:graphicData uri="http://schemas.openxmlformats.org/presentationml/2006/ole">
            <p:oleObj spid="_x0000_s1026" name="Visio" r:id="rId3" imgW="3349447" imgH="2092147" progId="">
              <p:embed/>
            </p:oleObj>
          </a:graphicData>
        </a:graphic>
      </p:graphicFrame>
      <p:sp>
        <p:nvSpPr>
          <p:cNvPr id="518149" name="Text Box 5"/>
          <p:cNvSpPr txBox="1">
            <a:spLocks noChangeArrowheads="1"/>
          </p:cNvSpPr>
          <p:nvPr/>
        </p:nvSpPr>
        <p:spPr bwMode="auto">
          <a:xfrm>
            <a:off x="3581400" y="3962400"/>
            <a:ext cx="23622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Deleting 15 using inorder successor logic results in</a:t>
            </a:r>
          </a:p>
        </p:txBody>
      </p:sp>
      <p:graphicFrame>
        <p:nvGraphicFramePr>
          <p:cNvPr id="518150" name="Object 6"/>
          <p:cNvGraphicFramePr>
            <a:graphicFrameLocks noChangeAspect="1"/>
          </p:cNvGraphicFramePr>
          <p:nvPr/>
        </p:nvGraphicFramePr>
        <p:xfrm>
          <a:off x="5562600" y="4114800"/>
          <a:ext cx="3173413" cy="2195513"/>
        </p:xfrm>
        <a:graphic>
          <a:graphicData uri="http://schemas.openxmlformats.org/presentationml/2006/ole">
            <p:oleObj spid="_x0000_s1027" name="Visio" r:id="rId4" imgW="3346399" imgH="2089099" progId="">
              <p:embed/>
            </p:oleObj>
          </a:graphicData>
        </a:graphic>
      </p:graphicFrame>
      <p:sp>
        <p:nvSpPr>
          <p:cNvPr id="518151" name="Line 7"/>
          <p:cNvSpPr>
            <a:spLocks noChangeShapeType="1"/>
          </p:cNvSpPr>
          <p:nvPr/>
        </p:nvSpPr>
        <p:spPr bwMode="auto">
          <a:xfrm>
            <a:off x="3657600" y="4953000"/>
            <a:ext cx="1828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57200"/>
            <a:ext cx="7488238" cy="762000"/>
          </a:xfrm>
        </p:spPr>
        <p:txBody>
          <a:bodyPr>
            <a:normAutofit fontScale="90000"/>
          </a:bodyPr>
          <a:lstStyle/>
          <a:p>
            <a:r>
              <a:rPr lang="en-US" sz="4000">
                <a:solidFill>
                  <a:srgbClr val="008080"/>
                </a:solidFill>
              </a:rPr>
              <a:t>   </a:t>
            </a:r>
            <a:r>
              <a:rPr lang="en-US" sz="3600"/>
              <a:t>AVL Trees Deletions</a:t>
            </a:r>
            <a:br>
              <a:rPr lang="en-US" sz="3600"/>
            </a:br>
            <a:endParaRPr lang="en-US" sz="3600"/>
          </a:p>
        </p:txBody>
      </p:sp>
      <p:sp>
        <p:nvSpPr>
          <p:cNvPr id="519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382000" cy="6096000"/>
          </a:xfrm>
        </p:spPr>
        <p:txBody>
          <a:bodyPr/>
          <a:lstStyle/>
          <a:p>
            <a:pPr lvl="1"/>
            <a:r>
              <a:rPr lang="en-US"/>
              <a:t>But, just like insertion, deletion can cause an imbalance, which will need to be fixed by applying one (or more) of the four rotations.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>
              <a:lnSpc>
                <a:spcPct val="50000"/>
              </a:lnSpc>
            </a:pPr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What kind of rotation should be performed to fix the imbalance?</a:t>
            </a:r>
          </a:p>
        </p:txBody>
      </p:sp>
      <p:graphicFrame>
        <p:nvGraphicFramePr>
          <p:cNvPr id="519172" name="Object 4"/>
          <p:cNvGraphicFramePr>
            <a:graphicFrameLocks noChangeAspect="1"/>
          </p:cNvGraphicFramePr>
          <p:nvPr/>
        </p:nvGraphicFramePr>
        <p:xfrm>
          <a:off x="685800" y="2743200"/>
          <a:ext cx="3173413" cy="1981200"/>
        </p:xfrm>
        <a:graphic>
          <a:graphicData uri="http://schemas.openxmlformats.org/presentationml/2006/ole">
            <p:oleObj spid="_x0000_s2050" name="Visio" r:id="rId3" imgW="3346399" imgH="2089099" progId="">
              <p:embed/>
            </p:oleObj>
          </a:graphicData>
        </a:graphic>
      </p:graphicFrame>
      <p:sp>
        <p:nvSpPr>
          <p:cNvPr id="519173" name="Text Box 5"/>
          <p:cNvSpPr txBox="1">
            <a:spLocks noChangeArrowheads="1"/>
          </p:cNvSpPr>
          <p:nvPr/>
        </p:nvSpPr>
        <p:spPr bwMode="auto">
          <a:xfrm>
            <a:off x="3657600" y="2819400"/>
            <a:ext cx="23622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Deleting 12 using inorder successor logic results in</a:t>
            </a:r>
          </a:p>
        </p:txBody>
      </p:sp>
      <p:sp>
        <p:nvSpPr>
          <p:cNvPr id="519174" name="Line 6"/>
          <p:cNvSpPr>
            <a:spLocks noChangeShapeType="1"/>
          </p:cNvSpPr>
          <p:nvPr/>
        </p:nvSpPr>
        <p:spPr bwMode="auto">
          <a:xfrm>
            <a:off x="3810000" y="3886200"/>
            <a:ext cx="1828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519175" name="Object 7"/>
          <p:cNvGraphicFramePr>
            <a:graphicFrameLocks noChangeAspect="1"/>
          </p:cNvGraphicFramePr>
          <p:nvPr/>
        </p:nvGraphicFramePr>
        <p:xfrm>
          <a:off x="5715000" y="2743200"/>
          <a:ext cx="3173413" cy="2195513"/>
        </p:xfrm>
        <a:graphic>
          <a:graphicData uri="http://schemas.openxmlformats.org/presentationml/2006/ole">
            <p:oleObj spid="_x0000_s2051" name="Visio" r:id="rId4" imgW="3346399" imgH="2089099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Rectangle 2"/>
          <p:cNvSpPr>
            <a:spLocks noGrp="1" noChangeArrowheads="1"/>
          </p:cNvSpPr>
          <p:nvPr>
            <p:ph type="title"/>
          </p:nvPr>
        </p:nvSpPr>
        <p:spPr>
          <a:xfrm>
            <a:off x="754063" y="503238"/>
            <a:ext cx="7489825" cy="762000"/>
          </a:xfrm>
        </p:spPr>
        <p:txBody>
          <a:bodyPr>
            <a:normAutofit fontScale="90000"/>
          </a:bodyPr>
          <a:lstStyle/>
          <a:p>
            <a:r>
              <a:rPr lang="en-US" sz="4000">
                <a:solidFill>
                  <a:srgbClr val="008080"/>
                </a:solidFill>
              </a:rPr>
              <a:t>   </a:t>
            </a:r>
            <a:r>
              <a:rPr lang="en-US" sz="3200"/>
              <a:t>AVL Trees deletions</a:t>
            </a:r>
            <a:br>
              <a:rPr lang="en-US" sz="3200"/>
            </a:br>
            <a:endParaRPr lang="en-US" sz="3200"/>
          </a:p>
        </p:txBody>
      </p:sp>
      <p:sp>
        <p:nvSpPr>
          <p:cNvPr id="520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371600"/>
            <a:ext cx="7772400" cy="4787900"/>
          </a:xfrm>
        </p:spPr>
        <p:txBody>
          <a:bodyPr/>
          <a:lstStyle/>
          <a:p>
            <a:pPr>
              <a:buFontTx/>
              <a:buNone/>
            </a:pPr>
            <a:r>
              <a:rPr lang="en-US" sz="2000" b="1"/>
              <a:t>Example (cont):</a:t>
            </a:r>
          </a:p>
        </p:txBody>
      </p:sp>
      <p:graphicFrame>
        <p:nvGraphicFramePr>
          <p:cNvPr id="520196" name="Object 4"/>
          <p:cNvGraphicFramePr>
            <a:graphicFrameLocks noChangeAspect="1"/>
          </p:cNvGraphicFramePr>
          <p:nvPr/>
        </p:nvGraphicFramePr>
        <p:xfrm>
          <a:off x="1295400" y="2667000"/>
          <a:ext cx="3173413" cy="1981200"/>
        </p:xfrm>
        <a:graphic>
          <a:graphicData uri="http://schemas.openxmlformats.org/presentationml/2006/ole">
            <p:oleObj spid="_x0000_s3074" name="Visio" r:id="rId3" imgW="3346399" imgH="2089099" progId="">
              <p:embed/>
            </p:oleObj>
          </a:graphicData>
        </a:graphic>
      </p:graphicFrame>
      <p:sp>
        <p:nvSpPr>
          <p:cNvPr id="520197" name="Text Box 5"/>
          <p:cNvSpPr txBox="1">
            <a:spLocks noChangeArrowheads="1"/>
          </p:cNvSpPr>
          <p:nvPr/>
        </p:nvSpPr>
        <p:spPr bwMode="auto">
          <a:xfrm>
            <a:off x="3429000" y="2590800"/>
            <a:ext cx="297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After a single left rotation</a:t>
            </a:r>
          </a:p>
        </p:txBody>
      </p:sp>
      <p:sp>
        <p:nvSpPr>
          <p:cNvPr id="520198" name="Line 6"/>
          <p:cNvSpPr>
            <a:spLocks noChangeShapeType="1"/>
          </p:cNvSpPr>
          <p:nvPr/>
        </p:nvSpPr>
        <p:spPr bwMode="auto">
          <a:xfrm>
            <a:off x="3886200" y="3124200"/>
            <a:ext cx="1828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520199" name="Object 7"/>
          <p:cNvGraphicFramePr>
            <a:graphicFrameLocks noChangeAspect="1"/>
          </p:cNvGraphicFramePr>
          <p:nvPr/>
        </p:nvGraphicFramePr>
        <p:xfrm>
          <a:off x="5791200" y="2590800"/>
          <a:ext cx="2847975" cy="2195513"/>
        </p:xfrm>
        <a:graphic>
          <a:graphicData uri="http://schemas.openxmlformats.org/presentationml/2006/ole">
            <p:oleObj spid="_x0000_s3075" name="Visio" r:id="rId4" imgW="3003499" imgH="2089099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/>
          </p:nvPr>
        </p:nvSpPr>
        <p:spPr>
          <a:xfrm>
            <a:off x="754063" y="503238"/>
            <a:ext cx="7489825" cy="762000"/>
          </a:xfrm>
        </p:spPr>
        <p:txBody>
          <a:bodyPr>
            <a:normAutofit fontScale="90000"/>
          </a:bodyPr>
          <a:lstStyle/>
          <a:p>
            <a:r>
              <a:rPr lang="en-US" sz="3200"/>
              <a:t>AVL Trees deletions</a:t>
            </a:r>
            <a:br>
              <a:rPr lang="en-US" sz="3200"/>
            </a:br>
            <a:endParaRPr lang="en-US" sz="3200"/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371600"/>
            <a:ext cx="7772400" cy="4787900"/>
          </a:xfrm>
        </p:spPr>
        <p:txBody>
          <a:bodyPr/>
          <a:lstStyle/>
          <a:p>
            <a:pPr>
              <a:buFontTx/>
              <a:buNone/>
            </a:pPr>
            <a:endParaRPr lang="en-US" sz="2000" b="1"/>
          </a:p>
          <a:p>
            <a:pPr lvl="1"/>
            <a:r>
              <a:rPr lang="en-US"/>
              <a:t>Example:</a:t>
            </a:r>
          </a:p>
        </p:txBody>
      </p:sp>
      <p:sp>
        <p:nvSpPr>
          <p:cNvPr id="521220" name="Text Box 4"/>
          <p:cNvSpPr txBox="1">
            <a:spLocks noChangeArrowheads="1"/>
          </p:cNvSpPr>
          <p:nvPr/>
        </p:nvSpPr>
        <p:spPr bwMode="auto">
          <a:xfrm>
            <a:off x="3429000" y="5562600"/>
            <a:ext cx="2819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b="1"/>
              <a:t>Delete 9 from the tree</a:t>
            </a:r>
          </a:p>
        </p:txBody>
      </p:sp>
      <p:graphicFrame>
        <p:nvGraphicFramePr>
          <p:cNvPr id="521221" name="Object 5"/>
          <p:cNvGraphicFramePr>
            <a:graphicFrameLocks noChangeAspect="1"/>
          </p:cNvGraphicFramePr>
          <p:nvPr/>
        </p:nvGraphicFramePr>
        <p:xfrm>
          <a:off x="2133600" y="2286000"/>
          <a:ext cx="5286375" cy="2947988"/>
        </p:xfrm>
        <a:graphic>
          <a:graphicData uri="http://schemas.openxmlformats.org/presentationml/2006/ole">
            <p:oleObj spid="_x0000_s4098" name="Visio" r:id="rId3" imgW="5292547" imgH="2663647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54063" y="503238"/>
            <a:ext cx="7489825" cy="762000"/>
          </a:xfrm>
        </p:spPr>
        <p:txBody>
          <a:bodyPr>
            <a:normAutofit fontScale="90000"/>
          </a:bodyPr>
          <a:lstStyle/>
          <a:p>
            <a:r>
              <a:rPr lang="en-US" sz="3200"/>
              <a:t>AVL Trees deletions</a:t>
            </a:r>
            <a:br>
              <a:rPr lang="en-US" sz="3200"/>
            </a:br>
            <a:endParaRPr lang="en-US" sz="3200"/>
          </a:p>
        </p:txBody>
      </p:sp>
      <p:sp>
        <p:nvSpPr>
          <p:cNvPr id="522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371600"/>
            <a:ext cx="7772400" cy="4787900"/>
          </a:xfrm>
        </p:spPr>
        <p:txBody>
          <a:bodyPr/>
          <a:lstStyle/>
          <a:p>
            <a:pPr>
              <a:buFontTx/>
              <a:buNone/>
            </a:pPr>
            <a:endParaRPr lang="en-US" sz="2000" b="1"/>
          </a:p>
          <a:p>
            <a:pPr lvl="1"/>
            <a:r>
              <a:rPr lang="en-US"/>
              <a:t>Example (cont.)</a:t>
            </a:r>
          </a:p>
        </p:txBody>
      </p:sp>
      <p:graphicFrame>
        <p:nvGraphicFramePr>
          <p:cNvPr id="522244" name="Object 4"/>
          <p:cNvGraphicFramePr>
            <a:graphicFrameLocks noChangeAspect="1"/>
          </p:cNvGraphicFramePr>
          <p:nvPr/>
        </p:nvGraphicFramePr>
        <p:xfrm>
          <a:off x="2057400" y="2362200"/>
          <a:ext cx="5289550" cy="2947988"/>
        </p:xfrm>
        <a:graphic>
          <a:graphicData uri="http://schemas.openxmlformats.org/presentationml/2006/ole">
            <p:oleObj spid="_x0000_s5122" name="Visio" r:id="rId3" imgW="5289499" imgH="2660599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6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427038"/>
            <a:ext cx="7489825" cy="762000"/>
          </a:xfrm>
        </p:spPr>
        <p:txBody>
          <a:bodyPr>
            <a:normAutofit fontScale="90000"/>
          </a:bodyPr>
          <a:lstStyle/>
          <a:p>
            <a:r>
              <a:rPr lang="en-US" sz="3200"/>
              <a:t>AVL Trees deletions</a:t>
            </a:r>
            <a:br>
              <a:rPr lang="en-US" sz="3200"/>
            </a:br>
            <a:endParaRPr lang="en-US" sz="3200"/>
          </a:p>
        </p:txBody>
      </p:sp>
      <p:sp>
        <p:nvSpPr>
          <p:cNvPr id="523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371600"/>
            <a:ext cx="7772400" cy="4787900"/>
          </a:xfrm>
        </p:spPr>
        <p:txBody>
          <a:bodyPr/>
          <a:lstStyle/>
          <a:p>
            <a:pPr lvl="1"/>
            <a:r>
              <a:rPr lang="en-US"/>
              <a:t>Example (cont.)</a:t>
            </a:r>
          </a:p>
        </p:txBody>
      </p:sp>
      <p:sp>
        <p:nvSpPr>
          <p:cNvPr id="523268" name="Text Box 4"/>
          <p:cNvSpPr txBox="1">
            <a:spLocks noChangeArrowheads="1"/>
          </p:cNvSpPr>
          <p:nvPr/>
        </p:nvSpPr>
        <p:spPr bwMode="auto">
          <a:xfrm>
            <a:off x="2286000" y="5562600"/>
            <a:ext cx="480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/>
              <a:t>Is the tree balanced after the rotation?</a:t>
            </a:r>
          </a:p>
        </p:txBody>
      </p:sp>
      <p:graphicFrame>
        <p:nvGraphicFramePr>
          <p:cNvPr id="523269" name="Object 5"/>
          <p:cNvGraphicFramePr>
            <a:graphicFrameLocks noChangeAspect="1"/>
          </p:cNvGraphicFramePr>
          <p:nvPr/>
        </p:nvGraphicFramePr>
        <p:xfrm>
          <a:off x="2133600" y="2057400"/>
          <a:ext cx="5289550" cy="2947988"/>
        </p:xfrm>
        <a:graphic>
          <a:graphicData uri="http://schemas.openxmlformats.org/presentationml/2006/ole">
            <p:oleObj spid="_x0000_s6146" name="Visio" r:id="rId3" imgW="5289499" imgH="2660599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427038"/>
            <a:ext cx="7489825" cy="762000"/>
          </a:xfrm>
        </p:spPr>
        <p:txBody>
          <a:bodyPr>
            <a:normAutofit fontScale="90000"/>
          </a:bodyPr>
          <a:lstStyle/>
          <a:p>
            <a:r>
              <a:rPr lang="en-US" sz="3200"/>
              <a:t>AVL Trees deletions</a:t>
            </a:r>
            <a:br>
              <a:rPr lang="en-US" sz="3200"/>
            </a:br>
            <a:endParaRPr lang="en-US" sz="3200"/>
          </a:p>
        </p:txBody>
      </p:sp>
      <p:sp>
        <p:nvSpPr>
          <p:cNvPr id="524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371600"/>
            <a:ext cx="7772400" cy="4787900"/>
          </a:xfrm>
        </p:spPr>
        <p:txBody>
          <a:bodyPr/>
          <a:lstStyle/>
          <a:p>
            <a:pPr lvl="1"/>
            <a:r>
              <a:rPr lang="en-US"/>
              <a:t>Example:</a:t>
            </a:r>
          </a:p>
        </p:txBody>
      </p:sp>
      <p:sp>
        <p:nvSpPr>
          <p:cNvPr id="524292" name="Text Box 4"/>
          <p:cNvSpPr txBox="1">
            <a:spLocks noChangeArrowheads="1"/>
          </p:cNvSpPr>
          <p:nvPr/>
        </p:nvSpPr>
        <p:spPr bwMode="auto">
          <a:xfrm>
            <a:off x="2286000" y="5257800"/>
            <a:ext cx="4800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/>
              <a:t>What type of rotation must be performed to fix the imbalance?</a:t>
            </a:r>
          </a:p>
        </p:txBody>
      </p:sp>
      <p:graphicFrame>
        <p:nvGraphicFramePr>
          <p:cNvPr id="524293" name="Object 5"/>
          <p:cNvGraphicFramePr>
            <a:graphicFrameLocks noChangeAspect="1"/>
          </p:cNvGraphicFramePr>
          <p:nvPr/>
        </p:nvGraphicFramePr>
        <p:xfrm>
          <a:off x="2209800" y="1981200"/>
          <a:ext cx="5289550" cy="3024188"/>
        </p:xfrm>
        <a:graphic>
          <a:graphicData uri="http://schemas.openxmlformats.org/presentationml/2006/ole">
            <p:oleObj spid="_x0000_s7170" name="Visio" r:id="rId3" imgW="5289499" imgH="2660599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579438"/>
            <a:ext cx="7489825" cy="762000"/>
          </a:xfrm>
        </p:spPr>
        <p:txBody>
          <a:bodyPr>
            <a:normAutofit fontScale="90000"/>
          </a:bodyPr>
          <a:lstStyle/>
          <a:p>
            <a:r>
              <a:rPr lang="en-US" sz="3200"/>
              <a:t>AVL Trees deletions</a:t>
            </a:r>
            <a:br>
              <a:rPr lang="en-US" sz="3200"/>
            </a:br>
            <a:endParaRPr lang="en-US" sz="3200"/>
          </a:p>
        </p:txBody>
      </p:sp>
      <p:sp>
        <p:nvSpPr>
          <p:cNvPr id="525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371600"/>
            <a:ext cx="7772400" cy="4787900"/>
          </a:xfrm>
        </p:spPr>
        <p:txBody>
          <a:bodyPr/>
          <a:lstStyle/>
          <a:p>
            <a:pPr>
              <a:buFontTx/>
              <a:buNone/>
            </a:pPr>
            <a:endParaRPr lang="en-US" sz="2000" b="1"/>
          </a:p>
          <a:p>
            <a:pPr lvl="1"/>
            <a:r>
              <a:rPr lang="en-US"/>
              <a:t>Example (cont.):</a:t>
            </a:r>
          </a:p>
        </p:txBody>
      </p:sp>
      <p:sp>
        <p:nvSpPr>
          <p:cNvPr id="525316" name="Text Box 4"/>
          <p:cNvSpPr txBox="1">
            <a:spLocks noChangeArrowheads="1"/>
          </p:cNvSpPr>
          <p:nvPr/>
        </p:nvSpPr>
        <p:spPr bwMode="auto">
          <a:xfrm>
            <a:off x="2478088" y="6111875"/>
            <a:ext cx="480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/>
              <a:t>Result after the single left rotation</a:t>
            </a:r>
          </a:p>
        </p:txBody>
      </p:sp>
      <p:graphicFrame>
        <p:nvGraphicFramePr>
          <p:cNvPr id="525317" name="Object 5"/>
          <p:cNvGraphicFramePr>
            <a:graphicFrameLocks noChangeAspect="1"/>
          </p:cNvGraphicFramePr>
          <p:nvPr/>
        </p:nvGraphicFramePr>
        <p:xfrm>
          <a:off x="2133600" y="2590800"/>
          <a:ext cx="5746750" cy="2962275"/>
        </p:xfrm>
        <a:graphic>
          <a:graphicData uri="http://schemas.openxmlformats.org/presentationml/2006/ole">
            <p:oleObj spid="_x0000_s8194" name="Visio" r:id="rId3" imgW="5746699" imgH="2672791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AVL Tree Delete</a:t>
            </a:r>
          </a:p>
        </p:txBody>
      </p:sp>
      <p:sp>
        <p:nvSpPr>
          <p:cNvPr id="526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Complications arise from the fact that deleting a node can unbalance a number of its ancestors</a:t>
            </a:r>
          </a:p>
          <a:p>
            <a:pPr lvl="1"/>
            <a:r>
              <a:rPr lang="en-US"/>
              <a:t>Insert function only requires that you find the first unbalanced node.</a:t>
            </a:r>
          </a:p>
          <a:p>
            <a:pPr lvl="1"/>
            <a:r>
              <a:rPr lang="en-US"/>
              <a:t>delete function will require you to go all the way back to the root looking for imbalances.</a:t>
            </a:r>
          </a:p>
          <a:p>
            <a:pPr lvl="2"/>
            <a:endParaRPr lang="en-US"/>
          </a:p>
          <a:p>
            <a:pPr lvl="2"/>
            <a:r>
              <a:rPr lang="en-US"/>
              <a:t>Must balance any node with a </a:t>
            </a:r>
            <a:r>
              <a:rPr lang="en-US">
                <a:cs typeface="Arial" charset="0"/>
              </a:rPr>
              <a:t>±2 balance factor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</a:t>
            </a:r>
          </a:p>
        </p:txBody>
      </p:sp>
      <p:sp>
        <p:nvSpPr>
          <p:cNvPr id="527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/>
              <a:t>AVL Balance Factor  </a:t>
            </a:r>
          </a:p>
          <a:p>
            <a:pPr lvl="2"/>
            <a:r>
              <a:rPr lang="en-US" sz="2000"/>
              <a:t>for an AVL tree balance factors are either  +1, 0, -1</a:t>
            </a:r>
            <a:br>
              <a:rPr lang="en-US" sz="2000"/>
            </a:br>
            <a:r>
              <a:rPr lang="en-US" sz="2000"/>
              <a:t>	 </a:t>
            </a:r>
          </a:p>
          <a:p>
            <a:r>
              <a:rPr lang="en-US" sz="2000"/>
              <a:t>AVL Node </a:t>
            </a:r>
          </a:p>
          <a:p>
            <a:r>
              <a:rPr lang="en-US" sz="2000"/>
              <a:t>A node can be:</a:t>
            </a:r>
          </a:p>
          <a:p>
            <a:pPr lvl="3"/>
            <a:r>
              <a:rPr lang="en-US"/>
              <a:t>LH – left high</a:t>
            </a:r>
          </a:p>
          <a:p>
            <a:pPr lvl="3"/>
            <a:r>
              <a:rPr lang="en-US"/>
              <a:t>RH – right high</a:t>
            </a:r>
          </a:p>
          <a:p>
            <a:pPr lvl="3"/>
            <a:r>
              <a:rPr lang="en-US"/>
              <a:t>balanced</a:t>
            </a:r>
          </a:p>
          <a:p>
            <a:r>
              <a:rPr lang="en-US" sz="2000"/>
              <a:t>Methods for Left rotation, right rotation, balancing of a node, etc.</a:t>
            </a:r>
          </a:p>
          <a:p>
            <a:r>
              <a:rPr lang="en-US" sz="2000"/>
              <a:t>Insertion and Deletion requires rotation, balancing and adjusting the tree.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Insertion</a:t>
            </a:r>
          </a:p>
        </p:txBody>
      </p:sp>
      <p:sp>
        <p:nvSpPr>
          <p:cNvPr id="528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1625" y="1600200"/>
            <a:ext cx="8540750" cy="5105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000"/>
              <a:t>Insertion of a new node is as a leaf.</a:t>
            </a:r>
            <a:br>
              <a:rPr lang="en-US" sz="2000"/>
            </a:br>
            <a:endParaRPr lang="en-US" sz="2000"/>
          </a:p>
          <a:p>
            <a:pPr>
              <a:lnSpc>
                <a:spcPct val="80000"/>
              </a:lnSpc>
            </a:pPr>
            <a:r>
              <a:rPr lang="en-US" sz="2000"/>
              <a:t>Insertion is similar to BST when determining where a new node is to be inserted.</a:t>
            </a:r>
            <a:br>
              <a:rPr lang="en-US" sz="2000"/>
            </a:br>
            <a:endParaRPr lang="en-US" sz="2000"/>
          </a:p>
          <a:p>
            <a:pPr>
              <a:lnSpc>
                <a:spcPct val="80000"/>
              </a:lnSpc>
            </a:pPr>
            <a:r>
              <a:rPr lang="en-US" sz="2000"/>
              <a:t>Once a new leaf is added, the algorithm must back out of the search tree keeping the height of the tree balanced as the algorithm continues up the tree.</a:t>
            </a:r>
          </a:p>
          <a:p>
            <a:pPr>
              <a:lnSpc>
                <a:spcPct val="80000"/>
              </a:lnSpc>
            </a:pPr>
            <a:endParaRPr lang="en-US" sz="2000"/>
          </a:p>
          <a:p>
            <a:pPr>
              <a:lnSpc>
                <a:spcPct val="80000"/>
              </a:lnSpc>
            </a:pPr>
            <a:r>
              <a:rPr lang="en-US" sz="2000"/>
              <a:t>Algorithm uses a special flag called </a:t>
            </a:r>
            <a:r>
              <a:rPr lang="en-US" sz="2000" i="1"/>
              <a:t>taller</a:t>
            </a:r>
            <a:r>
              <a:rPr lang="en-US" sz="2000"/>
              <a:t> for indicating where the tree is taller.</a:t>
            </a:r>
            <a:br>
              <a:rPr lang="en-US" sz="2000"/>
            </a:br>
            <a:endParaRPr lang="en-US" sz="2000"/>
          </a:p>
          <a:p>
            <a:pPr>
              <a:lnSpc>
                <a:spcPct val="80000"/>
              </a:lnSpc>
            </a:pPr>
            <a:r>
              <a:rPr lang="en-US" sz="2000"/>
              <a:t>Left-balance or right-balance is called depending if the tree has become unbalanced to the left or to the right of a node.</a:t>
            </a:r>
            <a:br>
              <a:rPr lang="en-US" sz="2000"/>
            </a:br>
            <a:endParaRPr lang="en-US" sz="2000"/>
          </a:p>
          <a:p>
            <a:pPr>
              <a:lnSpc>
                <a:spcPct val="80000"/>
              </a:lnSpc>
            </a:pPr>
            <a:r>
              <a:rPr lang="en-US" sz="2000"/>
              <a:t>When flag taller becomes false, no further balancing is required.</a:t>
            </a:r>
            <a:br>
              <a:rPr lang="en-US" sz="2000"/>
            </a:b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825</Words>
  <Application>Microsoft Office PowerPoint</Application>
  <PresentationFormat>On-screen Show (4:3)</PresentationFormat>
  <Paragraphs>264</Paragraphs>
  <Slides>27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Office Theme</vt:lpstr>
      <vt:lpstr>Visio</vt:lpstr>
      <vt:lpstr>AVL Trees</vt:lpstr>
      <vt:lpstr>Problem with the BST </vt:lpstr>
      <vt:lpstr>Balanced Trees</vt:lpstr>
      <vt:lpstr>Balanced trees</vt:lpstr>
      <vt:lpstr>AVL Trees</vt:lpstr>
      <vt:lpstr>AVL Tree (Balanced Binary Search Tree)</vt:lpstr>
      <vt:lpstr>Example</vt:lpstr>
      <vt:lpstr>Building an AVL Tree</vt:lpstr>
      <vt:lpstr>Building an AVL Tree</vt:lpstr>
      <vt:lpstr>Rebalance</vt:lpstr>
      <vt:lpstr>Single Rotation Example Add 60</vt:lpstr>
      <vt:lpstr>Result of a Single Rotation Left</vt:lpstr>
      <vt:lpstr>Building an AVL Tree</vt:lpstr>
      <vt:lpstr>Example</vt:lpstr>
      <vt:lpstr>Example</vt:lpstr>
      <vt:lpstr>AVL</vt:lpstr>
      <vt:lpstr>   AVL Trees Deletions </vt:lpstr>
      <vt:lpstr>   AVL Trees Deletions </vt:lpstr>
      <vt:lpstr>   AVL Trees deletions </vt:lpstr>
      <vt:lpstr>AVL Trees deletions </vt:lpstr>
      <vt:lpstr>AVL Trees deletions </vt:lpstr>
      <vt:lpstr>AVL Trees deletions </vt:lpstr>
      <vt:lpstr>AVL Trees deletions </vt:lpstr>
      <vt:lpstr>AVL Trees deletions </vt:lpstr>
      <vt:lpstr>AVL Tree Delete</vt:lpstr>
      <vt:lpstr>Implementation</vt:lpstr>
      <vt:lpstr>Insertion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AVL Trees</dc:title>
  <dc:creator/>
  <cp:lastModifiedBy>Ayesha</cp:lastModifiedBy>
  <cp:revision>2</cp:revision>
  <dcterms:created xsi:type="dcterms:W3CDTF">2006-08-16T00:00:00Z</dcterms:created>
  <dcterms:modified xsi:type="dcterms:W3CDTF">2013-01-18T06:28:05Z</dcterms:modified>
</cp:coreProperties>
</file>