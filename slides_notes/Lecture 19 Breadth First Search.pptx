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Binary Tree Traversals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smtClean="0"/>
              <a:t>Depth First Tree Traversal</a:t>
            </a:r>
          </a:p>
          <a:p>
            <a:pPr lvl="2" eaLnBrk="1" hangingPunct="1"/>
            <a:r>
              <a:rPr lang="en-US" smtClean="0"/>
              <a:t>PreOrder Tree Traversal</a:t>
            </a:r>
          </a:p>
          <a:p>
            <a:pPr lvl="2" eaLnBrk="1" hangingPunct="1"/>
            <a:r>
              <a:rPr lang="en-US" smtClean="0"/>
              <a:t>InOrder Tree Traversal</a:t>
            </a:r>
          </a:p>
          <a:p>
            <a:pPr lvl="2" eaLnBrk="1" hangingPunct="1"/>
            <a:r>
              <a:rPr lang="en-US" smtClean="0"/>
              <a:t>PostOrder Tree Traversal</a:t>
            </a:r>
          </a:p>
          <a:p>
            <a:pPr eaLnBrk="1" hangingPunct="1"/>
            <a:r>
              <a:rPr lang="en-US" smtClean="0"/>
              <a:t>Breadth First Tree Traversal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Binary Trees Traversals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3600" b="1" dirty="0">
                <a:solidFill>
                  <a:srgbClr val="0000FF"/>
                </a:solidFill>
              </a:rPr>
              <a:t>Breadth First Tree Traversal</a:t>
            </a:r>
          </a:p>
          <a:p>
            <a:pPr marL="669925" lvl="1" indent="-325438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3200" dirty="0"/>
              <a:t>Implementation of this kind of traversal is straightforward when a </a:t>
            </a:r>
            <a:r>
              <a:rPr lang="en-US" sz="3200" b="1" dirty="0"/>
              <a:t>queue</a:t>
            </a:r>
            <a:r>
              <a:rPr lang="en-US" sz="3200" dirty="0"/>
              <a:t> is used.</a:t>
            </a:r>
          </a:p>
          <a:p>
            <a:pPr marL="669925" lvl="1" indent="-325438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3200" dirty="0"/>
              <a:t>Consider a top down left-to-right, breadth first traversal.</a:t>
            </a:r>
          </a:p>
          <a:p>
            <a:pPr marL="669925" lvl="1" indent="-325438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3200" dirty="0"/>
              <a:t>After a node is visited, its children, if any, are placed at the end (rear) of a queue, and the node at the beginning (front) of the queue is visited.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76400" y="1676400"/>
            <a:ext cx="6324600" cy="4419600"/>
            <a:chOff x="432" y="1056"/>
            <a:chExt cx="3984" cy="2784"/>
          </a:xfrm>
        </p:grpSpPr>
        <p:sp>
          <p:nvSpPr>
            <p:cNvPr id="36868" name="Oval 4"/>
            <p:cNvSpPr>
              <a:spLocks noChangeArrowheads="1"/>
            </p:cNvSpPr>
            <p:nvPr/>
          </p:nvSpPr>
          <p:spPr bwMode="auto">
            <a:xfrm>
              <a:off x="720" y="1056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6869" name="Oval 5"/>
            <p:cNvSpPr>
              <a:spLocks noChangeArrowheads="1"/>
            </p:cNvSpPr>
            <p:nvPr/>
          </p:nvSpPr>
          <p:spPr bwMode="auto">
            <a:xfrm>
              <a:off x="432" y="1536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6870" name="Oval 6"/>
            <p:cNvSpPr>
              <a:spLocks noChangeArrowheads="1"/>
            </p:cNvSpPr>
            <p:nvPr/>
          </p:nvSpPr>
          <p:spPr bwMode="auto">
            <a:xfrm>
              <a:off x="768" y="2160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6871" name="Oval 7"/>
            <p:cNvSpPr>
              <a:spLocks noChangeArrowheads="1"/>
            </p:cNvSpPr>
            <p:nvPr/>
          </p:nvSpPr>
          <p:spPr bwMode="auto">
            <a:xfrm>
              <a:off x="2160" y="1536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6872" name="Oval 8"/>
            <p:cNvSpPr>
              <a:spLocks noChangeArrowheads="1"/>
            </p:cNvSpPr>
            <p:nvPr/>
          </p:nvSpPr>
          <p:spPr bwMode="auto">
            <a:xfrm>
              <a:off x="1824" y="2352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6873" name="Oval 9"/>
            <p:cNvSpPr>
              <a:spLocks noChangeArrowheads="1"/>
            </p:cNvSpPr>
            <p:nvPr/>
          </p:nvSpPr>
          <p:spPr bwMode="auto">
            <a:xfrm>
              <a:off x="1008" y="3168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6874" name="Oval 10"/>
            <p:cNvSpPr>
              <a:spLocks noChangeArrowheads="1"/>
            </p:cNvSpPr>
            <p:nvPr/>
          </p:nvSpPr>
          <p:spPr bwMode="auto">
            <a:xfrm>
              <a:off x="2304" y="3264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6875" name="Oval 11"/>
            <p:cNvSpPr>
              <a:spLocks noChangeArrowheads="1"/>
            </p:cNvSpPr>
            <p:nvPr/>
          </p:nvSpPr>
          <p:spPr bwMode="auto">
            <a:xfrm>
              <a:off x="3408" y="3504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6876" name="Oval 12"/>
            <p:cNvSpPr>
              <a:spLocks noChangeArrowheads="1"/>
            </p:cNvSpPr>
            <p:nvPr/>
          </p:nvSpPr>
          <p:spPr bwMode="auto">
            <a:xfrm>
              <a:off x="4080" y="2400"/>
              <a:ext cx="336" cy="336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36877" name="Line 13"/>
            <p:cNvSpPr>
              <a:spLocks noChangeShapeType="1"/>
            </p:cNvSpPr>
            <p:nvPr/>
          </p:nvSpPr>
          <p:spPr bwMode="auto">
            <a:xfrm flipH="1">
              <a:off x="619" y="1248"/>
              <a:ext cx="101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78" name="Line 14"/>
            <p:cNvSpPr>
              <a:spLocks noChangeShapeType="1"/>
            </p:cNvSpPr>
            <p:nvPr/>
          </p:nvSpPr>
          <p:spPr bwMode="auto">
            <a:xfrm>
              <a:off x="768" y="1776"/>
              <a:ext cx="144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79" name="Line 15"/>
            <p:cNvSpPr>
              <a:spLocks noChangeShapeType="1"/>
            </p:cNvSpPr>
            <p:nvPr/>
          </p:nvSpPr>
          <p:spPr bwMode="auto">
            <a:xfrm>
              <a:off x="1056" y="1200"/>
              <a:ext cx="1152" cy="43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80" name="Line 16"/>
            <p:cNvSpPr>
              <a:spLocks noChangeShapeType="1"/>
            </p:cNvSpPr>
            <p:nvPr/>
          </p:nvSpPr>
          <p:spPr bwMode="auto">
            <a:xfrm flipH="1">
              <a:off x="1920" y="1824"/>
              <a:ext cx="336" cy="5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81" name="Line 17"/>
            <p:cNvSpPr>
              <a:spLocks noChangeShapeType="1"/>
            </p:cNvSpPr>
            <p:nvPr/>
          </p:nvSpPr>
          <p:spPr bwMode="auto">
            <a:xfrm flipH="1">
              <a:off x="1288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82" name="Line 18"/>
            <p:cNvSpPr>
              <a:spLocks noChangeShapeType="1"/>
            </p:cNvSpPr>
            <p:nvPr/>
          </p:nvSpPr>
          <p:spPr bwMode="auto">
            <a:xfrm>
              <a:off x="2112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83" name="Line 19"/>
            <p:cNvSpPr>
              <a:spLocks noChangeShapeType="1"/>
            </p:cNvSpPr>
            <p:nvPr/>
          </p:nvSpPr>
          <p:spPr bwMode="auto">
            <a:xfrm>
              <a:off x="2496" y="1632"/>
              <a:ext cx="1632" cy="7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884" name="Line 20"/>
            <p:cNvSpPr>
              <a:spLocks noChangeShapeType="1"/>
            </p:cNvSpPr>
            <p:nvPr/>
          </p:nvSpPr>
          <p:spPr bwMode="auto">
            <a:xfrm flipV="1">
              <a:off x="3696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562600" y="1676400"/>
            <a:ext cx="2819400" cy="914400"/>
            <a:chOff x="3120" y="1056"/>
            <a:chExt cx="1776" cy="576"/>
          </a:xfrm>
        </p:grpSpPr>
        <p:sp>
          <p:nvSpPr>
            <p:cNvPr id="37913" name="Rectangle 4"/>
            <p:cNvSpPr>
              <a:spLocks noChangeArrowheads="1"/>
            </p:cNvSpPr>
            <p:nvPr/>
          </p:nvSpPr>
          <p:spPr bwMode="auto">
            <a:xfrm>
              <a:off x="4224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7914" name="Text Box 5"/>
            <p:cNvSpPr txBox="1">
              <a:spLocks noChangeArrowheads="1"/>
            </p:cNvSpPr>
            <p:nvPr/>
          </p:nvSpPr>
          <p:spPr bwMode="auto">
            <a:xfrm>
              <a:off x="3120" y="1056"/>
              <a:ext cx="1104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Queue</a:t>
              </a:r>
            </a:p>
          </p:txBody>
        </p:sp>
        <p:sp>
          <p:nvSpPr>
            <p:cNvPr id="37915" name="Rectangle 6"/>
            <p:cNvSpPr>
              <a:spLocks noChangeArrowheads="1"/>
            </p:cNvSpPr>
            <p:nvPr/>
          </p:nvSpPr>
          <p:spPr bwMode="auto">
            <a:xfrm>
              <a:off x="4560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0" y="1056"/>
            <a:chExt cx="3984" cy="2784"/>
          </a:xfrm>
        </p:grpSpPr>
        <p:sp>
          <p:nvSpPr>
            <p:cNvPr id="37895" name="Oval 8"/>
            <p:cNvSpPr>
              <a:spLocks noChangeArrowheads="1"/>
            </p:cNvSpPr>
            <p:nvPr/>
          </p:nvSpPr>
          <p:spPr bwMode="auto">
            <a:xfrm>
              <a:off x="3648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0" y="1056"/>
              <a:ext cx="3696" cy="2784"/>
              <a:chOff x="0" y="1056"/>
              <a:chExt cx="3696" cy="2784"/>
            </a:xfrm>
          </p:grpSpPr>
          <p:sp>
            <p:nvSpPr>
              <p:cNvPr id="37897" name="Oval 10"/>
              <p:cNvSpPr>
                <a:spLocks noChangeArrowheads="1"/>
              </p:cNvSpPr>
              <p:nvPr/>
            </p:nvSpPr>
            <p:spPr bwMode="auto">
              <a:xfrm>
                <a:off x="288" y="1056"/>
                <a:ext cx="336" cy="336"/>
              </a:xfrm>
              <a:prstGeom prst="ellipse">
                <a:avLst/>
              </a:prstGeom>
              <a:solidFill>
                <a:schemeClr val="hlink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37898" name="Oval 11"/>
              <p:cNvSpPr>
                <a:spLocks noChangeArrowheads="1"/>
              </p:cNvSpPr>
              <p:nvPr/>
            </p:nvSpPr>
            <p:spPr bwMode="auto">
              <a:xfrm>
                <a:off x="0" y="15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37899" name="Oval 12"/>
              <p:cNvSpPr>
                <a:spLocks noChangeArrowheads="1"/>
              </p:cNvSpPr>
              <p:nvPr/>
            </p:nvSpPr>
            <p:spPr bwMode="auto">
              <a:xfrm>
                <a:off x="336" y="216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7900" name="Oval 13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37901" name="Oval 14"/>
              <p:cNvSpPr>
                <a:spLocks noChangeArrowheads="1"/>
              </p:cNvSpPr>
              <p:nvPr/>
            </p:nvSpPr>
            <p:spPr bwMode="auto">
              <a:xfrm>
                <a:off x="1392" y="235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7902" name="Oval 15"/>
              <p:cNvSpPr>
                <a:spLocks noChangeArrowheads="1"/>
              </p:cNvSpPr>
              <p:nvPr/>
            </p:nvSpPr>
            <p:spPr bwMode="auto">
              <a:xfrm>
                <a:off x="576" y="3168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37903" name="Oval 16"/>
              <p:cNvSpPr>
                <a:spLocks noChangeArrowheads="1"/>
              </p:cNvSpPr>
              <p:nvPr/>
            </p:nvSpPr>
            <p:spPr bwMode="auto">
              <a:xfrm>
                <a:off x="1872" y="326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G</a:t>
                </a:r>
              </a:p>
            </p:txBody>
          </p:sp>
          <p:sp>
            <p:nvSpPr>
              <p:cNvPr id="37904" name="Oval 17"/>
              <p:cNvSpPr>
                <a:spLocks noChangeArrowheads="1"/>
              </p:cNvSpPr>
              <p:nvPr/>
            </p:nvSpPr>
            <p:spPr bwMode="auto">
              <a:xfrm>
                <a:off x="2976" y="350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latin typeface="Times New Roman" pitchFamily="18" charset="0"/>
                  </a:rPr>
                  <a:t>I</a:t>
                </a:r>
              </a:p>
            </p:txBody>
          </p:sp>
          <p:sp>
            <p:nvSpPr>
              <p:cNvPr id="37905" name="Line 18"/>
              <p:cNvSpPr>
                <a:spLocks noChangeShapeType="1"/>
              </p:cNvSpPr>
              <p:nvPr/>
            </p:nvSpPr>
            <p:spPr bwMode="auto">
              <a:xfrm flipH="1">
                <a:off x="187" y="1248"/>
                <a:ext cx="101" cy="336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06" name="Line 19"/>
              <p:cNvSpPr>
                <a:spLocks noChangeShapeType="1"/>
              </p:cNvSpPr>
              <p:nvPr/>
            </p:nvSpPr>
            <p:spPr bwMode="auto">
              <a:xfrm>
                <a:off x="336" y="1776"/>
                <a:ext cx="144" cy="38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07" name="Line 20"/>
              <p:cNvSpPr>
                <a:spLocks noChangeShapeType="1"/>
              </p:cNvSpPr>
              <p:nvPr/>
            </p:nvSpPr>
            <p:spPr bwMode="auto">
              <a:xfrm>
                <a:off x="624" y="1200"/>
                <a:ext cx="1152" cy="432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08" name="Line 21"/>
              <p:cNvSpPr>
                <a:spLocks noChangeShapeType="1"/>
              </p:cNvSpPr>
              <p:nvPr/>
            </p:nvSpPr>
            <p:spPr bwMode="auto">
              <a:xfrm flipH="1">
                <a:off x="1488" y="1824"/>
                <a:ext cx="336" cy="57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09" name="Line 22"/>
              <p:cNvSpPr>
                <a:spLocks noChangeShapeType="1"/>
              </p:cNvSpPr>
              <p:nvPr/>
            </p:nvSpPr>
            <p:spPr bwMode="auto">
              <a:xfrm flipH="1">
                <a:off x="856" y="2592"/>
                <a:ext cx="520" cy="62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10" name="Line 23"/>
              <p:cNvSpPr>
                <a:spLocks noChangeShapeType="1"/>
              </p:cNvSpPr>
              <p:nvPr/>
            </p:nvSpPr>
            <p:spPr bwMode="auto">
              <a:xfrm>
                <a:off x="1680" y="2640"/>
                <a:ext cx="312" cy="62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11" name="Line 24"/>
              <p:cNvSpPr>
                <a:spLocks noChangeShapeType="1"/>
              </p:cNvSpPr>
              <p:nvPr/>
            </p:nvSpPr>
            <p:spPr bwMode="auto">
              <a:xfrm>
                <a:off x="2064" y="1632"/>
                <a:ext cx="1632" cy="7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912" name="Line 25"/>
              <p:cNvSpPr>
                <a:spLocks noChangeShapeType="1"/>
              </p:cNvSpPr>
              <p:nvPr/>
            </p:nvSpPr>
            <p:spPr bwMode="auto">
              <a:xfrm flipV="1">
                <a:off x="3264" y="2592"/>
                <a:ext cx="384" cy="91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37893" name="Text Box 26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37894" name="Text Box 27"/>
          <p:cNvSpPr txBox="1">
            <a:spLocks noChangeArrowheads="1"/>
          </p:cNvSpPr>
          <p:nvPr/>
        </p:nvSpPr>
        <p:spPr bwMode="auto">
          <a:xfrm>
            <a:off x="6934200" y="26670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  Front       Rear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562600" y="1676400"/>
            <a:ext cx="2819400" cy="914400"/>
            <a:chOff x="3264" y="1056"/>
            <a:chExt cx="1776" cy="576"/>
          </a:xfrm>
        </p:grpSpPr>
        <p:sp>
          <p:nvSpPr>
            <p:cNvPr id="38935" name="Rectangle 3"/>
            <p:cNvSpPr>
              <a:spLocks noChangeArrowheads="1"/>
            </p:cNvSpPr>
            <p:nvPr/>
          </p:nvSpPr>
          <p:spPr bwMode="auto">
            <a:xfrm>
              <a:off x="4368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38936" name="Text Box 4"/>
            <p:cNvSpPr txBox="1">
              <a:spLocks noChangeArrowheads="1"/>
            </p:cNvSpPr>
            <p:nvPr/>
          </p:nvSpPr>
          <p:spPr bwMode="auto">
            <a:xfrm>
              <a:off x="3264" y="1056"/>
              <a:ext cx="1104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C</a:t>
              </a:r>
            </a:p>
          </p:txBody>
        </p:sp>
        <p:sp>
          <p:nvSpPr>
            <p:cNvPr id="38937" name="Rectangle 5"/>
            <p:cNvSpPr>
              <a:spLocks noChangeArrowheads="1"/>
            </p:cNvSpPr>
            <p:nvPr/>
          </p:nvSpPr>
          <p:spPr bwMode="auto">
            <a:xfrm>
              <a:off x="4704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0" y="1056"/>
            <a:chExt cx="3984" cy="2784"/>
          </a:xfrm>
        </p:grpSpPr>
        <p:sp>
          <p:nvSpPr>
            <p:cNvPr id="38918" name="Oval 7"/>
            <p:cNvSpPr>
              <a:spLocks noChangeArrowheads="1"/>
            </p:cNvSpPr>
            <p:nvPr/>
          </p:nvSpPr>
          <p:spPr bwMode="auto">
            <a:xfrm>
              <a:off x="3648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38919" name="Oval 8"/>
            <p:cNvSpPr>
              <a:spLocks noChangeArrowheads="1"/>
            </p:cNvSpPr>
            <p:nvPr/>
          </p:nvSpPr>
          <p:spPr bwMode="auto">
            <a:xfrm>
              <a:off x="288" y="105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8920" name="Oval 9"/>
            <p:cNvSpPr>
              <a:spLocks noChangeArrowheads="1"/>
            </p:cNvSpPr>
            <p:nvPr/>
          </p:nvSpPr>
          <p:spPr bwMode="auto">
            <a:xfrm>
              <a:off x="0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8921" name="Oval 10"/>
            <p:cNvSpPr>
              <a:spLocks noChangeArrowheads="1"/>
            </p:cNvSpPr>
            <p:nvPr/>
          </p:nvSpPr>
          <p:spPr bwMode="auto">
            <a:xfrm>
              <a:off x="336" y="216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8922" name="Oval 11"/>
            <p:cNvSpPr>
              <a:spLocks noChangeArrowheads="1"/>
            </p:cNvSpPr>
            <p:nvPr/>
          </p:nvSpPr>
          <p:spPr bwMode="auto">
            <a:xfrm>
              <a:off x="1728" y="153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8923" name="Oval 12"/>
            <p:cNvSpPr>
              <a:spLocks noChangeArrowheads="1"/>
            </p:cNvSpPr>
            <p:nvPr/>
          </p:nvSpPr>
          <p:spPr bwMode="auto">
            <a:xfrm>
              <a:off x="1392" y="235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8924" name="Oval 13"/>
            <p:cNvSpPr>
              <a:spLocks noChangeArrowheads="1"/>
            </p:cNvSpPr>
            <p:nvPr/>
          </p:nvSpPr>
          <p:spPr bwMode="auto">
            <a:xfrm>
              <a:off x="576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8925" name="Oval 14"/>
            <p:cNvSpPr>
              <a:spLocks noChangeArrowheads="1"/>
            </p:cNvSpPr>
            <p:nvPr/>
          </p:nvSpPr>
          <p:spPr bwMode="auto">
            <a:xfrm>
              <a:off x="1872" y="326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8926" name="Oval 15"/>
            <p:cNvSpPr>
              <a:spLocks noChangeArrowheads="1"/>
            </p:cNvSpPr>
            <p:nvPr/>
          </p:nvSpPr>
          <p:spPr bwMode="auto">
            <a:xfrm>
              <a:off x="2976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8927" name="Line 16"/>
            <p:cNvSpPr>
              <a:spLocks noChangeShapeType="1"/>
            </p:cNvSpPr>
            <p:nvPr/>
          </p:nvSpPr>
          <p:spPr bwMode="auto">
            <a:xfrm flipH="1">
              <a:off x="187" y="124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28" name="Line 17"/>
            <p:cNvSpPr>
              <a:spLocks noChangeShapeType="1"/>
            </p:cNvSpPr>
            <p:nvPr/>
          </p:nvSpPr>
          <p:spPr bwMode="auto">
            <a:xfrm>
              <a:off x="336" y="1776"/>
              <a:ext cx="144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29" name="Line 18"/>
            <p:cNvSpPr>
              <a:spLocks noChangeShapeType="1"/>
            </p:cNvSpPr>
            <p:nvPr/>
          </p:nvSpPr>
          <p:spPr bwMode="auto">
            <a:xfrm>
              <a:off x="624" y="120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0" name="Line 19"/>
            <p:cNvSpPr>
              <a:spLocks noChangeShapeType="1"/>
            </p:cNvSpPr>
            <p:nvPr/>
          </p:nvSpPr>
          <p:spPr bwMode="auto">
            <a:xfrm flipH="1">
              <a:off x="1488" y="1824"/>
              <a:ext cx="336" cy="5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1" name="Line 20"/>
            <p:cNvSpPr>
              <a:spLocks noChangeShapeType="1"/>
            </p:cNvSpPr>
            <p:nvPr/>
          </p:nvSpPr>
          <p:spPr bwMode="auto">
            <a:xfrm flipH="1">
              <a:off x="856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2" name="Line 21"/>
            <p:cNvSpPr>
              <a:spLocks noChangeShapeType="1"/>
            </p:cNvSpPr>
            <p:nvPr/>
          </p:nvSpPr>
          <p:spPr bwMode="auto">
            <a:xfrm>
              <a:off x="1680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3" name="Line 22"/>
            <p:cNvSpPr>
              <a:spLocks noChangeShapeType="1"/>
            </p:cNvSpPr>
            <p:nvPr/>
          </p:nvSpPr>
          <p:spPr bwMode="auto">
            <a:xfrm>
              <a:off x="2064" y="1632"/>
              <a:ext cx="1632" cy="7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4" name="Line 23"/>
            <p:cNvSpPr>
              <a:spLocks noChangeShapeType="1"/>
            </p:cNvSpPr>
            <p:nvPr/>
          </p:nvSpPr>
          <p:spPr bwMode="auto">
            <a:xfrm flipV="1">
              <a:off x="3264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8916" name="Text Box 24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</a:t>
            </a:r>
          </a:p>
        </p:txBody>
      </p:sp>
      <p:sp>
        <p:nvSpPr>
          <p:cNvPr id="38917" name="Rectangle 25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562600" y="1676400"/>
            <a:ext cx="2819400" cy="914400"/>
            <a:chOff x="3456" y="1104"/>
            <a:chExt cx="1776" cy="576"/>
          </a:xfrm>
        </p:grpSpPr>
        <p:sp>
          <p:nvSpPr>
            <p:cNvPr id="39959" name="Rectangle 4"/>
            <p:cNvSpPr>
              <a:spLocks noChangeArrowheads="1"/>
            </p:cNvSpPr>
            <p:nvPr/>
          </p:nvSpPr>
          <p:spPr bwMode="auto">
            <a:xfrm>
              <a:off x="4560" y="1392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9960" name="Text Box 5"/>
            <p:cNvSpPr txBox="1">
              <a:spLocks noChangeArrowheads="1"/>
            </p:cNvSpPr>
            <p:nvPr/>
          </p:nvSpPr>
          <p:spPr bwMode="auto">
            <a:xfrm>
              <a:off x="3456" y="1104"/>
              <a:ext cx="1104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Enqueu D</a:t>
              </a:r>
            </a:p>
          </p:txBody>
        </p:sp>
        <p:sp>
          <p:nvSpPr>
            <p:cNvPr id="39961" name="Rectangle 6"/>
            <p:cNvSpPr>
              <a:spLocks noChangeArrowheads="1"/>
            </p:cNvSpPr>
            <p:nvPr/>
          </p:nvSpPr>
          <p:spPr bwMode="auto">
            <a:xfrm>
              <a:off x="4896" y="1392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384" y="1056"/>
            <a:chExt cx="3984" cy="2784"/>
          </a:xfrm>
        </p:grpSpPr>
        <p:sp>
          <p:nvSpPr>
            <p:cNvPr id="39942" name="Oval 8"/>
            <p:cNvSpPr>
              <a:spLocks noChangeArrowheads="1"/>
            </p:cNvSpPr>
            <p:nvPr/>
          </p:nvSpPr>
          <p:spPr bwMode="auto">
            <a:xfrm>
              <a:off x="4032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39943" name="Oval 9"/>
            <p:cNvSpPr>
              <a:spLocks noChangeArrowheads="1"/>
            </p:cNvSpPr>
            <p:nvPr/>
          </p:nvSpPr>
          <p:spPr bwMode="auto">
            <a:xfrm>
              <a:off x="672" y="105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9944" name="Oval 10"/>
            <p:cNvSpPr>
              <a:spLocks noChangeArrowheads="1"/>
            </p:cNvSpPr>
            <p:nvPr/>
          </p:nvSpPr>
          <p:spPr bwMode="auto">
            <a:xfrm>
              <a:off x="384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9945" name="Oval 11"/>
            <p:cNvSpPr>
              <a:spLocks noChangeArrowheads="1"/>
            </p:cNvSpPr>
            <p:nvPr/>
          </p:nvSpPr>
          <p:spPr bwMode="auto">
            <a:xfrm>
              <a:off x="720" y="216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9946" name="Oval 12"/>
            <p:cNvSpPr>
              <a:spLocks noChangeArrowheads="1"/>
            </p:cNvSpPr>
            <p:nvPr/>
          </p:nvSpPr>
          <p:spPr bwMode="auto">
            <a:xfrm>
              <a:off x="2112" y="153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9947" name="Oval 13"/>
            <p:cNvSpPr>
              <a:spLocks noChangeArrowheads="1"/>
            </p:cNvSpPr>
            <p:nvPr/>
          </p:nvSpPr>
          <p:spPr bwMode="auto">
            <a:xfrm>
              <a:off x="1776" y="235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9948" name="Oval 14"/>
            <p:cNvSpPr>
              <a:spLocks noChangeArrowheads="1"/>
            </p:cNvSpPr>
            <p:nvPr/>
          </p:nvSpPr>
          <p:spPr bwMode="auto">
            <a:xfrm>
              <a:off x="960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9949" name="Oval 15"/>
            <p:cNvSpPr>
              <a:spLocks noChangeArrowheads="1"/>
            </p:cNvSpPr>
            <p:nvPr/>
          </p:nvSpPr>
          <p:spPr bwMode="auto">
            <a:xfrm>
              <a:off x="2256" y="326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9950" name="Oval 16"/>
            <p:cNvSpPr>
              <a:spLocks noChangeArrowheads="1"/>
            </p:cNvSpPr>
            <p:nvPr/>
          </p:nvSpPr>
          <p:spPr bwMode="auto">
            <a:xfrm>
              <a:off x="3360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9951" name="Line 17"/>
            <p:cNvSpPr>
              <a:spLocks noChangeShapeType="1"/>
            </p:cNvSpPr>
            <p:nvPr/>
          </p:nvSpPr>
          <p:spPr bwMode="auto">
            <a:xfrm flipH="1">
              <a:off x="571" y="124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2" name="Line 18"/>
            <p:cNvSpPr>
              <a:spLocks noChangeShapeType="1"/>
            </p:cNvSpPr>
            <p:nvPr/>
          </p:nvSpPr>
          <p:spPr bwMode="auto">
            <a:xfrm>
              <a:off x="720" y="1776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3" name="Line 19"/>
            <p:cNvSpPr>
              <a:spLocks noChangeShapeType="1"/>
            </p:cNvSpPr>
            <p:nvPr/>
          </p:nvSpPr>
          <p:spPr bwMode="auto">
            <a:xfrm>
              <a:off x="1008" y="120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4" name="Line 20"/>
            <p:cNvSpPr>
              <a:spLocks noChangeShapeType="1"/>
            </p:cNvSpPr>
            <p:nvPr/>
          </p:nvSpPr>
          <p:spPr bwMode="auto">
            <a:xfrm flipH="1">
              <a:off x="1872" y="1824"/>
              <a:ext cx="336" cy="5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5" name="Line 21"/>
            <p:cNvSpPr>
              <a:spLocks noChangeShapeType="1"/>
            </p:cNvSpPr>
            <p:nvPr/>
          </p:nvSpPr>
          <p:spPr bwMode="auto">
            <a:xfrm flipH="1">
              <a:off x="1240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6" name="Line 22"/>
            <p:cNvSpPr>
              <a:spLocks noChangeShapeType="1"/>
            </p:cNvSpPr>
            <p:nvPr/>
          </p:nvSpPr>
          <p:spPr bwMode="auto">
            <a:xfrm>
              <a:off x="2064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7" name="Line 23"/>
            <p:cNvSpPr>
              <a:spLocks noChangeShapeType="1"/>
            </p:cNvSpPr>
            <p:nvPr/>
          </p:nvSpPr>
          <p:spPr bwMode="auto">
            <a:xfrm>
              <a:off x="2448" y="1632"/>
              <a:ext cx="1632" cy="7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8" name="Line 24"/>
            <p:cNvSpPr>
              <a:spLocks noChangeShapeType="1"/>
            </p:cNvSpPr>
            <p:nvPr/>
          </p:nvSpPr>
          <p:spPr bwMode="auto">
            <a:xfrm flipV="1">
              <a:off x="3648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9941" name="Text Box 25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562600" y="1676400"/>
            <a:ext cx="2819400" cy="914400"/>
            <a:chOff x="3216" y="1056"/>
            <a:chExt cx="1776" cy="576"/>
          </a:xfrm>
        </p:grpSpPr>
        <p:sp>
          <p:nvSpPr>
            <p:cNvPr id="40983" name="Rectangle 4"/>
            <p:cNvSpPr>
              <a:spLocks noChangeArrowheads="1"/>
            </p:cNvSpPr>
            <p:nvPr/>
          </p:nvSpPr>
          <p:spPr bwMode="auto">
            <a:xfrm>
              <a:off x="4320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0984" name="Text Box 5"/>
            <p:cNvSpPr txBox="1">
              <a:spLocks noChangeArrowheads="1"/>
            </p:cNvSpPr>
            <p:nvPr/>
          </p:nvSpPr>
          <p:spPr bwMode="auto">
            <a:xfrm>
              <a:off x="3216" y="1056"/>
              <a:ext cx="1104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B</a:t>
              </a:r>
            </a:p>
          </p:txBody>
        </p:sp>
        <p:sp>
          <p:nvSpPr>
            <p:cNvPr id="40985" name="Rectangle 6"/>
            <p:cNvSpPr>
              <a:spLocks noChangeArrowheads="1"/>
            </p:cNvSpPr>
            <p:nvPr/>
          </p:nvSpPr>
          <p:spPr bwMode="auto">
            <a:xfrm>
              <a:off x="4656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384" y="1056"/>
            <a:chExt cx="3984" cy="2784"/>
          </a:xfrm>
        </p:grpSpPr>
        <p:sp>
          <p:nvSpPr>
            <p:cNvPr id="40966" name="Oval 8"/>
            <p:cNvSpPr>
              <a:spLocks noChangeArrowheads="1"/>
            </p:cNvSpPr>
            <p:nvPr/>
          </p:nvSpPr>
          <p:spPr bwMode="auto">
            <a:xfrm>
              <a:off x="4032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0967" name="Oval 9"/>
            <p:cNvSpPr>
              <a:spLocks noChangeArrowheads="1"/>
            </p:cNvSpPr>
            <p:nvPr/>
          </p:nvSpPr>
          <p:spPr bwMode="auto">
            <a:xfrm>
              <a:off x="672" y="105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0968" name="Oval 10"/>
            <p:cNvSpPr>
              <a:spLocks noChangeArrowheads="1"/>
            </p:cNvSpPr>
            <p:nvPr/>
          </p:nvSpPr>
          <p:spPr bwMode="auto">
            <a:xfrm>
              <a:off x="384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0969" name="Oval 11"/>
            <p:cNvSpPr>
              <a:spLocks noChangeArrowheads="1"/>
            </p:cNvSpPr>
            <p:nvPr/>
          </p:nvSpPr>
          <p:spPr bwMode="auto">
            <a:xfrm>
              <a:off x="720" y="216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0970" name="Oval 12"/>
            <p:cNvSpPr>
              <a:spLocks noChangeArrowheads="1"/>
            </p:cNvSpPr>
            <p:nvPr/>
          </p:nvSpPr>
          <p:spPr bwMode="auto">
            <a:xfrm>
              <a:off x="2112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0971" name="Oval 13"/>
            <p:cNvSpPr>
              <a:spLocks noChangeArrowheads="1"/>
            </p:cNvSpPr>
            <p:nvPr/>
          </p:nvSpPr>
          <p:spPr bwMode="auto">
            <a:xfrm>
              <a:off x="1776" y="235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0972" name="Oval 14"/>
            <p:cNvSpPr>
              <a:spLocks noChangeArrowheads="1"/>
            </p:cNvSpPr>
            <p:nvPr/>
          </p:nvSpPr>
          <p:spPr bwMode="auto">
            <a:xfrm>
              <a:off x="960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0973" name="Oval 15"/>
            <p:cNvSpPr>
              <a:spLocks noChangeArrowheads="1"/>
            </p:cNvSpPr>
            <p:nvPr/>
          </p:nvSpPr>
          <p:spPr bwMode="auto">
            <a:xfrm>
              <a:off x="2256" y="326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0974" name="Oval 16"/>
            <p:cNvSpPr>
              <a:spLocks noChangeArrowheads="1"/>
            </p:cNvSpPr>
            <p:nvPr/>
          </p:nvSpPr>
          <p:spPr bwMode="auto">
            <a:xfrm>
              <a:off x="3360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0975" name="Line 17"/>
            <p:cNvSpPr>
              <a:spLocks noChangeShapeType="1"/>
            </p:cNvSpPr>
            <p:nvPr/>
          </p:nvSpPr>
          <p:spPr bwMode="auto">
            <a:xfrm flipH="1">
              <a:off x="571" y="124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6" name="Line 18"/>
            <p:cNvSpPr>
              <a:spLocks noChangeShapeType="1"/>
            </p:cNvSpPr>
            <p:nvPr/>
          </p:nvSpPr>
          <p:spPr bwMode="auto">
            <a:xfrm>
              <a:off x="720" y="1776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7" name="Line 19"/>
            <p:cNvSpPr>
              <a:spLocks noChangeShapeType="1"/>
            </p:cNvSpPr>
            <p:nvPr/>
          </p:nvSpPr>
          <p:spPr bwMode="auto">
            <a:xfrm>
              <a:off x="1008" y="120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8" name="Line 20"/>
            <p:cNvSpPr>
              <a:spLocks noChangeShapeType="1"/>
            </p:cNvSpPr>
            <p:nvPr/>
          </p:nvSpPr>
          <p:spPr bwMode="auto">
            <a:xfrm flipH="1">
              <a:off x="1872" y="1824"/>
              <a:ext cx="336" cy="5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9" name="Line 21"/>
            <p:cNvSpPr>
              <a:spLocks noChangeShapeType="1"/>
            </p:cNvSpPr>
            <p:nvPr/>
          </p:nvSpPr>
          <p:spPr bwMode="auto">
            <a:xfrm flipH="1">
              <a:off x="1240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0" name="Line 22"/>
            <p:cNvSpPr>
              <a:spLocks noChangeShapeType="1"/>
            </p:cNvSpPr>
            <p:nvPr/>
          </p:nvSpPr>
          <p:spPr bwMode="auto">
            <a:xfrm>
              <a:off x="2064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1" name="Line 23"/>
            <p:cNvSpPr>
              <a:spLocks noChangeShapeType="1"/>
            </p:cNvSpPr>
            <p:nvPr/>
          </p:nvSpPr>
          <p:spPr bwMode="auto">
            <a:xfrm>
              <a:off x="2448" y="1632"/>
              <a:ext cx="1632" cy="7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2" name="Line 24"/>
            <p:cNvSpPr>
              <a:spLocks noChangeShapeType="1"/>
            </p:cNvSpPr>
            <p:nvPr/>
          </p:nvSpPr>
          <p:spPr bwMode="auto">
            <a:xfrm flipV="1">
              <a:off x="3648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0965" name="Text Box 25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784" y="1056"/>
            <a:chExt cx="2496" cy="576"/>
          </a:xfrm>
        </p:grpSpPr>
        <p:sp>
          <p:nvSpPr>
            <p:cNvPr id="42007" name="Rectangle 4"/>
            <p:cNvSpPr>
              <a:spLocks noChangeArrowheads="1"/>
            </p:cNvSpPr>
            <p:nvPr/>
          </p:nvSpPr>
          <p:spPr bwMode="auto">
            <a:xfrm>
              <a:off x="4272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2008" name="Text Box 5"/>
            <p:cNvSpPr txBox="1">
              <a:spLocks noChangeArrowheads="1"/>
            </p:cNvSpPr>
            <p:nvPr/>
          </p:nvSpPr>
          <p:spPr bwMode="auto">
            <a:xfrm>
              <a:off x="2784" y="1056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Enqueue E, H</a:t>
              </a:r>
            </a:p>
          </p:txBody>
        </p:sp>
        <p:sp>
          <p:nvSpPr>
            <p:cNvPr id="42009" name="Rectangle 6"/>
            <p:cNvSpPr>
              <a:spLocks noChangeArrowheads="1"/>
            </p:cNvSpPr>
            <p:nvPr/>
          </p:nvSpPr>
          <p:spPr bwMode="auto">
            <a:xfrm>
              <a:off x="4608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2010" name="Rectangle 7"/>
            <p:cNvSpPr>
              <a:spLocks noChangeArrowheads="1"/>
            </p:cNvSpPr>
            <p:nvPr/>
          </p:nvSpPr>
          <p:spPr bwMode="auto">
            <a:xfrm>
              <a:off x="4944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384" y="1056"/>
            <a:chExt cx="3984" cy="2784"/>
          </a:xfrm>
        </p:grpSpPr>
        <p:sp>
          <p:nvSpPr>
            <p:cNvPr id="41990" name="Oval 9"/>
            <p:cNvSpPr>
              <a:spLocks noChangeArrowheads="1"/>
            </p:cNvSpPr>
            <p:nvPr/>
          </p:nvSpPr>
          <p:spPr bwMode="auto">
            <a:xfrm>
              <a:off x="4032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1991" name="Oval 10"/>
            <p:cNvSpPr>
              <a:spLocks noChangeArrowheads="1"/>
            </p:cNvSpPr>
            <p:nvPr/>
          </p:nvSpPr>
          <p:spPr bwMode="auto">
            <a:xfrm>
              <a:off x="672" y="105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1992" name="Oval 11"/>
            <p:cNvSpPr>
              <a:spLocks noChangeArrowheads="1"/>
            </p:cNvSpPr>
            <p:nvPr/>
          </p:nvSpPr>
          <p:spPr bwMode="auto">
            <a:xfrm>
              <a:off x="384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1993" name="Oval 12"/>
            <p:cNvSpPr>
              <a:spLocks noChangeArrowheads="1"/>
            </p:cNvSpPr>
            <p:nvPr/>
          </p:nvSpPr>
          <p:spPr bwMode="auto">
            <a:xfrm>
              <a:off x="720" y="216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1994" name="Oval 13"/>
            <p:cNvSpPr>
              <a:spLocks noChangeArrowheads="1"/>
            </p:cNvSpPr>
            <p:nvPr/>
          </p:nvSpPr>
          <p:spPr bwMode="auto">
            <a:xfrm>
              <a:off x="2112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1995" name="Oval 14"/>
            <p:cNvSpPr>
              <a:spLocks noChangeArrowheads="1"/>
            </p:cNvSpPr>
            <p:nvPr/>
          </p:nvSpPr>
          <p:spPr bwMode="auto">
            <a:xfrm>
              <a:off x="1776" y="235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1996" name="Oval 15"/>
            <p:cNvSpPr>
              <a:spLocks noChangeArrowheads="1"/>
            </p:cNvSpPr>
            <p:nvPr/>
          </p:nvSpPr>
          <p:spPr bwMode="auto">
            <a:xfrm>
              <a:off x="960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1997" name="Oval 16"/>
            <p:cNvSpPr>
              <a:spLocks noChangeArrowheads="1"/>
            </p:cNvSpPr>
            <p:nvPr/>
          </p:nvSpPr>
          <p:spPr bwMode="auto">
            <a:xfrm>
              <a:off x="2256" y="326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1998" name="Oval 17"/>
            <p:cNvSpPr>
              <a:spLocks noChangeArrowheads="1"/>
            </p:cNvSpPr>
            <p:nvPr/>
          </p:nvSpPr>
          <p:spPr bwMode="auto">
            <a:xfrm>
              <a:off x="3360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1999" name="Line 18"/>
            <p:cNvSpPr>
              <a:spLocks noChangeShapeType="1"/>
            </p:cNvSpPr>
            <p:nvPr/>
          </p:nvSpPr>
          <p:spPr bwMode="auto">
            <a:xfrm flipH="1">
              <a:off x="571" y="124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0" name="Line 19"/>
            <p:cNvSpPr>
              <a:spLocks noChangeShapeType="1"/>
            </p:cNvSpPr>
            <p:nvPr/>
          </p:nvSpPr>
          <p:spPr bwMode="auto">
            <a:xfrm>
              <a:off x="720" y="1776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1" name="Line 20"/>
            <p:cNvSpPr>
              <a:spLocks noChangeShapeType="1"/>
            </p:cNvSpPr>
            <p:nvPr/>
          </p:nvSpPr>
          <p:spPr bwMode="auto">
            <a:xfrm>
              <a:off x="1008" y="120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2" name="Line 21"/>
            <p:cNvSpPr>
              <a:spLocks noChangeShapeType="1"/>
            </p:cNvSpPr>
            <p:nvPr/>
          </p:nvSpPr>
          <p:spPr bwMode="auto">
            <a:xfrm flipH="1">
              <a:off x="1872" y="1824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3" name="Line 22"/>
            <p:cNvSpPr>
              <a:spLocks noChangeShapeType="1"/>
            </p:cNvSpPr>
            <p:nvPr/>
          </p:nvSpPr>
          <p:spPr bwMode="auto">
            <a:xfrm flipH="1">
              <a:off x="1240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4" name="Line 23"/>
            <p:cNvSpPr>
              <a:spLocks noChangeShapeType="1"/>
            </p:cNvSpPr>
            <p:nvPr/>
          </p:nvSpPr>
          <p:spPr bwMode="auto">
            <a:xfrm>
              <a:off x="2064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5" name="Line 24"/>
            <p:cNvSpPr>
              <a:spLocks noChangeShapeType="1"/>
            </p:cNvSpPr>
            <p:nvPr/>
          </p:nvSpPr>
          <p:spPr bwMode="auto">
            <a:xfrm>
              <a:off x="2448" y="1632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06" name="Line 25"/>
            <p:cNvSpPr>
              <a:spLocks noChangeShapeType="1"/>
            </p:cNvSpPr>
            <p:nvPr/>
          </p:nvSpPr>
          <p:spPr bwMode="auto">
            <a:xfrm flipV="1">
              <a:off x="3648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1989" name="Text Box 26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736" y="1056"/>
            <a:chExt cx="2496" cy="576"/>
          </a:xfrm>
        </p:grpSpPr>
        <p:sp>
          <p:nvSpPr>
            <p:cNvPr id="43031" name="Rectangle 4"/>
            <p:cNvSpPr>
              <a:spLocks noChangeArrowheads="1"/>
            </p:cNvSpPr>
            <p:nvPr/>
          </p:nvSpPr>
          <p:spPr bwMode="auto">
            <a:xfrm>
              <a:off x="4224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3032" name="Text Box 5"/>
            <p:cNvSpPr txBox="1">
              <a:spLocks noChangeArrowheads="1"/>
            </p:cNvSpPr>
            <p:nvPr/>
          </p:nvSpPr>
          <p:spPr bwMode="auto">
            <a:xfrm>
              <a:off x="2736" y="1056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D</a:t>
              </a:r>
            </a:p>
          </p:txBody>
        </p:sp>
        <p:sp>
          <p:nvSpPr>
            <p:cNvPr id="43033" name="Rectangle 6"/>
            <p:cNvSpPr>
              <a:spLocks noChangeArrowheads="1"/>
            </p:cNvSpPr>
            <p:nvPr/>
          </p:nvSpPr>
          <p:spPr bwMode="auto">
            <a:xfrm>
              <a:off x="4560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3034" name="Rectangle 7"/>
            <p:cNvSpPr>
              <a:spLocks noChangeArrowheads="1"/>
            </p:cNvSpPr>
            <p:nvPr/>
          </p:nvSpPr>
          <p:spPr bwMode="auto">
            <a:xfrm>
              <a:off x="4896" y="1344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384" y="1056"/>
            <a:chExt cx="3984" cy="2784"/>
          </a:xfrm>
        </p:grpSpPr>
        <p:sp>
          <p:nvSpPr>
            <p:cNvPr id="43014" name="Oval 9"/>
            <p:cNvSpPr>
              <a:spLocks noChangeArrowheads="1"/>
            </p:cNvSpPr>
            <p:nvPr/>
          </p:nvSpPr>
          <p:spPr bwMode="auto">
            <a:xfrm>
              <a:off x="4032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3015" name="Oval 10"/>
            <p:cNvSpPr>
              <a:spLocks noChangeArrowheads="1"/>
            </p:cNvSpPr>
            <p:nvPr/>
          </p:nvSpPr>
          <p:spPr bwMode="auto">
            <a:xfrm>
              <a:off x="672" y="105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3016" name="Oval 11"/>
            <p:cNvSpPr>
              <a:spLocks noChangeArrowheads="1"/>
            </p:cNvSpPr>
            <p:nvPr/>
          </p:nvSpPr>
          <p:spPr bwMode="auto">
            <a:xfrm>
              <a:off x="384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3017" name="Oval 12"/>
            <p:cNvSpPr>
              <a:spLocks noChangeArrowheads="1"/>
            </p:cNvSpPr>
            <p:nvPr/>
          </p:nvSpPr>
          <p:spPr bwMode="auto">
            <a:xfrm>
              <a:off x="720" y="2160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3018" name="Oval 13"/>
            <p:cNvSpPr>
              <a:spLocks noChangeArrowheads="1"/>
            </p:cNvSpPr>
            <p:nvPr/>
          </p:nvSpPr>
          <p:spPr bwMode="auto">
            <a:xfrm>
              <a:off x="2112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3019" name="Oval 14"/>
            <p:cNvSpPr>
              <a:spLocks noChangeArrowheads="1"/>
            </p:cNvSpPr>
            <p:nvPr/>
          </p:nvSpPr>
          <p:spPr bwMode="auto">
            <a:xfrm>
              <a:off x="1776" y="235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3020" name="Oval 15"/>
            <p:cNvSpPr>
              <a:spLocks noChangeArrowheads="1"/>
            </p:cNvSpPr>
            <p:nvPr/>
          </p:nvSpPr>
          <p:spPr bwMode="auto">
            <a:xfrm>
              <a:off x="960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3021" name="Oval 16"/>
            <p:cNvSpPr>
              <a:spLocks noChangeArrowheads="1"/>
            </p:cNvSpPr>
            <p:nvPr/>
          </p:nvSpPr>
          <p:spPr bwMode="auto">
            <a:xfrm>
              <a:off x="2256" y="326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3022" name="Oval 17"/>
            <p:cNvSpPr>
              <a:spLocks noChangeArrowheads="1"/>
            </p:cNvSpPr>
            <p:nvPr/>
          </p:nvSpPr>
          <p:spPr bwMode="auto">
            <a:xfrm>
              <a:off x="3360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3023" name="Line 18"/>
            <p:cNvSpPr>
              <a:spLocks noChangeShapeType="1"/>
            </p:cNvSpPr>
            <p:nvPr/>
          </p:nvSpPr>
          <p:spPr bwMode="auto">
            <a:xfrm flipH="1">
              <a:off x="571" y="124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4" name="Line 19"/>
            <p:cNvSpPr>
              <a:spLocks noChangeShapeType="1"/>
            </p:cNvSpPr>
            <p:nvPr/>
          </p:nvSpPr>
          <p:spPr bwMode="auto">
            <a:xfrm>
              <a:off x="720" y="1776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5" name="Line 20"/>
            <p:cNvSpPr>
              <a:spLocks noChangeShapeType="1"/>
            </p:cNvSpPr>
            <p:nvPr/>
          </p:nvSpPr>
          <p:spPr bwMode="auto">
            <a:xfrm>
              <a:off x="1008" y="120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6" name="Line 21"/>
            <p:cNvSpPr>
              <a:spLocks noChangeShapeType="1"/>
            </p:cNvSpPr>
            <p:nvPr/>
          </p:nvSpPr>
          <p:spPr bwMode="auto">
            <a:xfrm flipH="1">
              <a:off x="1872" y="1824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7" name="Line 22"/>
            <p:cNvSpPr>
              <a:spLocks noChangeShapeType="1"/>
            </p:cNvSpPr>
            <p:nvPr/>
          </p:nvSpPr>
          <p:spPr bwMode="auto">
            <a:xfrm flipH="1">
              <a:off x="1240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8" name="Line 23"/>
            <p:cNvSpPr>
              <a:spLocks noChangeShapeType="1"/>
            </p:cNvSpPr>
            <p:nvPr/>
          </p:nvSpPr>
          <p:spPr bwMode="auto">
            <a:xfrm>
              <a:off x="2064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9" name="Line 24"/>
            <p:cNvSpPr>
              <a:spLocks noChangeShapeType="1"/>
            </p:cNvSpPr>
            <p:nvPr/>
          </p:nvSpPr>
          <p:spPr bwMode="auto">
            <a:xfrm>
              <a:off x="2448" y="1632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30" name="Line 25"/>
            <p:cNvSpPr>
              <a:spLocks noChangeShapeType="1"/>
            </p:cNvSpPr>
            <p:nvPr/>
          </p:nvSpPr>
          <p:spPr bwMode="auto">
            <a:xfrm flipV="1">
              <a:off x="3648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3013" name="Text Box 26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784" y="1008"/>
            <a:chExt cx="2496" cy="576"/>
          </a:xfrm>
        </p:grpSpPr>
        <p:sp>
          <p:nvSpPr>
            <p:cNvPr id="44055" name="Rectangle 4"/>
            <p:cNvSpPr>
              <a:spLocks noChangeArrowheads="1"/>
            </p:cNvSpPr>
            <p:nvPr/>
          </p:nvSpPr>
          <p:spPr bwMode="auto">
            <a:xfrm>
              <a:off x="4272" y="1296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4056" name="Text Box 5"/>
            <p:cNvSpPr txBox="1">
              <a:spLocks noChangeArrowheads="1"/>
            </p:cNvSpPr>
            <p:nvPr/>
          </p:nvSpPr>
          <p:spPr bwMode="auto">
            <a:xfrm>
              <a:off x="2784" y="1008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E</a:t>
              </a:r>
            </a:p>
          </p:txBody>
        </p:sp>
        <p:sp>
          <p:nvSpPr>
            <p:cNvPr id="44057" name="Rectangle 6"/>
            <p:cNvSpPr>
              <a:spLocks noChangeArrowheads="1"/>
            </p:cNvSpPr>
            <p:nvPr/>
          </p:nvSpPr>
          <p:spPr bwMode="auto">
            <a:xfrm>
              <a:off x="4608" y="1296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4058" name="Rectangle 7"/>
            <p:cNvSpPr>
              <a:spLocks noChangeArrowheads="1"/>
            </p:cNvSpPr>
            <p:nvPr/>
          </p:nvSpPr>
          <p:spPr bwMode="auto">
            <a:xfrm>
              <a:off x="4944" y="1296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240" y="1056"/>
            <a:chExt cx="3984" cy="2784"/>
          </a:xfrm>
        </p:grpSpPr>
        <p:sp>
          <p:nvSpPr>
            <p:cNvPr id="44038" name="Oval 9"/>
            <p:cNvSpPr>
              <a:spLocks noChangeArrowheads="1"/>
            </p:cNvSpPr>
            <p:nvPr/>
          </p:nvSpPr>
          <p:spPr bwMode="auto">
            <a:xfrm>
              <a:off x="3888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4039" name="Oval 10"/>
            <p:cNvSpPr>
              <a:spLocks noChangeArrowheads="1"/>
            </p:cNvSpPr>
            <p:nvPr/>
          </p:nvSpPr>
          <p:spPr bwMode="auto">
            <a:xfrm>
              <a:off x="528" y="105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4040" name="Oval 11"/>
            <p:cNvSpPr>
              <a:spLocks noChangeArrowheads="1"/>
            </p:cNvSpPr>
            <p:nvPr/>
          </p:nvSpPr>
          <p:spPr bwMode="auto">
            <a:xfrm>
              <a:off x="240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4041" name="Oval 12"/>
            <p:cNvSpPr>
              <a:spLocks noChangeArrowheads="1"/>
            </p:cNvSpPr>
            <p:nvPr/>
          </p:nvSpPr>
          <p:spPr bwMode="auto">
            <a:xfrm>
              <a:off x="576" y="2160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4042" name="Oval 13"/>
            <p:cNvSpPr>
              <a:spLocks noChangeArrowheads="1"/>
            </p:cNvSpPr>
            <p:nvPr/>
          </p:nvSpPr>
          <p:spPr bwMode="auto">
            <a:xfrm>
              <a:off x="1968" y="153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4043" name="Oval 14"/>
            <p:cNvSpPr>
              <a:spLocks noChangeArrowheads="1"/>
            </p:cNvSpPr>
            <p:nvPr/>
          </p:nvSpPr>
          <p:spPr bwMode="auto">
            <a:xfrm>
              <a:off x="1632" y="235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4044" name="Oval 15"/>
            <p:cNvSpPr>
              <a:spLocks noChangeArrowheads="1"/>
            </p:cNvSpPr>
            <p:nvPr/>
          </p:nvSpPr>
          <p:spPr bwMode="auto">
            <a:xfrm>
              <a:off x="816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4045" name="Oval 16"/>
            <p:cNvSpPr>
              <a:spLocks noChangeArrowheads="1"/>
            </p:cNvSpPr>
            <p:nvPr/>
          </p:nvSpPr>
          <p:spPr bwMode="auto">
            <a:xfrm>
              <a:off x="2112" y="326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4046" name="Oval 17"/>
            <p:cNvSpPr>
              <a:spLocks noChangeArrowheads="1"/>
            </p:cNvSpPr>
            <p:nvPr/>
          </p:nvSpPr>
          <p:spPr bwMode="auto">
            <a:xfrm>
              <a:off x="3216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4047" name="Line 18"/>
            <p:cNvSpPr>
              <a:spLocks noChangeShapeType="1"/>
            </p:cNvSpPr>
            <p:nvPr/>
          </p:nvSpPr>
          <p:spPr bwMode="auto">
            <a:xfrm flipH="1">
              <a:off x="427" y="124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48" name="Line 19"/>
            <p:cNvSpPr>
              <a:spLocks noChangeShapeType="1"/>
            </p:cNvSpPr>
            <p:nvPr/>
          </p:nvSpPr>
          <p:spPr bwMode="auto">
            <a:xfrm>
              <a:off x="576" y="1776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49" name="Line 20"/>
            <p:cNvSpPr>
              <a:spLocks noChangeShapeType="1"/>
            </p:cNvSpPr>
            <p:nvPr/>
          </p:nvSpPr>
          <p:spPr bwMode="auto">
            <a:xfrm>
              <a:off x="864" y="120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0" name="Line 21"/>
            <p:cNvSpPr>
              <a:spLocks noChangeShapeType="1"/>
            </p:cNvSpPr>
            <p:nvPr/>
          </p:nvSpPr>
          <p:spPr bwMode="auto">
            <a:xfrm flipH="1">
              <a:off x="1728" y="1824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1" name="Line 22"/>
            <p:cNvSpPr>
              <a:spLocks noChangeShapeType="1"/>
            </p:cNvSpPr>
            <p:nvPr/>
          </p:nvSpPr>
          <p:spPr bwMode="auto">
            <a:xfrm flipH="1">
              <a:off x="1096" y="2592"/>
              <a:ext cx="520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2" name="Line 23"/>
            <p:cNvSpPr>
              <a:spLocks noChangeShapeType="1"/>
            </p:cNvSpPr>
            <p:nvPr/>
          </p:nvSpPr>
          <p:spPr bwMode="auto">
            <a:xfrm>
              <a:off x="1920" y="2640"/>
              <a:ext cx="312" cy="6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3" name="Line 24"/>
            <p:cNvSpPr>
              <a:spLocks noChangeShapeType="1"/>
            </p:cNvSpPr>
            <p:nvPr/>
          </p:nvSpPr>
          <p:spPr bwMode="auto">
            <a:xfrm>
              <a:off x="2304" y="1632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4" name="Line 25"/>
            <p:cNvSpPr>
              <a:spLocks noChangeShapeType="1"/>
            </p:cNvSpPr>
            <p:nvPr/>
          </p:nvSpPr>
          <p:spPr bwMode="auto">
            <a:xfrm flipV="1">
              <a:off x="3504" y="259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4037" name="Text Box 26"/>
          <p:cNvSpPr txBox="1">
            <a:spLocks noChangeArrowheads="1"/>
          </p:cNvSpPr>
          <p:nvPr/>
        </p:nvSpPr>
        <p:spPr bwMode="auto">
          <a:xfrm>
            <a:off x="914400" y="6010275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784" y="1104"/>
            <a:chExt cx="2496" cy="576"/>
          </a:xfrm>
        </p:grpSpPr>
        <p:sp>
          <p:nvSpPr>
            <p:cNvPr id="45079" name="Text Box 4"/>
            <p:cNvSpPr txBox="1">
              <a:spLocks noChangeArrowheads="1"/>
            </p:cNvSpPr>
            <p:nvPr/>
          </p:nvSpPr>
          <p:spPr bwMode="auto">
            <a:xfrm>
              <a:off x="2784" y="1104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Enqueue F, G</a:t>
              </a:r>
            </a:p>
          </p:txBody>
        </p:sp>
        <p:sp>
          <p:nvSpPr>
            <p:cNvPr id="45080" name="Rectangle 5"/>
            <p:cNvSpPr>
              <a:spLocks noChangeArrowheads="1"/>
            </p:cNvSpPr>
            <p:nvPr/>
          </p:nvSpPr>
          <p:spPr bwMode="auto">
            <a:xfrm>
              <a:off x="4272" y="1392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5081" name="Rectangle 6"/>
            <p:cNvSpPr>
              <a:spLocks noChangeArrowheads="1"/>
            </p:cNvSpPr>
            <p:nvPr/>
          </p:nvSpPr>
          <p:spPr bwMode="auto">
            <a:xfrm>
              <a:off x="4608" y="1392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5082" name="Rectangle 7"/>
            <p:cNvSpPr>
              <a:spLocks noChangeArrowheads="1"/>
            </p:cNvSpPr>
            <p:nvPr/>
          </p:nvSpPr>
          <p:spPr bwMode="auto">
            <a:xfrm>
              <a:off x="4944" y="1392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192" y="1296"/>
            <a:chExt cx="3984" cy="2784"/>
          </a:xfrm>
        </p:grpSpPr>
        <p:sp>
          <p:nvSpPr>
            <p:cNvPr id="45062" name="Oval 9"/>
            <p:cNvSpPr>
              <a:spLocks noChangeArrowheads="1"/>
            </p:cNvSpPr>
            <p:nvPr/>
          </p:nvSpPr>
          <p:spPr bwMode="auto">
            <a:xfrm>
              <a:off x="3840" y="264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5063" name="Oval 10"/>
            <p:cNvSpPr>
              <a:spLocks noChangeArrowheads="1"/>
            </p:cNvSpPr>
            <p:nvPr/>
          </p:nvSpPr>
          <p:spPr bwMode="auto">
            <a:xfrm>
              <a:off x="480" y="129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5064" name="Oval 11"/>
            <p:cNvSpPr>
              <a:spLocks noChangeArrowheads="1"/>
            </p:cNvSpPr>
            <p:nvPr/>
          </p:nvSpPr>
          <p:spPr bwMode="auto">
            <a:xfrm>
              <a:off x="192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5065" name="Oval 12"/>
            <p:cNvSpPr>
              <a:spLocks noChangeArrowheads="1"/>
            </p:cNvSpPr>
            <p:nvPr/>
          </p:nvSpPr>
          <p:spPr bwMode="auto">
            <a:xfrm>
              <a:off x="528" y="2400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5066" name="Oval 13"/>
            <p:cNvSpPr>
              <a:spLocks noChangeArrowheads="1"/>
            </p:cNvSpPr>
            <p:nvPr/>
          </p:nvSpPr>
          <p:spPr bwMode="auto">
            <a:xfrm>
              <a:off x="1920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5067" name="Oval 14"/>
            <p:cNvSpPr>
              <a:spLocks noChangeArrowheads="1"/>
            </p:cNvSpPr>
            <p:nvPr/>
          </p:nvSpPr>
          <p:spPr bwMode="auto">
            <a:xfrm>
              <a:off x="1584" y="259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5068" name="Oval 15"/>
            <p:cNvSpPr>
              <a:spLocks noChangeArrowheads="1"/>
            </p:cNvSpPr>
            <p:nvPr/>
          </p:nvSpPr>
          <p:spPr bwMode="auto">
            <a:xfrm>
              <a:off x="768" y="340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5069" name="Oval 16"/>
            <p:cNvSpPr>
              <a:spLocks noChangeArrowheads="1"/>
            </p:cNvSpPr>
            <p:nvPr/>
          </p:nvSpPr>
          <p:spPr bwMode="auto">
            <a:xfrm>
              <a:off x="2064" y="350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5070" name="Oval 17"/>
            <p:cNvSpPr>
              <a:spLocks noChangeArrowheads="1"/>
            </p:cNvSpPr>
            <p:nvPr/>
          </p:nvSpPr>
          <p:spPr bwMode="auto">
            <a:xfrm>
              <a:off x="3168" y="3744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5071" name="Line 18"/>
            <p:cNvSpPr>
              <a:spLocks noChangeShapeType="1"/>
            </p:cNvSpPr>
            <p:nvPr/>
          </p:nvSpPr>
          <p:spPr bwMode="auto">
            <a:xfrm flipH="1">
              <a:off x="379" y="1488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2" name="Line 19"/>
            <p:cNvSpPr>
              <a:spLocks noChangeShapeType="1"/>
            </p:cNvSpPr>
            <p:nvPr/>
          </p:nvSpPr>
          <p:spPr bwMode="auto">
            <a:xfrm>
              <a:off x="528" y="2016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3" name="Line 20"/>
            <p:cNvSpPr>
              <a:spLocks noChangeShapeType="1"/>
            </p:cNvSpPr>
            <p:nvPr/>
          </p:nvSpPr>
          <p:spPr bwMode="auto">
            <a:xfrm>
              <a:off x="816" y="1440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4" name="Line 21"/>
            <p:cNvSpPr>
              <a:spLocks noChangeShapeType="1"/>
            </p:cNvSpPr>
            <p:nvPr/>
          </p:nvSpPr>
          <p:spPr bwMode="auto">
            <a:xfrm flipH="1">
              <a:off x="1680" y="2064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5" name="Line 22"/>
            <p:cNvSpPr>
              <a:spLocks noChangeShapeType="1"/>
            </p:cNvSpPr>
            <p:nvPr/>
          </p:nvSpPr>
          <p:spPr bwMode="auto">
            <a:xfrm flipH="1">
              <a:off x="1048" y="2832"/>
              <a:ext cx="520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6" name="Line 23"/>
            <p:cNvSpPr>
              <a:spLocks noChangeShapeType="1"/>
            </p:cNvSpPr>
            <p:nvPr/>
          </p:nvSpPr>
          <p:spPr bwMode="auto">
            <a:xfrm>
              <a:off x="1872" y="2880"/>
              <a:ext cx="312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7" name="Line 24"/>
            <p:cNvSpPr>
              <a:spLocks noChangeShapeType="1"/>
            </p:cNvSpPr>
            <p:nvPr/>
          </p:nvSpPr>
          <p:spPr bwMode="auto">
            <a:xfrm>
              <a:off x="2256" y="1872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8" name="Line 25"/>
            <p:cNvSpPr>
              <a:spLocks noChangeShapeType="1"/>
            </p:cNvSpPr>
            <p:nvPr/>
          </p:nvSpPr>
          <p:spPr bwMode="auto">
            <a:xfrm flipV="1">
              <a:off x="3456" y="2832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5061" name="Text Box 26"/>
          <p:cNvSpPr txBox="1">
            <a:spLocks noChangeArrowheads="1"/>
          </p:cNvSpPr>
          <p:nvPr/>
        </p:nvSpPr>
        <p:spPr bwMode="auto">
          <a:xfrm>
            <a:off x="914400" y="6010275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784" y="1152"/>
            <a:chExt cx="2496" cy="576"/>
          </a:xfrm>
        </p:grpSpPr>
        <p:sp>
          <p:nvSpPr>
            <p:cNvPr id="46103" name="Text Box 4"/>
            <p:cNvSpPr txBox="1">
              <a:spLocks noChangeArrowheads="1"/>
            </p:cNvSpPr>
            <p:nvPr/>
          </p:nvSpPr>
          <p:spPr bwMode="auto">
            <a:xfrm>
              <a:off x="2784" y="1152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H</a:t>
              </a:r>
            </a:p>
          </p:txBody>
        </p:sp>
        <p:sp>
          <p:nvSpPr>
            <p:cNvPr id="46104" name="Rectangle 5"/>
            <p:cNvSpPr>
              <a:spLocks noChangeArrowheads="1"/>
            </p:cNvSpPr>
            <p:nvPr/>
          </p:nvSpPr>
          <p:spPr bwMode="auto">
            <a:xfrm>
              <a:off x="4272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6105" name="Rectangle 6"/>
            <p:cNvSpPr>
              <a:spLocks noChangeArrowheads="1"/>
            </p:cNvSpPr>
            <p:nvPr/>
          </p:nvSpPr>
          <p:spPr bwMode="auto">
            <a:xfrm>
              <a:off x="4608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6106" name="Rectangle 7"/>
            <p:cNvSpPr>
              <a:spLocks noChangeArrowheads="1"/>
            </p:cNvSpPr>
            <p:nvPr/>
          </p:nvSpPr>
          <p:spPr bwMode="auto">
            <a:xfrm>
              <a:off x="4944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192" y="1008"/>
            <a:chExt cx="3984" cy="2784"/>
          </a:xfrm>
        </p:grpSpPr>
        <p:sp>
          <p:nvSpPr>
            <p:cNvPr id="46086" name="Oval 9"/>
            <p:cNvSpPr>
              <a:spLocks noChangeArrowheads="1"/>
            </p:cNvSpPr>
            <p:nvPr/>
          </p:nvSpPr>
          <p:spPr bwMode="auto">
            <a:xfrm>
              <a:off x="3840" y="235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6087" name="Oval 10"/>
            <p:cNvSpPr>
              <a:spLocks noChangeArrowheads="1"/>
            </p:cNvSpPr>
            <p:nvPr/>
          </p:nvSpPr>
          <p:spPr bwMode="auto">
            <a:xfrm>
              <a:off x="480" y="100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6088" name="Oval 11"/>
            <p:cNvSpPr>
              <a:spLocks noChangeArrowheads="1"/>
            </p:cNvSpPr>
            <p:nvPr/>
          </p:nvSpPr>
          <p:spPr bwMode="auto">
            <a:xfrm>
              <a:off x="192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6089" name="Oval 12"/>
            <p:cNvSpPr>
              <a:spLocks noChangeArrowheads="1"/>
            </p:cNvSpPr>
            <p:nvPr/>
          </p:nvSpPr>
          <p:spPr bwMode="auto">
            <a:xfrm>
              <a:off x="528" y="211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6090" name="Oval 13"/>
            <p:cNvSpPr>
              <a:spLocks noChangeArrowheads="1"/>
            </p:cNvSpPr>
            <p:nvPr/>
          </p:nvSpPr>
          <p:spPr bwMode="auto">
            <a:xfrm>
              <a:off x="1920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6091" name="Oval 14"/>
            <p:cNvSpPr>
              <a:spLocks noChangeArrowheads="1"/>
            </p:cNvSpPr>
            <p:nvPr/>
          </p:nvSpPr>
          <p:spPr bwMode="auto">
            <a:xfrm>
              <a:off x="1584" y="2304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6092" name="Oval 15"/>
            <p:cNvSpPr>
              <a:spLocks noChangeArrowheads="1"/>
            </p:cNvSpPr>
            <p:nvPr/>
          </p:nvSpPr>
          <p:spPr bwMode="auto">
            <a:xfrm>
              <a:off x="768" y="312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6093" name="Oval 16"/>
            <p:cNvSpPr>
              <a:spLocks noChangeArrowheads="1"/>
            </p:cNvSpPr>
            <p:nvPr/>
          </p:nvSpPr>
          <p:spPr bwMode="auto">
            <a:xfrm>
              <a:off x="2064" y="321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6094" name="Oval 17"/>
            <p:cNvSpPr>
              <a:spLocks noChangeArrowheads="1"/>
            </p:cNvSpPr>
            <p:nvPr/>
          </p:nvSpPr>
          <p:spPr bwMode="auto">
            <a:xfrm>
              <a:off x="3168" y="345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6095" name="Line 18"/>
            <p:cNvSpPr>
              <a:spLocks noChangeShapeType="1"/>
            </p:cNvSpPr>
            <p:nvPr/>
          </p:nvSpPr>
          <p:spPr bwMode="auto">
            <a:xfrm flipH="1">
              <a:off x="379" y="1200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6" name="Line 19"/>
            <p:cNvSpPr>
              <a:spLocks noChangeShapeType="1"/>
            </p:cNvSpPr>
            <p:nvPr/>
          </p:nvSpPr>
          <p:spPr bwMode="auto">
            <a:xfrm>
              <a:off x="528" y="1728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7" name="Line 20"/>
            <p:cNvSpPr>
              <a:spLocks noChangeShapeType="1"/>
            </p:cNvSpPr>
            <p:nvPr/>
          </p:nvSpPr>
          <p:spPr bwMode="auto">
            <a:xfrm>
              <a:off x="816" y="1152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8" name="Line 21"/>
            <p:cNvSpPr>
              <a:spLocks noChangeShapeType="1"/>
            </p:cNvSpPr>
            <p:nvPr/>
          </p:nvSpPr>
          <p:spPr bwMode="auto">
            <a:xfrm flipH="1">
              <a:off x="1680" y="1776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9" name="Line 22"/>
            <p:cNvSpPr>
              <a:spLocks noChangeShapeType="1"/>
            </p:cNvSpPr>
            <p:nvPr/>
          </p:nvSpPr>
          <p:spPr bwMode="auto">
            <a:xfrm flipH="1">
              <a:off x="1048" y="2544"/>
              <a:ext cx="520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0" name="Line 23"/>
            <p:cNvSpPr>
              <a:spLocks noChangeShapeType="1"/>
            </p:cNvSpPr>
            <p:nvPr/>
          </p:nvSpPr>
          <p:spPr bwMode="auto">
            <a:xfrm>
              <a:off x="1872" y="2592"/>
              <a:ext cx="312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1" name="Line 24"/>
            <p:cNvSpPr>
              <a:spLocks noChangeShapeType="1"/>
            </p:cNvSpPr>
            <p:nvPr/>
          </p:nvSpPr>
          <p:spPr bwMode="auto">
            <a:xfrm>
              <a:off x="2256" y="1584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2" name="Line 25"/>
            <p:cNvSpPr>
              <a:spLocks noChangeShapeType="1"/>
            </p:cNvSpPr>
            <p:nvPr/>
          </p:nvSpPr>
          <p:spPr bwMode="auto">
            <a:xfrm flipV="1">
              <a:off x="3456" y="2544"/>
              <a:ext cx="384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6085" name="Text Box 26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688" y="1152"/>
            <a:chExt cx="2496" cy="576"/>
          </a:xfrm>
        </p:grpSpPr>
        <p:sp>
          <p:nvSpPr>
            <p:cNvPr id="47127" name="Rectangle 4"/>
            <p:cNvSpPr>
              <a:spLocks noChangeArrowheads="1"/>
            </p:cNvSpPr>
            <p:nvPr/>
          </p:nvSpPr>
          <p:spPr bwMode="auto">
            <a:xfrm>
              <a:off x="4848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7128" name="Text Box 5"/>
            <p:cNvSpPr txBox="1">
              <a:spLocks noChangeArrowheads="1"/>
            </p:cNvSpPr>
            <p:nvPr/>
          </p:nvSpPr>
          <p:spPr bwMode="auto">
            <a:xfrm>
              <a:off x="2688" y="1152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Enqueue I</a:t>
              </a:r>
            </a:p>
          </p:txBody>
        </p:sp>
        <p:sp>
          <p:nvSpPr>
            <p:cNvPr id="47129" name="Rectangle 6"/>
            <p:cNvSpPr>
              <a:spLocks noChangeArrowheads="1"/>
            </p:cNvSpPr>
            <p:nvPr/>
          </p:nvSpPr>
          <p:spPr bwMode="auto">
            <a:xfrm>
              <a:off x="4176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7130" name="Rectangle 7"/>
            <p:cNvSpPr>
              <a:spLocks noChangeArrowheads="1"/>
            </p:cNvSpPr>
            <p:nvPr/>
          </p:nvSpPr>
          <p:spPr bwMode="auto">
            <a:xfrm>
              <a:off x="4512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192" y="1008"/>
            <a:chExt cx="3984" cy="2784"/>
          </a:xfrm>
        </p:grpSpPr>
        <p:sp>
          <p:nvSpPr>
            <p:cNvPr id="47110" name="Oval 9"/>
            <p:cNvSpPr>
              <a:spLocks noChangeArrowheads="1"/>
            </p:cNvSpPr>
            <p:nvPr/>
          </p:nvSpPr>
          <p:spPr bwMode="auto">
            <a:xfrm>
              <a:off x="3840" y="235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7111" name="Oval 10"/>
            <p:cNvSpPr>
              <a:spLocks noChangeArrowheads="1"/>
            </p:cNvSpPr>
            <p:nvPr/>
          </p:nvSpPr>
          <p:spPr bwMode="auto">
            <a:xfrm>
              <a:off x="480" y="100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7112" name="Oval 11"/>
            <p:cNvSpPr>
              <a:spLocks noChangeArrowheads="1"/>
            </p:cNvSpPr>
            <p:nvPr/>
          </p:nvSpPr>
          <p:spPr bwMode="auto">
            <a:xfrm>
              <a:off x="192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7113" name="Oval 12"/>
            <p:cNvSpPr>
              <a:spLocks noChangeArrowheads="1"/>
            </p:cNvSpPr>
            <p:nvPr/>
          </p:nvSpPr>
          <p:spPr bwMode="auto">
            <a:xfrm>
              <a:off x="528" y="211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7114" name="Oval 13"/>
            <p:cNvSpPr>
              <a:spLocks noChangeArrowheads="1"/>
            </p:cNvSpPr>
            <p:nvPr/>
          </p:nvSpPr>
          <p:spPr bwMode="auto">
            <a:xfrm>
              <a:off x="1920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7115" name="Oval 14"/>
            <p:cNvSpPr>
              <a:spLocks noChangeArrowheads="1"/>
            </p:cNvSpPr>
            <p:nvPr/>
          </p:nvSpPr>
          <p:spPr bwMode="auto">
            <a:xfrm>
              <a:off x="1584" y="2304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7116" name="Oval 15"/>
            <p:cNvSpPr>
              <a:spLocks noChangeArrowheads="1"/>
            </p:cNvSpPr>
            <p:nvPr/>
          </p:nvSpPr>
          <p:spPr bwMode="auto">
            <a:xfrm>
              <a:off x="768" y="3120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7117" name="Oval 16"/>
            <p:cNvSpPr>
              <a:spLocks noChangeArrowheads="1"/>
            </p:cNvSpPr>
            <p:nvPr/>
          </p:nvSpPr>
          <p:spPr bwMode="auto">
            <a:xfrm>
              <a:off x="2064" y="321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7118" name="Oval 17"/>
            <p:cNvSpPr>
              <a:spLocks noChangeArrowheads="1"/>
            </p:cNvSpPr>
            <p:nvPr/>
          </p:nvSpPr>
          <p:spPr bwMode="auto">
            <a:xfrm>
              <a:off x="3168" y="345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7119" name="Line 18"/>
            <p:cNvSpPr>
              <a:spLocks noChangeShapeType="1"/>
            </p:cNvSpPr>
            <p:nvPr/>
          </p:nvSpPr>
          <p:spPr bwMode="auto">
            <a:xfrm flipH="1">
              <a:off x="379" y="1200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0" name="Line 19"/>
            <p:cNvSpPr>
              <a:spLocks noChangeShapeType="1"/>
            </p:cNvSpPr>
            <p:nvPr/>
          </p:nvSpPr>
          <p:spPr bwMode="auto">
            <a:xfrm>
              <a:off x="528" y="1728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1" name="Line 20"/>
            <p:cNvSpPr>
              <a:spLocks noChangeShapeType="1"/>
            </p:cNvSpPr>
            <p:nvPr/>
          </p:nvSpPr>
          <p:spPr bwMode="auto">
            <a:xfrm>
              <a:off x="816" y="1152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2" name="Line 21"/>
            <p:cNvSpPr>
              <a:spLocks noChangeShapeType="1"/>
            </p:cNvSpPr>
            <p:nvPr/>
          </p:nvSpPr>
          <p:spPr bwMode="auto">
            <a:xfrm flipH="1">
              <a:off x="1680" y="1776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3" name="Line 22"/>
            <p:cNvSpPr>
              <a:spLocks noChangeShapeType="1"/>
            </p:cNvSpPr>
            <p:nvPr/>
          </p:nvSpPr>
          <p:spPr bwMode="auto">
            <a:xfrm flipH="1">
              <a:off x="1048" y="2544"/>
              <a:ext cx="520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4" name="Line 23"/>
            <p:cNvSpPr>
              <a:spLocks noChangeShapeType="1"/>
            </p:cNvSpPr>
            <p:nvPr/>
          </p:nvSpPr>
          <p:spPr bwMode="auto">
            <a:xfrm>
              <a:off x="1872" y="2592"/>
              <a:ext cx="312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5" name="Line 24"/>
            <p:cNvSpPr>
              <a:spLocks noChangeShapeType="1"/>
            </p:cNvSpPr>
            <p:nvPr/>
          </p:nvSpPr>
          <p:spPr bwMode="auto">
            <a:xfrm>
              <a:off x="2256" y="1584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6" name="Line 25"/>
            <p:cNvSpPr>
              <a:spLocks noChangeShapeType="1"/>
            </p:cNvSpPr>
            <p:nvPr/>
          </p:nvSpPr>
          <p:spPr bwMode="auto">
            <a:xfrm flipV="1">
              <a:off x="3456" y="2544"/>
              <a:ext cx="384" cy="91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7109" name="Text Box 26"/>
          <p:cNvSpPr txBox="1">
            <a:spLocks noChangeArrowheads="1"/>
          </p:cNvSpPr>
          <p:nvPr/>
        </p:nvSpPr>
        <p:spPr bwMode="auto">
          <a:xfrm>
            <a:off x="9144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192" y="1008"/>
            <a:chExt cx="3984" cy="2784"/>
          </a:xfrm>
        </p:grpSpPr>
        <p:sp>
          <p:nvSpPr>
            <p:cNvPr id="48138" name="Oval 4"/>
            <p:cNvSpPr>
              <a:spLocks noChangeArrowheads="1"/>
            </p:cNvSpPr>
            <p:nvPr/>
          </p:nvSpPr>
          <p:spPr bwMode="auto">
            <a:xfrm>
              <a:off x="3840" y="235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8139" name="Oval 5"/>
            <p:cNvSpPr>
              <a:spLocks noChangeArrowheads="1"/>
            </p:cNvSpPr>
            <p:nvPr/>
          </p:nvSpPr>
          <p:spPr bwMode="auto">
            <a:xfrm>
              <a:off x="480" y="100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8140" name="Oval 6"/>
            <p:cNvSpPr>
              <a:spLocks noChangeArrowheads="1"/>
            </p:cNvSpPr>
            <p:nvPr/>
          </p:nvSpPr>
          <p:spPr bwMode="auto">
            <a:xfrm>
              <a:off x="192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8141" name="Oval 7"/>
            <p:cNvSpPr>
              <a:spLocks noChangeArrowheads="1"/>
            </p:cNvSpPr>
            <p:nvPr/>
          </p:nvSpPr>
          <p:spPr bwMode="auto">
            <a:xfrm>
              <a:off x="528" y="211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8142" name="Oval 8"/>
            <p:cNvSpPr>
              <a:spLocks noChangeArrowheads="1"/>
            </p:cNvSpPr>
            <p:nvPr/>
          </p:nvSpPr>
          <p:spPr bwMode="auto">
            <a:xfrm>
              <a:off x="1920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8143" name="Oval 9"/>
            <p:cNvSpPr>
              <a:spLocks noChangeArrowheads="1"/>
            </p:cNvSpPr>
            <p:nvPr/>
          </p:nvSpPr>
          <p:spPr bwMode="auto">
            <a:xfrm>
              <a:off x="1584" y="2304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8144" name="Oval 10"/>
            <p:cNvSpPr>
              <a:spLocks noChangeArrowheads="1"/>
            </p:cNvSpPr>
            <p:nvPr/>
          </p:nvSpPr>
          <p:spPr bwMode="auto">
            <a:xfrm>
              <a:off x="768" y="3120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8145" name="Oval 11"/>
            <p:cNvSpPr>
              <a:spLocks noChangeArrowheads="1"/>
            </p:cNvSpPr>
            <p:nvPr/>
          </p:nvSpPr>
          <p:spPr bwMode="auto">
            <a:xfrm>
              <a:off x="2064" y="321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8146" name="Oval 12"/>
            <p:cNvSpPr>
              <a:spLocks noChangeArrowheads="1"/>
            </p:cNvSpPr>
            <p:nvPr/>
          </p:nvSpPr>
          <p:spPr bwMode="auto">
            <a:xfrm>
              <a:off x="3168" y="345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8147" name="Line 13"/>
            <p:cNvSpPr>
              <a:spLocks noChangeShapeType="1"/>
            </p:cNvSpPr>
            <p:nvPr/>
          </p:nvSpPr>
          <p:spPr bwMode="auto">
            <a:xfrm flipH="1">
              <a:off x="379" y="1200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48" name="Line 14"/>
            <p:cNvSpPr>
              <a:spLocks noChangeShapeType="1"/>
            </p:cNvSpPr>
            <p:nvPr/>
          </p:nvSpPr>
          <p:spPr bwMode="auto">
            <a:xfrm>
              <a:off x="528" y="1728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49" name="Line 15"/>
            <p:cNvSpPr>
              <a:spLocks noChangeShapeType="1"/>
            </p:cNvSpPr>
            <p:nvPr/>
          </p:nvSpPr>
          <p:spPr bwMode="auto">
            <a:xfrm>
              <a:off x="816" y="1152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50" name="Line 16"/>
            <p:cNvSpPr>
              <a:spLocks noChangeShapeType="1"/>
            </p:cNvSpPr>
            <p:nvPr/>
          </p:nvSpPr>
          <p:spPr bwMode="auto">
            <a:xfrm flipH="1">
              <a:off x="1680" y="1776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51" name="Line 17"/>
            <p:cNvSpPr>
              <a:spLocks noChangeShapeType="1"/>
            </p:cNvSpPr>
            <p:nvPr/>
          </p:nvSpPr>
          <p:spPr bwMode="auto">
            <a:xfrm flipH="1">
              <a:off x="1048" y="2544"/>
              <a:ext cx="520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52" name="Line 18"/>
            <p:cNvSpPr>
              <a:spLocks noChangeShapeType="1"/>
            </p:cNvSpPr>
            <p:nvPr/>
          </p:nvSpPr>
          <p:spPr bwMode="auto">
            <a:xfrm>
              <a:off x="1872" y="2592"/>
              <a:ext cx="312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53" name="Line 19"/>
            <p:cNvSpPr>
              <a:spLocks noChangeShapeType="1"/>
            </p:cNvSpPr>
            <p:nvPr/>
          </p:nvSpPr>
          <p:spPr bwMode="auto">
            <a:xfrm>
              <a:off x="2256" y="1584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154" name="Line 20"/>
            <p:cNvSpPr>
              <a:spLocks noChangeShapeType="1"/>
            </p:cNvSpPr>
            <p:nvPr/>
          </p:nvSpPr>
          <p:spPr bwMode="auto">
            <a:xfrm flipV="1">
              <a:off x="3456" y="2544"/>
              <a:ext cx="384" cy="91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688" y="1152"/>
            <a:chExt cx="2496" cy="576"/>
          </a:xfrm>
        </p:grpSpPr>
        <p:sp>
          <p:nvSpPr>
            <p:cNvPr id="48134" name="Rectangle 22"/>
            <p:cNvSpPr>
              <a:spLocks noChangeArrowheads="1"/>
            </p:cNvSpPr>
            <p:nvPr/>
          </p:nvSpPr>
          <p:spPr bwMode="auto">
            <a:xfrm>
              <a:off x="4848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8135" name="Text Box 23"/>
            <p:cNvSpPr txBox="1">
              <a:spLocks noChangeArrowheads="1"/>
            </p:cNvSpPr>
            <p:nvPr/>
          </p:nvSpPr>
          <p:spPr bwMode="auto">
            <a:xfrm>
              <a:off x="2688" y="1152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F</a:t>
              </a:r>
            </a:p>
          </p:txBody>
        </p:sp>
        <p:sp>
          <p:nvSpPr>
            <p:cNvPr id="48136" name="Rectangle 24"/>
            <p:cNvSpPr>
              <a:spLocks noChangeArrowheads="1"/>
            </p:cNvSpPr>
            <p:nvPr/>
          </p:nvSpPr>
          <p:spPr bwMode="auto">
            <a:xfrm>
              <a:off x="4176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8137" name="Rectangle 25"/>
            <p:cNvSpPr>
              <a:spLocks noChangeArrowheads="1"/>
            </p:cNvSpPr>
            <p:nvPr/>
          </p:nvSpPr>
          <p:spPr bwMode="auto">
            <a:xfrm>
              <a:off x="4512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</p:grpSp>
      <p:sp>
        <p:nvSpPr>
          <p:cNvPr id="48133" name="Text Box 26"/>
          <p:cNvSpPr txBox="1">
            <a:spLocks noChangeArrowheads="1"/>
          </p:cNvSpPr>
          <p:nvPr/>
        </p:nvSpPr>
        <p:spPr bwMode="auto">
          <a:xfrm>
            <a:off x="838200" y="6019800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ACBDEHF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9600" y="1676400"/>
            <a:ext cx="6324600" cy="4419600"/>
            <a:chOff x="192" y="1008"/>
            <a:chExt cx="3984" cy="2784"/>
          </a:xfrm>
        </p:grpSpPr>
        <p:sp>
          <p:nvSpPr>
            <p:cNvPr id="49162" name="Oval 4"/>
            <p:cNvSpPr>
              <a:spLocks noChangeArrowheads="1"/>
            </p:cNvSpPr>
            <p:nvPr/>
          </p:nvSpPr>
          <p:spPr bwMode="auto">
            <a:xfrm>
              <a:off x="3840" y="235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9163" name="Oval 5"/>
            <p:cNvSpPr>
              <a:spLocks noChangeArrowheads="1"/>
            </p:cNvSpPr>
            <p:nvPr/>
          </p:nvSpPr>
          <p:spPr bwMode="auto">
            <a:xfrm>
              <a:off x="480" y="100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9164" name="Oval 6"/>
            <p:cNvSpPr>
              <a:spLocks noChangeArrowheads="1"/>
            </p:cNvSpPr>
            <p:nvPr/>
          </p:nvSpPr>
          <p:spPr bwMode="auto">
            <a:xfrm>
              <a:off x="192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49165" name="Oval 7"/>
            <p:cNvSpPr>
              <a:spLocks noChangeArrowheads="1"/>
            </p:cNvSpPr>
            <p:nvPr/>
          </p:nvSpPr>
          <p:spPr bwMode="auto">
            <a:xfrm>
              <a:off x="528" y="2112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49166" name="Oval 8"/>
            <p:cNvSpPr>
              <a:spLocks noChangeArrowheads="1"/>
            </p:cNvSpPr>
            <p:nvPr/>
          </p:nvSpPr>
          <p:spPr bwMode="auto">
            <a:xfrm>
              <a:off x="1920" y="1488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9167" name="Oval 9"/>
            <p:cNvSpPr>
              <a:spLocks noChangeArrowheads="1"/>
            </p:cNvSpPr>
            <p:nvPr/>
          </p:nvSpPr>
          <p:spPr bwMode="auto">
            <a:xfrm>
              <a:off x="1584" y="2304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9168" name="Oval 10"/>
            <p:cNvSpPr>
              <a:spLocks noChangeArrowheads="1"/>
            </p:cNvSpPr>
            <p:nvPr/>
          </p:nvSpPr>
          <p:spPr bwMode="auto">
            <a:xfrm>
              <a:off x="768" y="3120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9169" name="Oval 11"/>
            <p:cNvSpPr>
              <a:spLocks noChangeArrowheads="1"/>
            </p:cNvSpPr>
            <p:nvPr/>
          </p:nvSpPr>
          <p:spPr bwMode="auto">
            <a:xfrm>
              <a:off x="2064" y="3216"/>
              <a:ext cx="336" cy="336"/>
            </a:xfrm>
            <a:prstGeom prst="ellipse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9170" name="Oval 12"/>
            <p:cNvSpPr>
              <a:spLocks noChangeArrowheads="1"/>
            </p:cNvSpPr>
            <p:nvPr/>
          </p:nvSpPr>
          <p:spPr bwMode="auto">
            <a:xfrm>
              <a:off x="3168" y="3456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9171" name="Line 13"/>
            <p:cNvSpPr>
              <a:spLocks noChangeShapeType="1"/>
            </p:cNvSpPr>
            <p:nvPr/>
          </p:nvSpPr>
          <p:spPr bwMode="auto">
            <a:xfrm flipH="1">
              <a:off x="379" y="1200"/>
              <a:ext cx="101" cy="33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2" name="Line 14"/>
            <p:cNvSpPr>
              <a:spLocks noChangeShapeType="1"/>
            </p:cNvSpPr>
            <p:nvPr/>
          </p:nvSpPr>
          <p:spPr bwMode="auto">
            <a:xfrm>
              <a:off x="528" y="1728"/>
              <a:ext cx="144" cy="38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3" name="Line 15"/>
            <p:cNvSpPr>
              <a:spLocks noChangeShapeType="1"/>
            </p:cNvSpPr>
            <p:nvPr/>
          </p:nvSpPr>
          <p:spPr bwMode="auto">
            <a:xfrm>
              <a:off x="816" y="1152"/>
              <a:ext cx="1152" cy="43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4" name="Line 16"/>
            <p:cNvSpPr>
              <a:spLocks noChangeShapeType="1"/>
            </p:cNvSpPr>
            <p:nvPr/>
          </p:nvSpPr>
          <p:spPr bwMode="auto">
            <a:xfrm flipH="1">
              <a:off x="1680" y="1776"/>
              <a:ext cx="336" cy="576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5" name="Line 17"/>
            <p:cNvSpPr>
              <a:spLocks noChangeShapeType="1"/>
            </p:cNvSpPr>
            <p:nvPr/>
          </p:nvSpPr>
          <p:spPr bwMode="auto">
            <a:xfrm flipH="1">
              <a:off x="1048" y="2544"/>
              <a:ext cx="520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6" name="Line 18"/>
            <p:cNvSpPr>
              <a:spLocks noChangeShapeType="1"/>
            </p:cNvSpPr>
            <p:nvPr/>
          </p:nvSpPr>
          <p:spPr bwMode="auto">
            <a:xfrm>
              <a:off x="1872" y="2592"/>
              <a:ext cx="312" cy="624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7" name="Line 19"/>
            <p:cNvSpPr>
              <a:spLocks noChangeShapeType="1"/>
            </p:cNvSpPr>
            <p:nvPr/>
          </p:nvSpPr>
          <p:spPr bwMode="auto">
            <a:xfrm>
              <a:off x="2256" y="1584"/>
              <a:ext cx="1632" cy="791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178" name="Line 20"/>
            <p:cNvSpPr>
              <a:spLocks noChangeShapeType="1"/>
            </p:cNvSpPr>
            <p:nvPr/>
          </p:nvSpPr>
          <p:spPr bwMode="auto">
            <a:xfrm flipV="1">
              <a:off x="3456" y="2544"/>
              <a:ext cx="384" cy="912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688" y="1152"/>
            <a:chExt cx="2496" cy="576"/>
          </a:xfrm>
        </p:grpSpPr>
        <p:sp>
          <p:nvSpPr>
            <p:cNvPr id="49158" name="Rectangle 22"/>
            <p:cNvSpPr>
              <a:spLocks noChangeArrowheads="1"/>
            </p:cNvSpPr>
            <p:nvPr/>
          </p:nvSpPr>
          <p:spPr bwMode="auto">
            <a:xfrm>
              <a:off x="4848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49159" name="Text Box 23"/>
            <p:cNvSpPr txBox="1">
              <a:spLocks noChangeArrowheads="1"/>
            </p:cNvSpPr>
            <p:nvPr/>
          </p:nvSpPr>
          <p:spPr bwMode="auto">
            <a:xfrm>
              <a:off x="2688" y="1152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G</a:t>
              </a:r>
            </a:p>
          </p:txBody>
        </p:sp>
        <p:sp>
          <p:nvSpPr>
            <p:cNvPr id="49160" name="Rectangle 24"/>
            <p:cNvSpPr>
              <a:spLocks noChangeArrowheads="1"/>
            </p:cNvSpPr>
            <p:nvPr/>
          </p:nvSpPr>
          <p:spPr bwMode="auto">
            <a:xfrm>
              <a:off x="4176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49161" name="Rectangle 25"/>
            <p:cNvSpPr>
              <a:spLocks noChangeArrowheads="1"/>
            </p:cNvSpPr>
            <p:nvPr/>
          </p:nvSpPr>
          <p:spPr bwMode="auto">
            <a:xfrm>
              <a:off x="4512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</p:grpSp>
      <p:sp>
        <p:nvSpPr>
          <p:cNvPr id="49157" name="Text Box 26"/>
          <p:cNvSpPr txBox="1">
            <a:spLocks noChangeArrowheads="1"/>
          </p:cNvSpPr>
          <p:nvPr/>
        </p:nvSpPr>
        <p:spPr bwMode="auto">
          <a:xfrm>
            <a:off x="762000" y="6010275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ACBDEHFG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Breadth First Traversal Example</a:t>
            </a:r>
          </a:p>
        </p:txBody>
      </p:sp>
      <p:sp>
        <p:nvSpPr>
          <p:cNvPr id="50179" name="Oval 3"/>
          <p:cNvSpPr>
            <a:spLocks noChangeArrowheads="1"/>
          </p:cNvSpPr>
          <p:nvPr/>
        </p:nvSpPr>
        <p:spPr bwMode="auto">
          <a:xfrm>
            <a:off x="6400800" y="38100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H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1066800" y="16764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A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609600" y="24384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C</a:t>
            </a: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1143000" y="34290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D</a:t>
            </a:r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3352800" y="24384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B</a:t>
            </a:r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2819400" y="37338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E</a:t>
            </a:r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1524000" y="50292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F</a:t>
            </a:r>
          </a:p>
        </p:txBody>
      </p:sp>
      <p:sp>
        <p:nvSpPr>
          <p:cNvPr id="50186" name="Oval 10"/>
          <p:cNvSpPr>
            <a:spLocks noChangeArrowheads="1"/>
          </p:cNvSpPr>
          <p:nvPr/>
        </p:nvSpPr>
        <p:spPr bwMode="auto">
          <a:xfrm>
            <a:off x="3581400" y="51816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G</a:t>
            </a:r>
          </a:p>
        </p:txBody>
      </p:sp>
      <p:sp>
        <p:nvSpPr>
          <p:cNvPr id="50187" name="Oval 11"/>
          <p:cNvSpPr>
            <a:spLocks noChangeArrowheads="1"/>
          </p:cNvSpPr>
          <p:nvPr/>
        </p:nvSpPr>
        <p:spPr bwMode="auto">
          <a:xfrm>
            <a:off x="5334000" y="5562600"/>
            <a:ext cx="533400" cy="533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Times New Roman" pitchFamily="18" charset="0"/>
              </a:rPr>
              <a:t>I</a:t>
            </a:r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 flipH="1">
            <a:off x="906463" y="1981200"/>
            <a:ext cx="160337" cy="5334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1143000" y="2819400"/>
            <a:ext cx="228600" cy="6096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>
            <a:off x="1600200" y="1905000"/>
            <a:ext cx="1828800" cy="6858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 flipH="1">
            <a:off x="2971800" y="2895600"/>
            <a:ext cx="533400" cy="9144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 flipH="1">
            <a:off x="1968500" y="4114800"/>
            <a:ext cx="825500" cy="9906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>
            <a:off x="3276600" y="4191000"/>
            <a:ext cx="495300" cy="9906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>
            <a:off x="3886200" y="2590800"/>
            <a:ext cx="2590800" cy="1255713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 flipV="1">
            <a:off x="5791200" y="4114800"/>
            <a:ext cx="609600" cy="14478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419600" y="1676400"/>
            <a:ext cx="3962400" cy="914400"/>
            <a:chOff x="2688" y="1152"/>
            <a:chExt cx="2496" cy="576"/>
          </a:xfrm>
        </p:grpSpPr>
        <p:sp>
          <p:nvSpPr>
            <p:cNvPr id="50198" name="Rectangle 21"/>
            <p:cNvSpPr>
              <a:spLocks noChangeArrowheads="1"/>
            </p:cNvSpPr>
            <p:nvPr/>
          </p:nvSpPr>
          <p:spPr bwMode="auto">
            <a:xfrm>
              <a:off x="4848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50199" name="Text Box 22"/>
            <p:cNvSpPr txBox="1">
              <a:spLocks noChangeArrowheads="1"/>
            </p:cNvSpPr>
            <p:nvPr/>
          </p:nvSpPr>
          <p:spPr bwMode="auto">
            <a:xfrm>
              <a:off x="2688" y="1152"/>
              <a:ext cx="1488" cy="29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Dqueue I</a:t>
              </a:r>
            </a:p>
          </p:txBody>
        </p:sp>
        <p:sp>
          <p:nvSpPr>
            <p:cNvPr id="50200" name="Rectangle 23"/>
            <p:cNvSpPr>
              <a:spLocks noChangeArrowheads="1"/>
            </p:cNvSpPr>
            <p:nvPr/>
          </p:nvSpPr>
          <p:spPr bwMode="auto">
            <a:xfrm>
              <a:off x="4176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50201" name="Rectangle 24"/>
            <p:cNvSpPr>
              <a:spLocks noChangeArrowheads="1"/>
            </p:cNvSpPr>
            <p:nvPr/>
          </p:nvSpPr>
          <p:spPr bwMode="auto">
            <a:xfrm>
              <a:off x="4512" y="1440"/>
              <a:ext cx="33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b="1">
                <a:latin typeface="Times New Roman" pitchFamily="18" charset="0"/>
              </a:endParaRPr>
            </a:p>
          </p:txBody>
        </p:sp>
      </p:grpSp>
      <p:sp>
        <p:nvSpPr>
          <p:cNvPr id="50197" name="Text Box 25"/>
          <p:cNvSpPr txBox="1">
            <a:spLocks noChangeArrowheads="1"/>
          </p:cNvSpPr>
          <p:nvPr/>
        </p:nvSpPr>
        <p:spPr bwMode="auto">
          <a:xfrm>
            <a:off x="762000" y="6010275"/>
            <a:ext cx="2895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ACBDEHFGI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Binary Trees Traversals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76400"/>
            <a:ext cx="8001000" cy="4146550"/>
          </a:xfrm>
        </p:spPr>
        <p:txBody>
          <a:bodyPr>
            <a:normAutofit fontScale="92500" lnSpcReduction="20000"/>
          </a:bodyPr>
          <a:lstStyle/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700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void BT::</a:t>
            </a:r>
            <a:r>
              <a:rPr lang="en-US" sz="2400" dirty="0" err="1">
                <a:latin typeface="Times New Roman" pitchFamily="18" charset="0"/>
              </a:rPr>
              <a:t>breadthFirst</a:t>
            </a:r>
            <a:r>
              <a:rPr lang="en-US" sz="2400" dirty="0">
                <a:latin typeface="Times New Roman" pitchFamily="18" charset="0"/>
              </a:rPr>
              <a:t>()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{ 	Queue </a:t>
            </a:r>
            <a:r>
              <a:rPr lang="en-US" sz="2400" dirty="0" err="1">
                <a:latin typeface="Times New Roman" pitchFamily="18" charset="0"/>
              </a:rPr>
              <a:t>queue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</a:t>
            </a:r>
            <a:r>
              <a:rPr lang="en-US" sz="2400" dirty="0" err="1">
                <a:latin typeface="Times New Roman" pitchFamily="18" charset="0"/>
              </a:rPr>
              <a:t>BTNode</a:t>
            </a:r>
            <a:r>
              <a:rPr lang="en-US" sz="2400" dirty="0">
                <a:latin typeface="Times New Roman" pitchFamily="18" charset="0"/>
              </a:rPr>
              <a:t> *p = root;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if(p != </a:t>
            </a:r>
            <a:r>
              <a:rPr lang="en-US" sz="2400" dirty="0" smtClean="0">
                <a:latin typeface="Times New Roman" pitchFamily="18" charset="0"/>
              </a:rPr>
              <a:t>NULL)</a:t>
            </a:r>
            <a:endParaRPr lang="en-US" sz="2400" dirty="0">
              <a:latin typeface="Times New Roman" pitchFamily="18" charset="0"/>
            </a:endParaRP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{	</a:t>
            </a:r>
            <a:r>
              <a:rPr lang="en-US" sz="2400" dirty="0" err="1">
                <a:latin typeface="Times New Roman" pitchFamily="18" charset="0"/>
              </a:rPr>
              <a:t>queue.enqueue</a:t>
            </a:r>
            <a:r>
              <a:rPr lang="en-US" sz="2400" dirty="0">
                <a:latin typeface="Times New Roman" pitchFamily="18" charset="0"/>
              </a:rPr>
              <a:t>(p);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	while(!</a:t>
            </a:r>
            <a:r>
              <a:rPr lang="en-US" sz="2400" dirty="0" err="1">
                <a:latin typeface="Times New Roman" pitchFamily="18" charset="0"/>
              </a:rPr>
              <a:t>queue.empty</a:t>
            </a:r>
            <a:r>
              <a:rPr lang="en-US" sz="2400" dirty="0">
                <a:latin typeface="Times New Roman" pitchFamily="18" charset="0"/>
              </a:rPr>
              <a:t>())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	{	p = </a:t>
            </a:r>
            <a:r>
              <a:rPr lang="en-US" sz="2400" dirty="0" err="1">
                <a:latin typeface="Times New Roman" pitchFamily="18" charset="0"/>
              </a:rPr>
              <a:t>queue.dequeue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		</a:t>
            </a:r>
            <a:r>
              <a:rPr lang="en-US" sz="2400" dirty="0" err="1">
                <a:latin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</a:rPr>
              <a:t>&lt;&lt;p-&gt;key;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		if(p -&gt; left != 0)	</a:t>
            </a:r>
            <a:r>
              <a:rPr lang="en-US" sz="2400" dirty="0" err="1">
                <a:latin typeface="Times New Roman" pitchFamily="18" charset="0"/>
              </a:rPr>
              <a:t>queue.enqueue</a:t>
            </a:r>
            <a:r>
              <a:rPr lang="en-US" sz="2400" dirty="0">
                <a:latin typeface="Times New Roman" pitchFamily="18" charset="0"/>
              </a:rPr>
              <a:t>(p-&gt;left);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		if(p -&gt; right != 0)	</a:t>
            </a:r>
            <a:r>
              <a:rPr lang="en-US" sz="2400" dirty="0" err="1">
                <a:latin typeface="Times New Roman" pitchFamily="18" charset="0"/>
              </a:rPr>
              <a:t>queue.enqueue</a:t>
            </a:r>
            <a:r>
              <a:rPr lang="en-US" sz="2400" dirty="0">
                <a:latin typeface="Times New Roman" pitchFamily="18" charset="0"/>
              </a:rPr>
              <a:t>(p-&gt;right);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	}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Traverse the following tree in Breadth-First order.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0" y="2438400"/>
            <a:ext cx="2514600" cy="3886200"/>
            <a:chOff x="3792" y="1584"/>
            <a:chExt cx="1584" cy="2448"/>
          </a:xfrm>
        </p:grpSpPr>
        <p:sp>
          <p:nvSpPr>
            <p:cNvPr id="52229" name="Oval 5"/>
            <p:cNvSpPr>
              <a:spLocks noChangeArrowheads="1"/>
            </p:cNvSpPr>
            <p:nvPr/>
          </p:nvSpPr>
          <p:spPr bwMode="auto">
            <a:xfrm>
              <a:off x="4272" y="2448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2230" name="Oval 6"/>
            <p:cNvSpPr>
              <a:spLocks noChangeArrowheads="1"/>
            </p:cNvSpPr>
            <p:nvPr/>
          </p:nvSpPr>
          <p:spPr bwMode="auto">
            <a:xfrm>
              <a:off x="4272" y="1584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2231" name="Line 7"/>
            <p:cNvSpPr>
              <a:spLocks noChangeShapeType="1"/>
            </p:cNvSpPr>
            <p:nvPr/>
          </p:nvSpPr>
          <p:spPr bwMode="auto">
            <a:xfrm flipH="1">
              <a:off x="3888" y="2208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32" name="Line 8"/>
            <p:cNvSpPr>
              <a:spLocks noChangeShapeType="1"/>
            </p:cNvSpPr>
            <p:nvPr/>
          </p:nvSpPr>
          <p:spPr bwMode="auto">
            <a:xfrm>
              <a:off x="4272" y="2256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33" name="Oval 9"/>
            <p:cNvSpPr>
              <a:spLocks noChangeArrowheads="1"/>
            </p:cNvSpPr>
            <p:nvPr/>
          </p:nvSpPr>
          <p:spPr bwMode="auto">
            <a:xfrm>
              <a:off x="4032" y="206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2234" name="Oval 10"/>
            <p:cNvSpPr>
              <a:spLocks noChangeArrowheads="1"/>
            </p:cNvSpPr>
            <p:nvPr/>
          </p:nvSpPr>
          <p:spPr bwMode="auto">
            <a:xfrm>
              <a:off x="4560" y="273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52235" name="Oval 11"/>
            <p:cNvSpPr>
              <a:spLocks noChangeArrowheads="1"/>
            </p:cNvSpPr>
            <p:nvPr/>
          </p:nvSpPr>
          <p:spPr bwMode="auto">
            <a:xfrm>
              <a:off x="4800" y="235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2236" name="Line 12"/>
            <p:cNvSpPr>
              <a:spLocks noChangeShapeType="1"/>
            </p:cNvSpPr>
            <p:nvPr/>
          </p:nvSpPr>
          <p:spPr bwMode="auto">
            <a:xfrm flipH="1">
              <a:off x="4176" y="177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37" name="Line 13"/>
            <p:cNvSpPr>
              <a:spLocks noChangeShapeType="1"/>
            </p:cNvSpPr>
            <p:nvPr/>
          </p:nvSpPr>
          <p:spPr bwMode="auto">
            <a:xfrm>
              <a:off x="4560" y="1776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38" name="Oval 14"/>
            <p:cNvSpPr>
              <a:spLocks noChangeArrowheads="1"/>
            </p:cNvSpPr>
            <p:nvPr/>
          </p:nvSpPr>
          <p:spPr bwMode="auto">
            <a:xfrm>
              <a:off x="3792" y="2496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2239" name="Line 15"/>
            <p:cNvSpPr>
              <a:spLocks noChangeShapeType="1"/>
            </p:cNvSpPr>
            <p:nvPr/>
          </p:nvSpPr>
          <p:spPr bwMode="auto">
            <a:xfrm flipH="1">
              <a:off x="4704" y="2544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40" name="Oval 16"/>
            <p:cNvSpPr>
              <a:spLocks noChangeArrowheads="1"/>
            </p:cNvSpPr>
            <p:nvPr/>
          </p:nvSpPr>
          <p:spPr bwMode="auto">
            <a:xfrm>
              <a:off x="5088" y="283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>
              <a:off x="5040" y="2592"/>
              <a:ext cx="1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42" name="Line 18"/>
            <p:cNvSpPr>
              <a:spLocks noChangeShapeType="1"/>
            </p:cNvSpPr>
            <p:nvPr/>
          </p:nvSpPr>
          <p:spPr bwMode="auto">
            <a:xfrm>
              <a:off x="5136" y="3504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43" name="Oval 19"/>
            <p:cNvSpPr>
              <a:spLocks noChangeArrowheads="1"/>
            </p:cNvSpPr>
            <p:nvPr/>
          </p:nvSpPr>
          <p:spPr bwMode="auto">
            <a:xfrm>
              <a:off x="5136" y="374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52244" name="Oval 20"/>
            <p:cNvSpPr>
              <a:spLocks noChangeArrowheads="1"/>
            </p:cNvSpPr>
            <p:nvPr/>
          </p:nvSpPr>
          <p:spPr bwMode="auto">
            <a:xfrm>
              <a:off x="4896" y="326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52245" name="Line 21"/>
            <p:cNvSpPr>
              <a:spLocks noChangeShapeType="1"/>
            </p:cNvSpPr>
            <p:nvPr/>
          </p:nvSpPr>
          <p:spPr bwMode="auto">
            <a:xfrm flipH="1">
              <a:off x="5040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09600" y="5725180"/>
            <a:ext cx="4155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Answer: 4 2 6 1 3 5 15 7 14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379</Words>
  <Application>Microsoft Office PowerPoint</Application>
  <PresentationFormat>On-screen Show (4:3)</PresentationFormat>
  <Paragraphs>227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Binary Tree Traversals</vt:lpstr>
      <vt:lpstr>Binary Trees Traversals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Breadth First Traversal Example</vt:lpstr>
      <vt:lpstr>Binary Trees Traversals</vt:lpstr>
      <vt:lpstr>Example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 Traversals</dc:title>
  <dc:creator>Ayesha</dc:creator>
  <cp:lastModifiedBy>Ayesha</cp:lastModifiedBy>
  <cp:revision>3</cp:revision>
  <dcterms:created xsi:type="dcterms:W3CDTF">2006-08-16T00:00:00Z</dcterms:created>
  <dcterms:modified xsi:type="dcterms:W3CDTF">2013-01-14T07:58:59Z</dcterms:modified>
</cp:coreProperties>
</file>